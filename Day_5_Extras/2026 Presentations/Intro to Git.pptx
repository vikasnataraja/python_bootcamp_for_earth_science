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6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7.png"/><Relationship Id="rId4" Type="http://schemas.openxmlformats.org/officeDocument/2006/relationships/image" Target="../media/image6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5581" y="2563117"/>
            <a:ext cx="6700837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700" b="1" i="0" u="none">
                <a:solidFill>
                  <a:srgbClr val="F8FAFC"/>
                </a:solidFill>
                <a:latin typeface="Space Grotesk"/>
              </a:rPr>
              <a:t>Introduction to </a:t>
            </a:r>
            <a:r>
              <a:rPr sz="5700" b="1" i="0" u="none">
                <a:solidFill>
                  <a:srgbClr val="38BDF8"/>
                </a:solidFill>
                <a:latin typeface="Space Grotesk"/>
              </a:rPr>
              <a:t>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5125" y="3677542"/>
            <a:ext cx="6381750" cy="398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100" b="0" i="0" u="none" dirty="0">
                <a:solidFill>
                  <a:srgbClr val="94A3B8"/>
                </a:solidFill>
                <a:latin typeface="Inter"/>
              </a:rPr>
              <a:t>CU ATOC Python Bootcamp</a:t>
            </a:r>
            <a:endParaRPr sz="21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2252662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Git is the industry standard for </a:t>
            </a:r>
            <a:r>
              <a:rPr sz="1500" b="1" i="0" u="none" dirty="0">
                <a:solidFill>
                  <a:srgbClr val="CBD5E1"/>
                </a:solidFill>
                <a:latin typeface="Inter"/>
              </a:rPr>
              <a:t>version control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, code sharing, and collaborative 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052762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It acts as a complete history of a set of files on your local machine, securely stored in a hidden .git directory.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4874" y="3995739"/>
            <a:ext cx="4905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Instead of saving files as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script_final.py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, script_final_v2.py, or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script_really_final.py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, Git tracks changes to a single file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7171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07181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499" y="4014789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What is </a:t>
            </a:r>
            <a:r>
              <a:rPr sz="3600" b="1" i="0" u="none">
                <a:solidFill>
                  <a:srgbClr val="38BDF8"/>
                </a:solidFill>
                <a:latin typeface="Space Grotesk"/>
              </a:rPr>
              <a:t>Git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?</a:t>
            </a:r>
          </a:p>
        </p:txBody>
      </p:sp>
      <p:pic>
        <p:nvPicPr>
          <p:cNvPr id="13" name="Picture 12" descr="Logo - Brand Toolkit">
            <a:extLst>
              <a:ext uri="{FF2B5EF4-FFF2-40B4-BE49-F238E27FC236}">
                <a16:creationId xmlns:a16="http://schemas.microsoft.com/office/drawing/2014/main" id="{D999ADD8-37D0-65E2-937C-9C4B62CD7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2" y="2606654"/>
            <a:ext cx="5083748" cy="18873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52612"/>
            <a:ext cx="5238750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852612"/>
            <a:ext cx="523875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2290762"/>
            <a:ext cx="458057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Why use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0" y="2290762"/>
            <a:ext cx="458057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4D399"/>
                </a:solidFill>
                <a:latin typeface="Space Grotesk"/>
              </a:rPr>
              <a:t>When to use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3025" y="2824162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It keeps track of exactly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what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changes were made and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when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3025" y="3624262"/>
            <a:ext cx="4029075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It allows you to instantly revert to previous snapshots if something goes awry in your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3025" y="4567115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It provides a reliable backup mechanism when paired with remote servers.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3275" y="2824162"/>
            <a:ext cx="40290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Whenever you start a new programming assignment or personal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3275" y="3624262"/>
            <a:ext cx="40290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Even if you are working completely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3275" y="4119562"/>
            <a:ext cx="4029075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Inter"/>
              </a:rPr>
              <a:t>Getting into the habit now prevents lost work later.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284321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364331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586165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 dirty="0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284321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364331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900" y="4138612"/>
            <a:ext cx="104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38BDF8"/>
                </a:solidFill>
                <a:latin typeface="Space Grotesk"/>
              </a:rPr>
              <a:t>Why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and </a:t>
            </a:r>
            <a:r>
              <a:rPr sz="3600" b="1" i="0" u="none">
                <a:solidFill>
                  <a:srgbClr val="38BDF8"/>
                </a:solidFill>
                <a:latin typeface="Space Grotesk"/>
              </a:rPr>
              <a:t>When</a:t>
            </a:r>
            <a:r>
              <a:rPr sz="3600" b="1" i="0" u="none">
                <a:solidFill>
                  <a:srgbClr val="F8FAFC"/>
                </a:solidFill>
                <a:latin typeface="Space Grotesk"/>
              </a:rPr>
              <a:t> to Use Git?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66912"/>
            <a:ext cx="3492549" cy="3886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66912"/>
            <a:ext cx="3492549" cy="3886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66912"/>
            <a:ext cx="3492549" cy="3886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09812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309937"/>
            <a:ext cx="177022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1.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3337"/>
            <a:ext cx="280674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project directory on your local machine that contains your actual files. This is where you actively edit your code.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309812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2699" y="3309937"/>
            <a:ext cx="2400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78BFA"/>
                </a:solidFill>
                <a:latin typeface="Space Grotesk"/>
              </a:rPr>
              <a:t>2. Index (Staging)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2699" y="3843337"/>
            <a:ext cx="280674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staging area where new files and changes to files are temporarily grouped together before they get permanently recorded.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309812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0999" y="3309937"/>
            <a:ext cx="257032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4D399"/>
                </a:solidFill>
                <a:latin typeface="Space Grotesk"/>
              </a:rPr>
              <a:t>3. Local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999" y="3843337"/>
            <a:ext cx="280674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The database (inside the hidden .git folder) where Git permanently stores the official snapshots of your files.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087" y="2500312"/>
            <a:ext cx="42862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0824" y="2500312"/>
            <a:ext cx="28575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5311" y="2500312"/>
            <a:ext cx="33337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8FAFC"/>
                </a:solidFill>
                <a:latin typeface="Space Grotesk"/>
              </a:rPr>
              <a:t>The </a:t>
            </a:r>
            <a:r>
              <a:rPr sz="3600" b="1" i="0" u="none" dirty="0">
                <a:solidFill>
                  <a:srgbClr val="38BDF8"/>
                </a:solidFill>
                <a:latin typeface="Space Grotesk"/>
              </a:rPr>
              <a:t>Three Main Areas</a:t>
            </a:r>
            <a:r>
              <a:rPr sz="3600" b="1" i="0" u="none" dirty="0">
                <a:solidFill>
                  <a:srgbClr val="F8FAFC"/>
                </a:solidFill>
                <a:latin typeface="Space Grotesk"/>
              </a:rPr>
              <a:t> of Git</a:t>
            </a:r>
            <a:r>
              <a:rPr lang="en-US" sz="3600" b="1" i="0" u="none" dirty="0">
                <a:solidFill>
                  <a:srgbClr val="F8FAFC"/>
                </a:solidFill>
                <a:latin typeface="Space Grotesk"/>
              </a:rPr>
              <a:t> (Locally)</a:t>
            </a:r>
            <a:endParaRPr sz="3600" b="1" i="0" u="none" dirty="0">
              <a:solidFill>
                <a:srgbClr val="F8FAFC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4126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075622" y="3065115"/>
            <a:ext cx="6040755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Space Grotesk"/>
              </a:rPr>
              <a:t>The Basic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4036665"/>
            <a:ext cx="25908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Edit → Stage → Commit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148240"/>
              </p:ext>
            </p:extLst>
          </p:nvPr>
        </p:nvGraphicFramePr>
        <p:xfrm>
          <a:off x="571500" y="1063972"/>
          <a:ext cx="11029949" cy="569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3154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Terminal Command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Space Grotesk"/>
                        </a:rPr>
                        <a:t>What it does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15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git init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Initializes a brand new, empty Git repository in your current directory.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15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git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Checks the state of your repository, showing which files are untracked, modified, or staged.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15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git add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Adds a specific modified file to the staging area.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154"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git commit -m "</a:t>
                      </a:r>
                      <a:r>
                        <a:rPr lang="en-US" sz="15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my message</a:t>
                      </a:r>
                      <a:r>
                        <a:rPr sz="15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Saves the snapshot. The message should briefly describe what you changed.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15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git log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Shows a list of all the commits made in your repository in reverse chronological order.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3156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git clone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Makes a full local copy of an existing project's history from somewhere else.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4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1736377"/>
            <a:ext cx="25482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29260" y="1736377"/>
            <a:ext cx="84817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2469802"/>
            <a:ext cx="25482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29260" y="2469802"/>
            <a:ext cx="84817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508027"/>
            <a:ext cx="25482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29260" y="3508027"/>
            <a:ext cx="84817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241452"/>
            <a:ext cx="25482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29260" y="4241452"/>
            <a:ext cx="84817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5279677"/>
            <a:ext cx="25482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29260" y="5279677"/>
            <a:ext cx="84817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6013102"/>
            <a:ext cx="25482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29260" y="6013102"/>
            <a:ext cx="848171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101947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6 Basic </a:t>
            </a:r>
            <a:r>
              <a:rPr sz="3600" b="1" i="0" u="none">
                <a:solidFill>
                  <a:srgbClr val="38BDF8"/>
                </a:solidFill>
                <a:latin typeface="Space Grotesk"/>
              </a:rPr>
              <a:t>Commands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81200"/>
            <a:ext cx="5238750" cy="385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981200"/>
            <a:ext cx="5238750" cy="3857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2419350"/>
            <a:ext cx="458057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You broke your code?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2952750"/>
            <a:ext cx="43624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If you haven't committed the bad code yet, use this command to revert the file back to its state at the last saved commit: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4010025"/>
            <a:ext cx="4362450" cy="280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checkout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648200"/>
            <a:ext cx="4362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CBD5E1"/>
                </a:solidFill>
                <a:latin typeface="Inter"/>
              </a:rPr>
              <a:t>Note: This deletes any unsaved changes permanently.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9900" y="2419350"/>
            <a:ext cx="458057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A78BFA"/>
                </a:solidFill>
                <a:latin typeface="Space Grotesk"/>
              </a:rPr>
              <a:t>Accidentally </a:t>
            </a:r>
            <a:r>
              <a:rPr lang="en-US" sz="2100" b="1" i="0" u="none" dirty="0">
                <a:solidFill>
                  <a:srgbClr val="A78BFA"/>
                </a:solidFill>
                <a:latin typeface="Space Grotesk"/>
              </a:rPr>
              <a:t>added</a:t>
            </a:r>
            <a:r>
              <a:rPr sz="2100" b="1" i="0" u="none" dirty="0">
                <a:solidFill>
                  <a:srgbClr val="A78BFA"/>
                </a:solidFill>
                <a:latin typeface="Space Grotesk"/>
              </a:rPr>
              <a:t> a file?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900" y="2952750"/>
            <a:ext cx="43624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If you added a file you didn't mean to track (like a massive dataset), use this to remove it from Git's tracking but leave it safely in your folder: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9900" y="4010025"/>
            <a:ext cx="4362450" cy="280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rm --cached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900" y="4648200"/>
            <a:ext cx="4362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CBD5E1"/>
                </a:solidFill>
                <a:latin typeface="Inter"/>
              </a:rPr>
              <a:t>Always read terminal errors—Git gives great hints!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Dealing with </a:t>
            </a:r>
            <a:r>
              <a:rPr sz="3600" b="1" i="0" u="none">
                <a:solidFill>
                  <a:srgbClr val="38BDF8"/>
                </a:solidFill>
                <a:latin typeface="Space Grotesk"/>
              </a:rPr>
              <a:t>Errors &amp; Mistakes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66912"/>
            <a:ext cx="3492549" cy="3886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66912"/>
            <a:ext cx="3492549" cy="3886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66912"/>
            <a:ext cx="3492549" cy="3886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309812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309937"/>
            <a:ext cx="194024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Space Grotesk"/>
              </a:rPr>
              <a:t>Remote Repos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3337"/>
            <a:ext cx="280674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full history of your files stored on another server (like GitHub). You use git push to upload your code and git pull to download updates.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699" y="2309812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92699" y="3309937"/>
            <a:ext cx="131016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78BFA"/>
                </a:solidFill>
                <a:latin typeface="Space Grotesk"/>
              </a:rPr>
              <a:t>.gitignore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2699" y="3843337"/>
            <a:ext cx="280674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file that lists file types or folders (like log files, data files, or system files) that you explicitly want Git to ignore and never track.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0999" y="2309812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70999" y="3309937"/>
            <a:ext cx="1270158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4D399"/>
                </a:solidFill>
                <a:latin typeface="Space Grotesk"/>
              </a:rPr>
              <a:t>Branches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0999" y="3843337"/>
            <a:ext cx="280674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way to create a separate, isolated workspace to develop new features or fix bugs without altering the main, official code base.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" y="2500312"/>
            <a:ext cx="47625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5574" y="2500312"/>
            <a:ext cx="47625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5311" y="2500312"/>
            <a:ext cx="33337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Space Grotesk"/>
              </a:rPr>
              <a:t>Miscellaneous Topics </a:t>
            </a:r>
            <a:r>
              <a:rPr sz="3600" b="1" i="0" u="none">
                <a:solidFill>
                  <a:srgbClr val="38BDF8"/>
                </a:solidFill>
                <a:latin typeface="Space Grotesk"/>
              </a:rPr>
              <a:t>(For Later)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75544"/>
            <a:ext cx="5286375" cy="3726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75544"/>
            <a:ext cx="5286375" cy="3726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18444"/>
            <a:ext cx="483060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Space Grotesk"/>
              </a:rPr>
              <a:t>1. Setup the </a:t>
            </a:r>
            <a:r>
              <a:rPr sz="1950" b="1" i="0" u="none">
                <a:solidFill>
                  <a:srgbClr val="38BDF8"/>
                </a:solidFill>
                <a:latin typeface="Space Grotesk"/>
              </a:rPr>
              <a:t>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7025" y="2318444"/>
            <a:ext cx="483060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A78BFA"/>
                </a:solidFill>
                <a:latin typeface="Space Grotesk"/>
              </a:rPr>
              <a:t>2. Your First </a:t>
            </a:r>
            <a:r>
              <a:rPr sz="1950" b="1" i="0" u="none">
                <a:solidFill>
                  <a:srgbClr val="38BDF8"/>
                </a:solidFill>
                <a:latin typeface="Space Grotesk"/>
              </a:rPr>
              <a:t>Commit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2756594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Create a new folder in your terminal: </a:t>
            </a:r>
            <a:r>
              <a:rPr dirty="0"/>
              <a:t>
</a:t>
            </a:r>
            <a:r>
              <a:rPr sz="1350" b="0" i="0" u="none" dirty="0" err="1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mkdir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my_project</a:t>
            </a:r>
            <a:endParaRPr sz="1350" b="0" i="0" u="none" dirty="0">
              <a:solidFill>
                <a:srgbClr val="CBD5E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52525" y="3407122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Navigate into it: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cd </a:t>
            </a:r>
            <a:r>
              <a:rPr sz="1350" b="0" i="0" u="none" dirty="0" err="1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my_project</a:t>
            </a:r>
            <a:endParaRPr sz="1350" b="0" i="0" u="none" dirty="0">
              <a:solidFill>
                <a:srgbClr val="CBD5E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2525" y="4057650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Create your first python file: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touch </a:t>
            </a:r>
            <a:r>
              <a:rPr sz="1350" b="0" i="0" u="none" dirty="0" err="1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script.py</a:t>
            </a:r>
            <a:endParaRPr sz="1350" b="0" i="0" u="none" dirty="0">
              <a:solidFill>
                <a:srgbClr val="CBD5E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52525" y="4708177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Turn it into a Git repository: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</a:t>
            </a:r>
            <a:r>
              <a:rPr sz="1350" b="0" i="0" u="none" dirty="0" err="1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init</a:t>
            </a:r>
            <a:endParaRPr sz="1350" b="0" i="0" u="none" dirty="0">
              <a:solidFill>
                <a:srgbClr val="CBD5E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15150" y="2756594"/>
            <a:ext cx="4362450" cy="260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Write some code inside script.py and save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150" y="3149947"/>
            <a:ext cx="4362450" cy="4944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Check status: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status 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(shows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script.py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as untracked).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5150" y="3800475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Stage the file: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add </a:t>
            </a:r>
            <a:r>
              <a:rPr sz="1350" b="0" i="0" u="none" dirty="0" err="1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script.py</a:t>
            </a:r>
            <a:endParaRPr sz="1350" b="0" i="0" u="none" dirty="0">
              <a:solidFill>
                <a:srgbClr val="CBD5E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15150" y="4451002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Save permanently: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commit -m "Initial commit"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75644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6172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76700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27227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2775644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3168997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3819525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4470052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 dirty="0">
                <a:solidFill>
                  <a:srgbClr val="F8FAFC"/>
                </a:solidFill>
                <a:latin typeface="Space Grotesk"/>
              </a:rPr>
              <a:t>Let’s Create A New Repository from Scratch</a:t>
            </a:r>
            <a:endParaRPr lang="en-US" sz="3200" b="1" dirty="0">
              <a:solidFill>
                <a:srgbClr val="38BDF8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7908"/>
            <a:ext cx="5286375" cy="256118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557908"/>
            <a:ext cx="5286375" cy="25611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00808"/>
            <a:ext cx="4830603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50" b="1" dirty="0">
                <a:solidFill>
                  <a:srgbClr val="F8FAFC"/>
                </a:solidFill>
                <a:latin typeface="Space Grotesk"/>
              </a:rPr>
              <a:t>3</a:t>
            </a:r>
            <a:r>
              <a:rPr sz="1950" b="1" i="0" u="none" dirty="0">
                <a:solidFill>
                  <a:srgbClr val="F8FAFC"/>
                </a:solidFill>
                <a:latin typeface="Space Grotesk"/>
              </a:rPr>
              <a:t>. Edit &amp; </a:t>
            </a:r>
            <a:r>
              <a:rPr sz="1950" b="1" i="0" u="none" dirty="0">
                <a:solidFill>
                  <a:srgbClr val="38BDF8"/>
                </a:solidFill>
                <a:latin typeface="Space Grotesk"/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7025" y="2900808"/>
            <a:ext cx="4830603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50" b="1" dirty="0">
                <a:solidFill>
                  <a:srgbClr val="34D399"/>
                </a:solidFill>
                <a:latin typeface="Space Grotesk"/>
              </a:rPr>
              <a:t>4</a:t>
            </a:r>
            <a:r>
              <a:rPr sz="1950" b="1" i="0" u="none" dirty="0">
                <a:solidFill>
                  <a:srgbClr val="34D399"/>
                </a:solidFill>
                <a:latin typeface="Space Grotesk"/>
              </a:rPr>
              <a:t>. Commit &amp; </a:t>
            </a:r>
            <a:r>
              <a:rPr sz="1950" b="1" i="0" u="none" dirty="0">
                <a:solidFill>
                  <a:srgbClr val="38BDF8"/>
                </a:solidFill>
                <a:latin typeface="Space Grotesk"/>
              </a:rPr>
              <a:t>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338958"/>
            <a:ext cx="4362450" cy="2600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Open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script.py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, make changes, and save.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732311"/>
            <a:ext cx="4362450" cy="237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Run 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status 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to see it marked as modified.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125664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Stage the updated file: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add </a:t>
            </a:r>
            <a:r>
              <a:rPr sz="1350" b="0" i="0" u="none" dirty="0" err="1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script.py</a:t>
            </a:r>
            <a:endParaRPr sz="1350" b="0" i="0" u="none" dirty="0">
              <a:solidFill>
                <a:srgbClr val="CBD5E1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15150" y="3338958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Save snapshot locally: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commit -m "Add sorting logic"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150" y="3989486"/>
            <a:ext cx="4362450" cy="493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Upload to GitHub (remote): </a:t>
            </a:r>
            <a:r>
              <a:rPr dirty="0"/>
              <a:t>
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push origin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58008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51361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44714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3358008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4008536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37E711-13DB-B5CA-C708-195C4CC3DF77}"/>
              </a:ext>
            </a:extLst>
          </p:cNvPr>
          <p:cNvSpPr txBox="1"/>
          <p:nvPr/>
        </p:nvSpPr>
        <p:spPr>
          <a:xfrm>
            <a:off x="571500" y="571500"/>
            <a:ext cx="1160145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 dirty="0">
                <a:solidFill>
                  <a:srgbClr val="F8FAFC"/>
                </a:solidFill>
                <a:latin typeface="Space Grotesk"/>
              </a:rPr>
              <a:t>Let’s Create A New Repository from Scratch</a:t>
            </a:r>
            <a:endParaRPr lang="en-US" sz="3200" b="1" dirty="0">
              <a:solidFill>
                <a:srgbClr val="38BDF8"/>
              </a:solidFill>
              <a:latin typeface="Space Grotes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848A74-69EB-55A8-7296-A929DEEEE63D}"/>
              </a:ext>
            </a:extLst>
          </p:cNvPr>
          <p:cNvSpPr txBox="1"/>
          <p:nvPr/>
        </p:nvSpPr>
        <p:spPr>
          <a:xfrm>
            <a:off x="1516249" y="6286500"/>
            <a:ext cx="8457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Now you should be able to go to the </a:t>
            </a:r>
            <a:r>
              <a:rPr lang="en-US" dirty="0" err="1">
                <a:solidFill>
                  <a:schemeClr val="bg1"/>
                </a:solidFill>
              </a:rPr>
              <a:t>github</a:t>
            </a:r>
            <a:r>
              <a:rPr lang="en-US" dirty="0">
                <a:solidFill>
                  <a:schemeClr val="bg1"/>
                </a:solidFill>
              </a:rPr>
              <a:t> repository website and view it online as well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3637"/>
            <a:ext cx="5286375" cy="2809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433637"/>
            <a:ext cx="5286375" cy="2809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76537"/>
            <a:ext cx="483060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Space Grotesk"/>
              </a:rPr>
              <a:t>The Golden </a:t>
            </a:r>
            <a:r>
              <a:rPr sz="1950" b="1" i="0" u="none">
                <a:solidFill>
                  <a:srgbClr val="38BDF8"/>
                </a:solidFill>
                <a:latin typeface="Space Grotesk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7025" y="2776537"/>
            <a:ext cx="483060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A78BFA"/>
                </a:solidFill>
                <a:latin typeface="Space Grotesk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525" y="3214687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Keep the summary under 50 characters.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605212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Use imperative mood (ex: "Add feature", not "Added feature").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4252912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Explain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why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you made the change, not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how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(the code shows how).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5150" y="3214687"/>
            <a:ext cx="4362450" cy="237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EF4444"/>
                </a:solidFill>
                <a:latin typeface="Inter"/>
              </a:rPr>
              <a:t>Bad: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commit -m "fixed stuff"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150" y="3608040"/>
            <a:ext cx="4362450" cy="237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EF4444"/>
                </a:solidFill>
                <a:latin typeface="Inter"/>
              </a:rPr>
              <a:t>Bad: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commit -m "update code"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150" y="4001392"/>
            <a:ext cx="4705350" cy="237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4D399"/>
                </a:solidFill>
                <a:latin typeface="Inter"/>
              </a:rPr>
              <a:t>Good: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>
                <a:solidFill>
                  <a:srgbClr val="CBD5E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git commit -m "Fix bug in sort function"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33737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24262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71962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3233737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3627090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4020442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Space Grotesk"/>
              </a:rPr>
              <a:t>Writing Good </a:t>
            </a:r>
            <a:r>
              <a:rPr sz="3300" b="1" i="0" u="none">
                <a:solidFill>
                  <a:srgbClr val="38BDF8"/>
                </a:solidFill>
                <a:latin typeface="Space Grotesk"/>
              </a:rPr>
              <a:t>Commit Messages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0809"/>
            <a:ext cx="5286375" cy="28155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430809"/>
            <a:ext cx="5286375" cy="28155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73709"/>
            <a:ext cx="4830603" cy="323850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F8FAFC"/>
                </a:solidFill>
                <a:latin typeface="Space Grotesk"/>
              </a:rPr>
              <a:t>git </a:t>
            </a:r>
            <a:r>
              <a:rPr sz="1950" b="1" i="0" u="none">
                <a:solidFill>
                  <a:srgbClr val="38BDF8"/>
                </a:solidFill>
                <a:latin typeface="Space Grotesk"/>
              </a:rPr>
              <a:t>clone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7025" y="2773709"/>
            <a:ext cx="4830603" cy="32385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A78BFA"/>
                </a:solidFill>
                <a:latin typeface="Space Grotesk"/>
              </a:rPr>
              <a:t>Download </a:t>
            </a:r>
            <a:r>
              <a:rPr sz="1950" b="1" i="0" u="none">
                <a:solidFill>
                  <a:srgbClr val="38BDF8"/>
                </a:solidFill>
                <a:latin typeface="Space Grotesk"/>
              </a:rPr>
              <a:t>ZIP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11809"/>
            <a:ext cx="2190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525" y="3211859"/>
            <a:ext cx="4362450" cy="517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Downloads files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AND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the hidden .git history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62387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Maintains an active link to the remote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52912"/>
            <a:ext cx="4362450" cy="517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When to use: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When you plan to edit code, contribute back, or receive updates using git pull.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7025" y="2811809"/>
            <a:ext cx="19050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15150" y="3211859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Downloads a plain folder with current files only (no history).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5150" y="3859559"/>
            <a:ext cx="4362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No connection to the original repository.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4250084"/>
            <a:ext cx="4362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When to use: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When you just want to read files once and never track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30909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1437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71962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3230909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3878609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4269134"/>
            <a:ext cx="9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Space Grotesk"/>
              </a:rPr>
              <a:t>Clone vs. </a:t>
            </a:r>
            <a:r>
              <a:rPr sz="3300" b="1" i="0" u="none">
                <a:solidFill>
                  <a:srgbClr val="38BDF8"/>
                </a:solidFill>
                <a:latin typeface="Space Grotesk"/>
              </a:rPr>
              <a:t>Download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968</Words>
  <Application>Microsoft Macintosh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Inter</vt:lpstr>
      <vt:lpstr>Source Code Pro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 Watwood</cp:lastModifiedBy>
  <cp:revision>9</cp:revision>
  <dcterms:created xsi:type="dcterms:W3CDTF">2013-01-27T09:14:16Z</dcterms:created>
  <dcterms:modified xsi:type="dcterms:W3CDTF">2026-08-14T19:04:56Z</dcterms:modified>
  <cp:category/>
</cp:coreProperties>
</file>