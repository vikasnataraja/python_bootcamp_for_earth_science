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9" r:id="rId4"/>
    <p:sldId id="260" r:id="rId5"/>
    <p:sldId id="261" r:id="rId6"/>
    <p:sldId id="262" r:id="rId7"/>
    <p:sldId id="263" r:id="rId8"/>
    <p:sldId id="264" r:id="rId9"/>
    <p:sldId id="265" r:id="rId10"/>
    <p:sldId id="268" r:id="rId11"/>
    <p:sldId id="269" r:id="rId12"/>
    <p:sldId id="271" r:id="rId13"/>
    <p:sldId id="266" r:id="rId14"/>
    <p:sldId id="270" r:id="rId15"/>
    <p:sldId id="272" r:id="rId16"/>
    <p:sldId id="273" r:id="rId17"/>
    <p:sldId id="274" r:id="rId18"/>
    <p:sldId id="275" r:id="rId19"/>
    <p:sldId id="276" r:id="rId20"/>
    <p:sldId id="280" r:id="rId21"/>
    <p:sldId id="277" r:id="rId22"/>
    <p:sldId id="279" r:id="rId23"/>
    <p:sldId id="278" r:id="rId24"/>
    <p:sldId id="282" r:id="rId25"/>
    <p:sldId id="283"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60CDFC-B937-C24F-9E7A-3CC274911B51}" v="4" dt="2026-08-14T14:45:06.0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 Watwood" userId="5a0e718b-1fc3-4d34-be96-c6a90c4f62fe" providerId="ADAL" clId="{6CEBE854-362E-584E-B337-C90456AF712E}"/>
    <pc:docChg chg="undo custSel modSld">
      <pc:chgData name="Matt Watwood" userId="5a0e718b-1fc3-4d34-be96-c6a90c4f62fe" providerId="ADAL" clId="{6CEBE854-362E-584E-B337-C90456AF712E}" dt="2026-08-14T16:28:43.300" v="216" actId="478"/>
      <pc:docMkLst>
        <pc:docMk/>
      </pc:docMkLst>
      <pc:sldChg chg="modSp mod">
        <pc:chgData name="Matt Watwood" userId="5a0e718b-1fc3-4d34-be96-c6a90c4f62fe" providerId="ADAL" clId="{6CEBE854-362E-584E-B337-C90456AF712E}" dt="2026-08-14T14:46:04.144" v="133" actId="20577"/>
        <pc:sldMkLst>
          <pc:docMk/>
          <pc:sldMk cId="0" sldId="256"/>
        </pc:sldMkLst>
        <pc:spChg chg="mod">
          <ac:chgData name="Matt Watwood" userId="5a0e718b-1fc3-4d34-be96-c6a90c4f62fe" providerId="ADAL" clId="{6CEBE854-362E-584E-B337-C90456AF712E}" dt="2026-08-14T14:46:04.144" v="133" actId="20577"/>
          <ac:spMkLst>
            <pc:docMk/>
            <pc:sldMk cId="0" sldId="256"/>
            <ac:spMk id="8" creationId="{00000000-0000-0000-0000-000000000000}"/>
          </ac:spMkLst>
        </pc:spChg>
        <pc:spChg chg="mod">
          <ac:chgData name="Matt Watwood" userId="5a0e718b-1fc3-4d34-be96-c6a90c4f62fe" providerId="ADAL" clId="{6CEBE854-362E-584E-B337-C90456AF712E}" dt="2026-08-14T14:45:42.135" v="86" actId="20577"/>
          <ac:spMkLst>
            <pc:docMk/>
            <pc:sldMk cId="0" sldId="256"/>
            <ac:spMk id="27" creationId="{00000000-0000-0000-0000-000000000000}"/>
          </ac:spMkLst>
        </pc:spChg>
      </pc:sldChg>
      <pc:sldChg chg="addSp delSp modSp mod">
        <pc:chgData name="Matt Watwood" userId="5a0e718b-1fc3-4d34-be96-c6a90c4f62fe" providerId="ADAL" clId="{6CEBE854-362E-584E-B337-C90456AF712E}" dt="2026-08-14T14:45:08.126" v="42" actId="1076"/>
        <pc:sldMkLst>
          <pc:docMk/>
          <pc:sldMk cId="0" sldId="257"/>
        </pc:sldMkLst>
        <pc:spChg chg="add mod">
          <ac:chgData name="Matt Watwood" userId="5a0e718b-1fc3-4d34-be96-c6a90c4f62fe" providerId="ADAL" clId="{6CEBE854-362E-584E-B337-C90456AF712E}" dt="2026-08-14T14:45:08.126" v="42" actId="1076"/>
          <ac:spMkLst>
            <pc:docMk/>
            <pc:sldMk cId="0" sldId="257"/>
            <ac:spMk id="2" creationId="{2D3E76F1-A1B7-7293-88F3-F0C90BD649D3}"/>
          </ac:spMkLst>
        </pc:spChg>
        <pc:spChg chg="del">
          <ac:chgData name="Matt Watwood" userId="5a0e718b-1fc3-4d34-be96-c6a90c4f62fe" providerId="ADAL" clId="{6CEBE854-362E-584E-B337-C90456AF712E}" dt="2026-08-14T14:45:03.820" v="40" actId="478"/>
          <ac:spMkLst>
            <pc:docMk/>
            <pc:sldMk cId="0" sldId="257"/>
            <ac:spMk id="28" creationId="{00000000-0000-0000-0000-000000000000}"/>
          </ac:spMkLst>
        </pc:spChg>
      </pc:sldChg>
      <pc:sldChg chg="delSp modSp mod">
        <pc:chgData name="Matt Watwood" userId="5a0e718b-1fc3-4d34-be96-c6a90c4f62fe" providerId="ADAL" clId="{6CEBE854-362E-584E-B337-C90456AF712E}" dt="2026-08-14T16:27:16.808" v="154" actId="20577"/>
        <pc:sldMkLst>
          <pc:docMk/>
          <pc:sldMk cId="0" sldId="260"/>
        </pc:sldMkLst>
        <pc:spChg chg="mod">
          <ac:chgData name="Matt Watwood" userId="5a0e718b-1fc3-4d34-be96-c6a90c4f62fe" providerId="ADAL" clId="{6CEBE854-362E-584E-B337-C90456AF712E}" dt="2026-08-14T16:27:16.808" v="154" actId="20577"/>
          <ac:spMkLst>
            <pc:docMk/>
            <pc:sldMk cId="0" sldId="260"/>
            <ac:spMk id="5" creationId="{00000000-0000-0000-0000-000000000000}"/>
          </ac:spMkLst>
        </pc:spChg>
        <pc:spChg chg="del">
          <ac:chgData name="Matt Watwood" userId="5a0e718b-1fc3-4d34-be96-c6a90c4f62fe" providerId="ADAL" clId="{6CEBE854-362E-584E-B337-C90456AF712E}" dt="2026-08-14T14:46:31.912" v="134" actId="478"/>
          <ac:spMkLst>
            <pc:docMk/>
            <pc:sldMk cId="0" sldId="260"/>
            <ac:spMk id="27" creationId="{00000000-0000-0000-0000-000000000000}"/>
          </ac:spMkLst>
        </pc:spChg>
      </pc:sldChg>
      <pc:sldChg chg="addSp delSp modSp mod">
        <pc:chgData name="Matt Watwood" userId="5a0e718b-1fc3-4d34-be96-c6a90c4f62fe" providerId="ADAL" clId="{6CEBE854-362E-584E-B337-C90456AF712E}" dt="2026-08-14T14:44:59.519" v="39" actId="1076"/>
        <pc:sldMkLst>
          <pc:docMk/>
          <pc:sldMk cId="0" sldId="262"/>
        </pc:sldMkLst>
        <pc:spChg chg="add mod">
          <ac:chgData name="Matt Watwood" userId="5a0e718b-1fc3-4d34-be96-c6a90c4f62fe" providerId="ADAL" clId="{6CEBE854-362E-584E-B337-C90456AF712E}" dt="2026-08-14T14:44:59.519" v="39" actId="1076"/>
          <ac:spMkLst>
            <pc:docMk/>
            <pc:sldMk cId="0" sldId="262"/>
            <ac:spMk id="2" creationId="{ED9F4D0E-0435-96E5-0414-FAEF38499322}"/>
          </ac:spMkLst>
        </pc:spChg>
        <pc:spChg chg="del">
          <ac:chgData name="Matt Watwood" userId="5a0e718b-1fc3-4d34-be96-c6a90c4f62fe" providerId="ADAL" clId="{6CEBE854-362E-584E-B337-C90456AF712E}" dt="2026-08-14T14:44:53.874" v="37" actId="478"/>
          <ac:spMkLst>
            <pc:docMk/>
            <pc:sldMk cId="0" sldId="262"/>
            <ac:spMk id="34" creationId="{00000000-0000-0000-0000-000000000000}"/>
          </ac:spMkLst>
        </pc:spChg>
      </pc:sldChg>
      <pc:sldChg chg="modSp mod">
        <pc:chgData name="Matt Watwood" userId="5a0e718b-1fc3-4d34-be96-c6a90c4f62fe" providerId="ADAL" clId="{6CEBE854-362E-584E-B337-C90456AF712E}" dt="2026-08-14T16:28:07.690" v="215" actId="14100"/>
        <pc:sldMkLst>
          <pc:docMk/>
          <pc:sldMk cId="0" sldId="263"/>
        </pc:sldMkLst>
        <pc:spChg chg="mod">
          <ac:chgData name="Matt Watwood" userId="5a0e718b-1fc3-4d34-be96-c6a90c4f62fe" providerId="ADAL" clId="{6CEBE854-362E-584E-B337-C90456AF712E}" dt="2026-08-14T16:28:07.690" v="215" actId="14100"/>
          <ac:spMkLst>
            <pc:docMk/>
            <pc:sldMk cId="0" sldId="263"/>
            <ac:spMk id="24" creationId="{00000000-0000-0000-0000-000000000000}"/>
          </ac:spMkLst>
        </pc:spChg>
      </pc:sldChg>
      <pc:sldChg chg="delSp mod">
        <pc:chgData name="Matt Watwood" userId="5a0e718b-1fc3-4d34-be96-c6a90c4f62fe" providerId="ADAL" clId="{6CEBE854-362E-584E-B337-C90456AF712E}" dt="2026-08-14T16:28:43.300" v="216" actId="478"/>
        <pc:sldMkLst>
          <pc:docMk/>
          <pc:sldMk cId="0" sldId="269"/>
        </pc:sldMkLst>
        <pc:spChg chg="del">
          <ac:chgData name="Matt Watwood" userId="5a0e718b-1fc3-4d34-be96-c6a90c4f62fe" providerId="ADAL" clId="{6CEBE854-362E-584E-B337-C90456AF712E}" dt="2026-08-14T16:28:43.300" v="216" actId="478"/>
          <ac:spMkLst>
            <pc:docMk/>
            <pc:sldMk cId="0" sldId="269"/>
            <ac:spMk id="22" creationId="{00000000-0000-0000-0000-000000000000}"/>
          </ac:spMkLst>
        </pc:spChg>
      </pc:sldChg>
      <pc:sldChg chg="addSp delSp modSp mod">
        <pc:chgData name="Matt Watwood" userId="5a0e718b-1fc3-4d34-be96-c6a90c4f62fe" providerId="ADAL" clId="{6CEBE854-362E-584E-B337-C90456AF712E}" dt="2026-08-14T14:44:41.299" v="36" actId="20577"/>
        <pc:sldMkLst>
          <pc:docMk/>
          <pc:sldMk cId="0" sldId="272"/>
        </pc:sldMkLst>
        <pc:spChg chg="add mod">
          <ac:chgData name="Matt Watwood" userId="5a0e718b-1fc3-4d34-be96-c6a90c4f62fe" providerId="ADAL" clId="{6CEBE854-362E-584E-B337-C90456AF712E}" dt="2026-08-14T14:44:41.299" v="36" actId="20577"/>
          <ac:spMkLst>
            <pc:docMk/>
            <pc:sldMk cId="0" sldId="272"/>
            <ac:spMk id="2" creationId="{4EDE21A0-2AF2-E814-0285-82DBD5C6D8E9}"/>
          </ac:spMkLst>
        </pc:spChg>
        <pc:spChg chg="del mod">
          <ac:chgData name="Matt Watwood" userId="5a0e718b-1fc3-4d34-be96-c6a90c4f62fe" providerId="ADAL" clId="{6CEBE854-362E-584E-B337-C90456AF712E}" dt="2026-08-14T14:44:15.071" v="7" actId="478"/>
          <ac:spMkLst>
            <pc:docMk/>
            <pc:sldMk cId="0" sldId="272"/>
            <ac:spMk id="30" creationId="{00000000-0000-0000-0000-000000000000}"/>
          </ac:spMkLst>
        </pc:spChg>
      </pc:sldChg>
      <pc:sldChg chg="mod modShow">
        <pc:chgData name="Matt Watwood" userId="5a0e718b-1fc3-4d34-be96-c6a90c4f62fe" providerId="ADAL" clId="{6CEBE854-362E-584E-B337-C90456AF712E}" dt="2026-08-14T04:05:41.560" v="0" actId="729"/>
        <pc:sldMkLst>
          <pc:docMk/>
          <pc:sldMk cId="0" sldId="27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955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title slide. The contents table doubles as the agenda; timings are yours to adjust. Sections are zero-indexed — §0 is the diagnosis, §1–§3 are the three deliverables named in the subtitle.
Open with energy: they just finished four days and are tired. The promise is that by the end, their code can run somewhere other than a browser tab.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for §0. The running contents list keeps the room oriented; the numbered beats are the slides in this section, so nobody has to guess how much is left.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run these themselves rather than watching you. The outputs differ slightly between runtimes, which is itself the point.
On a GPU runtime, !nvidia-smi is an even better version of the last row ('you were handed a GPU and never noticed'). It errors on CPU runtimes — skip it there.
Don't rush. Let them actually scroll the ~300 packages.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Actually delete it, live. The gasp is the point — four days of muscle memory says the notebook is permanent.
Reassure them immediately: the notebook in Drive is safe. It is the MACHINE that is disposable. That distinction is new to them and it is the hinge of the session.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spine of the session. Draw it on the whiteboard too if you have one, and point at it every time you change topic.
The 'works on my machine' line is worth saying slowly — they will hear it for the rest of their lives, and this is where it gets defined.
Your job for the next hour: learn to name and control layers 2 and 3, so layer 4 travels.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for §1. The running contents list keeps the room oriented; the numbered beats are the slides in this section, so nobody has to guess how much is left.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as a story, not a definition. Ask the room: 'what would you do?' Someone always says 'have two computers' — which is exactly right, and a venv is the cheap version of that.
This is the slide that makes the rest of the segment feel necessary rather than bureaucratic.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Beginners assume a venv is a heavyweight system service. Killing that assumption in one slide saves them months of confusion.
Say 'it is a folder' at least three times. Show it in the Colab file browser or the VS Code file tree so they see it with their own eyes.
The activation block is the one to walk through slowly — it is the same command giving two different answers, which is the whole idea.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that lands: the recipe says 'some flour'; the receipt says 'King Arthur bread flour, 2.3 kg, bought Tuesday.' You need the recipe to understand the dish and the receipt to reproduce it exactly.
Rule to state flatly: never hand-edit a lockfile. It is generated. If it is wrong, change the recipe and regenerate.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ranking them. The honest framing is that this is an area of genuine, active disagreement among competent people — which is itself a useful thing for students to see about engineering.
Read the table down the ENVS and LOCKFILE columns: every row says yes. That is the point. The disagreement is in the last two columns.
If someone asks 'but which one should I use' — that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are real and measured. If you have a terminal on screen, run it live — it is more convincing than the table.
The insight to land is the habit one, not the speed one: tooling that is fast enough stops being tooling you avoid. When an environment costs 0.02 s, the excuse for skipping it is gone.
Present it as an option, not the answer. The right-hand column is doing real work — don't skip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two minutes only you can deliver — a real engineer explaining a real tradeoff out loud. Students almost never get to hear this.
Be honest about what you would reconsider now. Watching someone revisit their own decision publicly teaches more about engineering than the decision itself.
Edit the right-hand table to match whatever your team actually does now.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is the emotional core: the SAME script, two different Pythons, two different outcomes. That is layers 2 and 3 made visible.
Why pyfiglet: Colab does not preinstall it, so the failure is real. pandas would just work and ruin the demo.
Walk the room. The errors they hit are the lesson. Budget 15 minutes.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working. If you demo one uv thing live, demo this one — it gets an audible reaction because it looks like cheating.
The ModuleNotFoundError is a bonus: it is the single most common error a beginner sees, and here it is unambiguously a layer 3 problem. Point back at the four-layer table when it appears.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for §2. The running contents list keeps the room oriented; the numbered beats are the slides in this section, so nobody has to guess how much is left.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it live, slowly, and let them predict each result before you press run. They will get step 2 or 3 wrong, and that surprise is what makes the lesson stick.
Read the 'x IN MEMORY' column down the table out loud: it never changes. Everything else on screen does.
The bottom line is a real problem in published science. Say it plainly — they will meet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01 is the one to insist on — it is a five-second habit that prevents a whole category of embarrassment.
Don't trash notebooks. These students just spent four days inside one and you want them to keep using it for the right things.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argparse column lands hardest, because every one of them has been editing a variable and re-running. Name that habit out loud, then replace it.
Don't teach argparse's API. Show that the mechanism exists and what it is for.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for §3. The running contents list keeps the room oriented; the numbered beats are the slides in this section, so nobody has to guess how much is left.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an actual well-known repo in the browser rather than reading this list aloud — requests, or anything you like. Narrate it in three minutes.
The goal is only recognition, so that their first real repo feels familiar instead of frightening. Callback to session 2 on .gitignore.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to give them: 'a test is a sentence about what your code should do, written so a computer can check it, so you find out when you break it later.'
Don't teach pytest's API. They need the concept and the little green arrow next to the test in VS Code.
This exact file is verified: 3 failures — 1 AssertionError, 2 UnboundLocalError.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drive. Someone will spot the else quickly; the second bug is the interesting one and usually needs a nudge: 'the code is right now — read the test again.'
Verified: after the else fix it is 2 passed, 1 failed with AssertionError assert 'SAM' == 'Sam'. 'sam' is short, so it should be SHOUTED — the test expected 'Sam'.
Say this out loud when they get there: that last instinct is a genuinely senior one, and they got it on day five.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 this live in VS Code on the failing test — do not show a screenshot. The moment that lands is the variables panel appearing mid-run.
For 'amy', edited_name simply never gets assigned, and the debugger shows you that by NOT showing the variable. That absence is the answer.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4 is the one to be strict about. 'It says error' and a phone photo of a screen are the two things that guarantee a slow answer.
Frame the whole slide as respect for the other person's time, which is also why it gets results.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warmly and mean it. Sixty seconds — don't over-explain it.
A four-day cohort that just watched a professional toolchain scroll past needs this said out loud, or they leave feeling further behind than when they arrived.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C22"/>
        </a:solidFill>
        <a:effectLst/>
      </p:bgPr>
    </p:bg>
    <p:spTree>
      <p:nvGrpSpPr>
        <p:cNvPr id="1" name=""/>
        <p:cNvGrpSpPr/>
        <p:nvPr/>
      </p:nvGrpSpPr>
      <p:grpSpPr>
        <a:xfrm>
          <a:off x="0" y="0"/>
          <a:ext cx="0" cy="0"/>
          <a:chOff x="0" y="0"/>
          <a:chExt cx="0" cy="0"/>
        </a:xfrm>
      </p:grpSpPr>
      <p:sp>
        <p:nvSpPr>
          <p:cNvPr id="3" name="Text 1"/>
          <p:cNvSpPr/>
          <p:nvPr/>
        </p:nvSpPr>
        <p:spPr>
          <a:xfrm>
            <a:off x="594360" y="1051560"/>
            <a:ext cx="6035040" cy="868680"/>
          </a:xfrm>
          <a:prstGeom prst="rect">
            <a:avLst/>
          </a:prstGeom>
          <a:noFill/>
          <a:ln/>
        </p:spPr>
        <p:txBody>
          <a:bodyPr wrap="square" lIns="0" tIns="0" rIns="0" bIns="0" rtlCol="0" anchor="t"/>
          <a:lstStyle/>
          <a:p>
            <a:pPr marL="0" indent="0">
              <a:buNone/>
            </a:pPr>
            <a:r>
              <a:rPr lang="en-US" sz="4600" b="1" dirty="0">
                <a:solidFill>
                  <a:srgbClr val="FFFFFF"/>
                </a:solidFill>
                <a:latin typeface="Calibri" pitchFamily="34" charset="0"/>
                <a:ea typeface="Calibri" pitchFamily="34" charset="-122"/>
                <a:cs typeface="Calibri" pitchFamily="34" charset="-120"/>
              </a:rPr>
              <a:t>What Comes Next?</a:t>
            </a:r>
            <a:endParaRPr lang="en-US" sz="4600" dirty="0"/>
          </a:p>
        </p:txBody>
      </p:sp>
      <p:sp>
        <p:nvSpPr>
          <p:cNvPr id="4" name="Text 2"/>
          <p:cNvSpPr/>
          <p:nvPr/>
        </p:nvSpPr>
        <p:spPr>
          <a:xfrm>
            <a:off x="594360" y="2084832"/>
            <a:ext cx="5486400" cy="640080"/>
          </a:xfrm>
          <a:prstGeom prst="rect">
            <a:avLst/>
          </a:prstGeom>
          <a:noFill/>
          <a:ln/>
        </p:spPr>
        <p:txBody>
          <a:bodyPr wrap="square" lIns="0" tIns="0" rIns="0" bIns="0" rtlCol="0" anchor="ctr"/>
          <a:lstStyle/>
          <a:p>
            <a:pPr marL="0" indent="0">
              <a:lnSpc>
                <a:spcPct val="125000"/>
              </a:lnSpc>
              <a:buNone/>
            </a:pPr>
            <a:r>
              <a:rPr lang="en-US" sz="1600" dirty="0">
                <a:solidFill>
                  <a:srgbClr val="D7E0E5"/>
                </a:solidFill>
                <a:latin typeface="Calibri" pitchFamily="34" charset="0"/>
                <a:ea typeface="Calibri" pitchFamily="34" charset="-122"/>
                <a:cs typeface="Calibri" pitchFamily="34" charset="-120"/>
              </a:rPr>
              <a:t>Building an environment, sharing Python code, and debugging in the real world.</a:t>
            </a:r>
            <a:endParaRPr lang="en-US" sz="1600" dirty="0"/>
          </a:p>
        </p:txBody>
      </p:sp>
      <p:sp>
        <p:nvSpPr>
          <p:cNvPr id="6" name="Shape 4"/>
          <p:cNvSpPr/>
          <p:nvPr/>
        </p:nvSpPr>
        <p:spPr>
          <a:xfrm>
            <a:off x="594360" y="4892040"/>
            <a:ext cx="5486400" cy="0"/>
          </a:xfrm>
          <a:prstGeom prst="line">
            <a:avLst/>
          </a:prstGeom>
          <a:noFill/>
          <a:ln w="9525">
            <a:solidFill>
              <a:srgbClr val="2C4150"/>
            </a:solidFill>
            <a:prstDash val="solid"/>
          </a:ln>
        </p:spPr>
        <p:txBody>
          <a:bodyPr/>
          <a:lstStyle/>
          <a:p>
            <a:endParaRPr lang="en-US"/>
          </a:p>
        </p:txBody>
      </p:sp>
      <p:sp>
        <p:nvSpPr>
          <p:cNvPr id="7" name="Text 5"/>
          <p:cNvSpPr/>
          <p:nvPr/>
        </p:nvSpPr>
        <p:spPr>
          <a:xfrm>
            <a:off x="594360" y="5074920"/>
            <a:ext cx="5486400" cy="29260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Matt Watwood</a:t>
            </a:r>
            <a:endParaRPr lang="en-US" sz="1600" dirty="0"/>
          </a:p>
        </p:txBody>
      </p:sp>
      <p:sp>
        <p:nvSpPr>
          <p:cNvPr id="8" name="Text 6"/>
          <p:cNvSpPr/>
          <p:nvPr/>
        </p:nvSpPr>
        <p:spPr>
          <a:xfrm>
            <a:off x="594360" y="5413248"/>
            <a:ext cx="5486400" cy="548640"/>
          </a:xfrm>
          <a:prstGeom prst="rect">
            <a:avLst/>
          </a:prstGeom>
          <a:noFill/>
          <a:ln/>
        </p:spPr>
        <p:txBody>
          <a:bodyPr wrap="square" lIns="0" tIns="0" rIns="0" bIns="0" rtlCol="0" anchor="ctr"/>
          <a:lstStyle/>
          <a:p>
            <a:pPr marL="0" indent="0">
              <a:lnSpc>
                <a:spcPct val="120000"/>
              </a:lnSpc>
              <a:buNone/>
            </a:pPr>
            <a:r>
              <a:rPr lang="en-US" sz="1250" dirty="0">
                <a:solidFill>
                  <a:srgbClr val="8A9AA4"/>
                </a:solidFill>
                <a:latin typeface="Calibri" pitchFamily="34" charset="0"/>
                <a:ea typeface="Calibri" pitchFamily="34" charset="-122"/>
                <a:cs typeface="Calibri" pitchFamily="34" charset="-120"/>
              </a:rPr>
              <a:t>Software Engineer + PhD Student + Professional Disc Golfer</a:t>
            </a:r>
          </a:p>
          <a:p>
            <a:pPr marL="0" indent="0">
              <a:lnSpc>
                <a:spcPct val="120000"/>
              </a:lnSpc>
              <a:buNone/>
            </a:pPr>
            <a:r>
              <a:rPr lang="en-US" sz="1250" dirty="0">
                <a:solidFill>
                  <a:srgbClr val="8A9AA4"/>
                </a:solidFill>
                <a:latin typeface="Calibri" pitchFamily="34" charset="0"/>
                <a:ea typeface="Calibri" pitchFamily="34" charset="-122"/>
                <a:cs typeface="Calibri" pitchFamily="34" charset="-120"/>
              </a:rPr>
              <a:t>Laboratory for Atmospheric and Space Physics (LASP)</a:t>
            </a:r>
            <a:endParaRPr lang="en-US" sz="1250" dirty="0"/>
          </a:p>
        </p:txBody>
      </p:sp>
      <p:sp>
        <p:nvSpPr>
          <p:cNvPr id="9" name="Text 7"/>
          <p:cNvSpPr/>
          <p:nvPr/>
        </p:nvSpPr>
        <p:spPr>
          <a:xfrm>
            <a:off x="594360" y="6053328"/>
            <a:ext cx="5486400" cy="274320"/>
          </a:xfrm>
          <a:prstGeom prst="rect">
            <a:avLst/>
          </a:prstGeom>
          <a:noFill/>
          <a:ln/>
        </p:spPr>
        <p:txBody>
          <a:bodyPr wrap="square" lIns="0" tIns="0" rIns="0" bIns="0" rtlCol="0" anchor="ctr"/>
          <a:lstStyle/>
          <a:p>
            <a:pPr marL="0" indent="0">
              <a:buNone/>
            </a:pPr>
            <a:r>
              <a:rPr lang="en-US" sz="1100" dirty="0">
                <a:solidFill>
                  <a:srgbClr val="6E7F8A"/>
                </a:solidFill>
                <a:latin typeface="Courier New" pitchFamily="34" charset="0"/>
                <a:ea typeface="Courier New" pitchFamily="34" charset="-122"/>
                <a:cs typeface="Courier New" pitchFamily="34" charset="-120"/>
              </a:rPr>
              <a:t>14 August 2026</a:t>
            </a:r>
            <a:endParaRPr lang="en-US" sz="1100" dirty="0"/>
          </a:p>
        </p:txBody>
      </p:sp>
      <p:sp>
        <p:nvSpPr>
          <p:cNvPr id="10" name="Text 8"/>
          <p:cNvSpPr/>
          <p:nvPr/>
        </p:nvSpPr>
        <p:spPr>
          <a:xfrm>
            <a:off x="7040880" y="1115568"/>
            <a:ext cx="2743200" cy="228600"/>
          </a:xfrm>
          <a:prstGeom prst="rect">
            <a:avLst/>
          </a:prstGeom>
          <a:noFill/>
          <a:ln/>
        </p:spPr>
        <p:txBody>
          <a:bodyPr wrap="square" lIns="0" tIns="0" rIns="0" bIns="0" rtlCol="0" anchor="ctr"/>
          <a:lstStyle/>
          <a:p>
            <a:pPr marL="0" indent="0">
              <a:buNone/>
            </a:pPr>
            <a:r>
              <a:rPr lang="en-US" sz="950" b="1" kern="0" spc="120" dirty="0">
                <a:solidFill>
                  <a:srgbClr val="8A9AA4"/>
                </a:solidFill>
                <a:latin typeface="Courier New" pitchFamily="34" charset="0"/>
                <a:ea typeface="Courier New" pitchFamily="34" charset="-122"/>
                <a:cs typeface="Courier New" pitchFamily="34" charset="-120"/>
              </a:rPr>
              <a:t>CONTENTS</a:t>
            </a:r>
            <a:endParaRPr lang="en-US" sz="950" dirty="0"/>
          </a:p>
        </p:txBody>
      </p:sp>
      <p:sp>
        <p:nvSpPr>
          <p:cNvPr id="12" name="Shape 10"/>
          <p:cNvSpPr/>
          <p:nvPr/>
        </p:nvSpPr>
        <p:spPr>
          <a:xfrm>
            <a:off x="7040880" y="1389888"/>
            <a:ext cx="4526280" cy="0"/>
          </a:xfrm>
          <a:prstGeom prst="line">
            <a:avLst/>
          </a:prstGeom>
          <a:noFill/>
          <a:ln w="12700">
            <a:solidFill>
              <a:srgbClr val="4A5F6C"/>
            </a:solidFill>
            <a:prstDash val="solid"/>
          </a:ln>
        </p:spPr>
        <p:txBody>
          <a:bodyPr/>
          <a:lstStyle/>
          <a:p>
            <a:endParaRPr lang="en-US"/>
          </a:p>
        </p:txBody>
      </p:sp>
      <p:sp>
        <p:nvSpPr>
          <p:cNvPr id="14" name="Text 12"/>
          <p:cNvSpPr/>
          <p:nvPr/>
        </p:nvSpPr>
        <p:spPr>
          <a:xfrm>
            <a:off x="7040880" y="1591056"/>
            <a:ext cx="2743200" cy="27432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Behind the Curtain of Colab</a:t>
            </a:r>
            <a:endParaRPr lang="en-US" sz="1450" dirty="0"/>
          </a:p>
        </p:txBody>
      </p:sp>
      <p:sp>
        <p:nvSpPr>
          <p:cNvPr id="16" name="Shape 14"/>
          <p:cNvSpPr/>
          <p:nvPr/>
        </p:nvSpPr>
        <p:spPr>
          <a:xfrm>
            <a:off x="7040880" y="2231136"/>
            <a:ext cx="4526280" cy="0"/>
          </a:xfrm>
          <a:prstGeom prst="line">
            <a:avLst/>
          </a:prstGeom>
          <a:noFill/>
          <a:ln w="9525">
            <a:solidFill>
              <a:srgbClr val="2C4150"/>
            </a:solidFill>
            <a:prstDash val="solid"/>
          </a:ln>
        </p:spPr>
        <p:txBody>
          <a:bodyPr/>
          <a:lstStyle/>
          <a:p>
            <a:endParaRPr lang="en-US"/>
          </a:p>
        </p:txBody>
      </p:sp>
      <p:sp>
        <p:nvSpPr>
          <p:cNvPr id="18" name="Text 16"/>
          <p:cNvSpPr/>
          <p:nvPr/>
        </p:nvSpPr>
        <p:spPr>
          <a:xfrm>
            <a:off x="7074040" y="2432304"/>
            <a:ext cx="2743200" cy="27432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Sharing Python Code</a:t>
            </a:r>
            <a:endParaRPr lang="en-US" sz="1450" dirty="0"/>
          </a:p>
        </p:txBody>
      </p:sp>
      <p:sp>
        <p:nvSpPr>
          <p:cNvPr id="21" name="Shape 19"/>
          <p:cNvSpPr/>
          <p:nvPr/>
        </p:nvSpPr>
        <p:spPr>
          <a:xfrm>
            <a:off x="7040880" y="3072384"/>
            <a:ext cx="4526280" cy="0"/>
          </a:xfrm>
          <a:prstGeom prst="line">
            <a:avLst/>
          </a:prstGeom>
          <a:noFill/>
          <a:ln w="9525">
            <a:solidFill>
              <a:srgbClr val="2C4150"/>
            </a:solidFill>
            <a:prstDash val="solid"/>
          </a:ln>
        </p:spPr>
        <p:txBody>
          <a:bodyPr/>
          <a:lstStyle/>
          <a:p>
            <a:endParaRPr lang="en-US"/>
          </a:p>
        </p:txBody>
      </p:sp>
      <p:sp>
        <p:nvSpPr>
          <p:cNvPr id="23" name="Text 21"/>
          <p:cNvSpPr/>
          <p:nvPr/>
        </p:nvSpPr>
        <p:spPr>
          <a:xfrm>
            <a:off x="7084088" y="3273552"/>
            <a:ext cx="2743200" cy="27432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From Notebook to Program</a:t>
            </a:r>
            <a:endParaRPr lang="en-US" sz="1450" dirty="0"/>
          </a:p>
        </p:txBody>
      </p:sp>
      <p:sp>
        <p:nvSpPr>
          <p:cNvPr id="25" name="Shape 23"/>
          <p:cNvSpPr/>
          <p:nvPr/>
        </p:nvSpPr>
        <p:spPr>
          <a:xfrm>
            <a:off x="7040880" y="3913632"/>
            <a:ext cx="4526280" cy="0"/>
          </a:xfrm>
          <a:prstGeom prst="line">
            <a:avLst/>
          </a:prstGeom>
          <a:noFill/>
          <a:ln w="9525">
            <a:solidFill>
              <a:srgbClr val="2C4150"/>
            </a:solidFill>
            <a:prstDash val="solid"/>
          </a:ln>
        </p:spPr>
        <p:txBody>
          <a:bodyPr/>
          <a:lstStyle/>
          <a:p>
            <a:endParaRPr lang="en-US"/>
          </a:p>
        </p:txBody>
      </p:sp>
      <p:sp>
        <p:nvSpPr>
          <p:cNvPr id="27" name="Text 25"/>
          <p:cNvSpPr/>
          <p:nvPr/>
        </p:nvSpPr>
        <p:spPr>
          <a:xfrm>
            <a:off x="7084088" y="4114799"/>
            <a:ext cx="2743200" cy="27432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Software in the Real World</a:t>
            </a:r>
            <a:endParaRPr lang="en-US" sz="1450" dirty="0"/>
          </a:p>
        </p:txBody>
      </p:sp>
      <p:sp>
        <p:nvSpPr>
          <p:cNvPr id="29" name="Shape 27"/>
          <p:cNvSpPr/>
          <p:nvPr/>
        </p:nvSpPr>
        <p:spPr>
          <a:xfrm>
            <a:off x="7040880" y="4754880"/>
            <a:ext cx="4526280" cy="0"/>
          </a:xfrm>
          <a:prstGeom prst="line">
            <a:avLst/>
          </a:prstGeom>
          <a:noFill/>
          <a:ln w="9525">
            <a:solidFill>
              <a:srgbClr val="2C4150"/>
            </a:solidFill>
            <a:prstDash val="solid"/>
          </a:ln>
        </p:spPr>
        <p:txBody>
          <a:bodyPr/>
          <a:lstStyle/>
          <a:p>
            <a:endParaRPr lang="en-US"/>
          </a:p>
        </p:txBody>
      </p:sp>
      <p:sp>
        <p:nvSpPr>
          <p:cNvPr id="2" name="TextBox 1">
            <a:extLst>
              <a:ext uri="{FF2B5EF4-FFF2-40B4-BE49-F238E27FC236}">
                <a16:creationId xmlns:a16="http://schemas.microsoft.com/office/drawing/2014/main" id="{EBD057C2-BD3F-E8B6-DC23-A11E0D8AEE6E}"/>
              </a:ext>
            </a:extLst>
          </p:cNvPr>
          <p:cNvSpPr txBox="1"/>
          <p:nvPr/>
        </p:nvSpPr>
        <p:spPr>
          <a:xfrm>
            <a:off x="7084088" y="6550223"/>
            <a:ext cx="6213231" cy="307777"/>
          </a:xfrm>
          <a:prstGeom prst="rect">
            <a:avLst/>
          </a:prstGeom>
          <a:noFill/>
        </p:spPr>
        <p:txBody>
          <a:bodyPr wrap="square" rtlCol="0">
            <a:spAutoFit/>
          </a:bodyPr>
          <a:lstStyle/>
          <a:p>
            <a:r>
              <a:rPr lang="en-US" sz="1400" dirty="0">
                <a:solidFill>
                  <a:schemeClr val="bg1"/>
                </a:solidFill>
              </a:rPr>
              <a:t>This presentation was formatted and edited with the help of Claude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C22"/>
        </a:solidFill>
        <a:effectLst/>
      </p:bgPr>
    </p:bg>
    <p:spTree>
      <p:nvGrpSpPr>
        <p:cNvPr id="1" name=""/>
        <p:cNvGrpSpPr/>
        <p:nvPr/>
      </p:nvGrpSpPr>
      <p:grpSpPr>
        <a:xfrm>
          <a:off x="0" y="0"/>
          <a:ext cx="0" cy="0"/>
          <a:chOff x="0" y="0"/>
          <a:chExt cx="0" cy="0"/>
        </a:xfrm>
      </p:grpSpPr>
      <p:sp>
        <p:nvSpPr>
          <p:cNvPr id="4" name="Text 2"/>
          <p:cNvSpPr/>
          <p:nvPr/>
        </p:nvSpPr>
        <p:spPr>
          <a:xfrm>
            <a:off x="594360" y="2103120"/>
            <a:ext cx="6217920" cy="822960"/>
          </a:xfrm>
          <a:prstGeom prst="rect">
            <a:avLst/>
          </a:prstGeom>
          <a:noFill/>
          <a:ln/>
        </p:spPr>
        <p:txBody>
          <a:bodyPr wrap="square" lIns="0" tIns="0" rIns="0" bIns="0"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Behind the Curtain of Colab</a:t>
            </a:r>
            <a:endParaRPr lang="en-US" sz="3800" dirty="0"/>
          </a:p>
        </p:txBody>
      </p:sp>
      <p:sp>
        <p:nvSpPr>
          <p:cNvPr id="5" name="Shape 3"/>
          <p:cNvSpPr/>
          <p:nvPr/>
        </p:nvSpPr>
        <p:spPr>
          <a:xfrm>
            <a:off x="594360" y="3401568"/>
            <a:ext cx="6035040" cy="0"/>
          </a:xfrm>
          <a:prstGeom prst="line">
            <a:avLst/>
          </a:prstGeom>
          <a:noFill/>
          <a:ln w="9525">
            <a:solidFill>
              <a:srgbClr val="2C4150"/>
            </a:solidFill>
            <a:prstDash val="solid"/>
          </a:ln>
        </p:spPr>
        <p:txBody>
          <a:bodyPr/>
          <a:lstStyle/>
          <a:p>
            <a:endParaRPr lang="en-US"/>
          </a:p>
        </p:txBody>
      </p:sp>
      <p:sp>
        <p:nvSpPr>
          <p:cNvPr id="6" name="Text 4"/>
          <p:cNvSpPr/>
          <p:nvPr/>
        </p:nvSpPr>
        <p:spPr>
          <a:xfrm>
            <a:off x="594360" y="3547872"/>
            <a:ext cx="5943600" cy="640080"/>
          </a:xfrm>
          <a:prstGeom prst="rect">
            <a:avLst/>
          </a:prstGeom>
          <a:noFill/>
          <a:ln/>
        </p:spPr>
        <p:txBody>
          <a:bodyPr wrap="square" lIns="0" tIns="0" rIns="0" bIns="0" rtlCol="0" anchor="t"/>
          <a:lstStyle/>
          <a:p>
            <a:pPr marL="0" indent="0">
              <a:lnSpc>
                <a:spcPct val="130000"/>
              </a:lnSpc>
              <a:buNone/>
            </a:pPr>
            <a:r>
              <a:rPr lang="en-US" sz="1400" dirty="0">
                <a:solidFill>
                  <a:srgbClr val="D7E0E5"/>
                </a:solidFill>
                <a:latin typeface="Calibri" pitchFamily="34" charset="0"/>
                <a:ea typeface="Calibri" pitchFamily="34" charset="-122"/>
                <a:cs typeface="Calibri" pitchFamily="34" charset="-120"/>
              </a:rPr>
              <a:t>Four days of Python on a computer you have never seen. What did </a:t>
            </a:r>
            <a:r>
              <a:rPr lang="en-US" sz="1400" dirty="0" err="1">
                <a:solidFill>
                  <a:srgbClr val="D7E0E5"/>
                </a:solidFill>
                <a:latin typeface="Calibri" pitchFamily="34" charset="0"/>
                <a:ea typeface="Calibri" pitchFamily="34" charset="-122"/>
                <a:cs typeface="Calibri" pitchFamily="34" charset="-120"/>
              </a:rPr>
              <a:t>Colab</a:t>
            </a:r>
            <a:r>
              <a:rPr lang="en-US" sz="1400" dirty="0">
                <a:solidFill>
                  <a:srgbClr val="D7E0E5"/>
                </a:solidFill>
                <a:latin typeface="Calibri" pitchFamily="34" charset="0"/>
                <a:ea typeface="Calibri" pitchFamily="34" charset="-122"/>
                <a:cs typeface="Calibri" pitchFamily="34" charset="-120"/>
              </a:rPr>
              <a:t> choose for you, and what disappears when you close the browser?</a:t>
            </a:r>
            <a:endParaRPr lang="en-US" sz="1400" dirty="0"/>
          </a:p>
        </p:txBody>
      </p:sp>
      <p:sp>
        <p:nvSpPr>
          <p:cNvPr id="7" name="Text 5"/>
          <p:cNvSpPr/>
          <p:nvPr/>
        </p:nvSpPr>
        <p:spPr>
          <a:xfrm>
            <a:off x="594360" y="4370832"/>
            <a:ext cx="3657600" cy="228600"/>
          </a:xfrm>
          <a:prstGeom prst="rect">
            <a:avLst/>
          </a:prstGeom>
          <a:noFill/>
          <a:ln/>
        </p:spPr>
        <p:txBody>
          <a:bodyPr wrap="square" lIns="0" tIns="0" rIns="0" bIns="0" rtlCol="0" anchor="ctr"/>
          <a:lstStyle/>
          <a:p>
            <a:pPr marL="0" indent="0">
              <a:buNone/>
            </a:pPr>
            <a:r>
              <a:rPr lang="en-US" sz="950" b="1" kern="0" spc="120" dirty="0">
                <a:solidFill>
                  <a:srgbClr val="8A9AA4"/>
                </a:solidFill>
                <a:latin typeface="Courier New" pitchFamily="34" charset="0"/>
                <a:ea typeface="Courier New" pitchFamily="34" charset="-122"/>
                <a:cs typeface="Courier New" pitchFamily="34" charset="-120"/>
              </a:rPr>
              <a:t>IN THIS SECTION</a:t>
            </a:r>
            <a:endParaRPr lang="en-US" sz="950" dirty="0"/>
          </a:p>
        </p:txBody>
      </p:sp>
      <p:sp>
        <p:nvSpPr>
          <p:cNvPr id="8" name="Shape 6"/>
          <p:cNvSpPr/>
          <p:nvPr/>
        </p:nvSpPr>
        <p:spPr>
          <a:xfrm>
            <a:off x="594360" y="4626864"/>
            <a:ext cx="6035040" cy="0"/>
          </a:xfrm>
          <a:prstGeom prst="line">
            <a:avLst/>
          </a:prstGeom>
          <a:noFill/>
          <a:ln w="9525">
            <a:solidFill>
              <a:srgbClr val="2C4150"/>
            </a:solidFill>
            <a:prstDash val="solid"/>
          </a:ln>
        </p:spPr>
        <p:txBody>
          <a:bodyPr/>
          <a:lstStyle/>
          <a:p>
            <a:endParaRPr lang="en-US"/>
          </a:p>
        </p:txBody>
      </p:sp>
      <p:sp>
        <p:nvSpPr>
          <p:cNvPr id="9" name="Text 7"/>
          <p:cNvSpPr/>
          <p:nvPr/>
        </p:nvSpPr>
        <p:spPr>
          <a:xfrm>
            <a:off x="594360" y="4718304"/>
            <a:ext cx="384048" cy="274320"/>
          </a:xfrm>
          <a:prstGeom prst="rect">
            <a:avLst/>
          </a:prstGeom>
          <a:noFill/>
          <a:ln/>
        </p:spPr>
        <p:txBody>
          <a:bodyPr wrap="square" lIns="0" tIns="0" rIns="0" bIns="0" rtlCol="0" anchor="ctr"/>
          <a:lstStyle/>
          <a:p>
            <a:pPr marL="0" indent="0">
              <a:buNone/>
            </a:pPr>
            <a:r>
              <a:rPr lang="en-US" sz="1050" b="1" dirty="0">
                <a:solidFill>
                  <a:srgbClr val="E8A33D"/>
                </a:solidFill>
                <a:latin typeface="Courier New" pitchFamily="34" charset="0"/>
                <a:ea typeface="Courier New" pitchFamily="34" charset="-122"/>
                <a:cs typeface="Courier New" pitchFamily="34" charset="-120"/>
              </a:rPr>
              <a:t>01</a:t>
            </a:r>
            <a:endParaRPr lang="en-US" sz="1050" dirty="0"/>
          </a:p>
        </p:txBody>
      </p:sp>
      <p:sp>
        <p:nvSpPr>
          <p:cNvPr id="10" name="Text 8"/>
          <p:cNvSpPr/>
          <p:nvPr/>
        </p:nvSpPr>
        <p:spPr>
          <a:xfrm>
            <a:off x="1033272" y="4700016"/>
            <a:ext cx="5486400" cy="292608"/>
          </a:xfrm>
          <a:prstGeom prst="rect">
            <a:avLst/>
          </a:prstGeom>
          <a:noFill/>
          <a:ln/>
        </p:spPr>
        <p:txBody>
          <a:bodyPr wrap="square" lIns="0" tIns="0" rIns="0" bIns="0" rtlCol="0" anchor="ctr"/>
          <a:lstStyle/>
          <a:p>
            <a:pPr marL="0" indent="0">
              <a:buNone/>
            </a:pPr>
            <a:r>
              <a:rPr lang="en-US" sz="1300" dirty="0">
                <a:solidFill>
                  <a:srgbClr val="D7E0E5"/>
                </a:solidFill>
                <a:latin typeface="Calibri" pitchFamily="34" charset="0"/>
                <a:ea typeface="Calibri" pitchFamily="34" charset="-122"/>
                <a:cs typeface="Calibri" pitchFamily="34" charset="-120"/>
              </a:rPr>
              <a:t>Interrogate the runtime you have been using</a:t>
            </a:r>
            <a:endParaRPr lang="en-US" sz="1300" dirty="0"/>
          </a:p>
        </p:txBody>
      </p:sp>
      <p:sp>
        <p:nvSpPr>
          <p:cNvPr id="11" name="Text 9"/>
          <p:cNvSpPr/>
          <p:nvPr/>
        </p:nvSpPr>
        <p:spPr>
          <a:xfrm>
            <a:off x="594360" y="5047488"/>
            <a:ext cx="384048" cy="274320"/>
          </a:xfrm>
          <a:prstGeom prst="rect">
            <a:avLst/>
          </a:prstGeom>
          <a:noFill/>
          <a:ln/>
        </p:spPr>
        <p:txBody>
          <a:bodyPr wrap="square" lIns="0" tIns="0" rIns="0" bIns="0" rtlCol="0" anchor="ctr"/>
          <a:lstStyle/>
          <a:p>
            <a:pPr marL="0" indent="0">
              <a:buNone/>
            </a:pPr>
            <a:r>
              <a:rPr lang="en-US" sz="1050" b="1" dirty="0">
                <a:solidFill>
                  <a:srgbClr val="E8A33D"/>
                </a:solidFill>
                <a:latin typeface="Courier New" pitchFamily="34" charset="0"/>
                <a:ea typeface="Courier New" pitchFamily="34" charset="-122"/>
                <a:cs typeface="Courier New" pitchFamily="34" charset="-120"/>
              </a:rPr>
              <a:t>02</a:t>
            </a:r>
            <a:endParaRPr lang="en-US" sz="1050" dirty="0"/>
          </a:p>
        </p:txBody>
      </p:sp>
      <p:sp>
        <p:nvSpPr>
          <p:cNvPr id="12" name="Text 10"/>
          <p:cNvSpPr/>
          <p:nvPr/>
        </p:nvSpPr>
        <p:spPr>
          <a:xfrm>
            <a:off x="1033272" y="5029200"/>
            <a:ext cx="5486400" cy="292608"/>
          </a:xfrm>
          <a:prstGeom prst="rect">
            <a:avLst/>
          </a:prstGeom>
          <a:noFill/>
          <a:ln/>
        </p:spPr>
        <p:txBody>
          <a:bodyPr wrap="square" lIns="0" tIns="0" rIns="0" bIns="0" rtlCol="0" anchor="ctr"/>
          <a:lstStyle/>
          <a:p>
            <a:pPr marL="0" indent="0">
              <a:buNone/>
            </a:pPr>
            <a:r>
              <a:rPr lang="en-US" sz="1300" dirty="0">
                <a:solidFill>
                  <a:srgbClr val="D7E0E5"/>
                </a:solidFill>
                <a:latin typeface="Calibri" pitchFamily="34" charset="0"/>
                <a:ea typeface="Calibri" pitchFamily="34" charset="-122"/>
                <a:cs typeface="Calibri" pitchFamily="34" charset="-120"/>
              </a:rPr>
              <a:t>Delete it and see what stays</a:t>
            </a:r>
            <a:endParaRPr lang="en-US" sz="1300" dirty="0"/>
          </a:p>
        </p:txBody>
      </p:sp>
      <p:sp>
        <p:nvSpPr>
          <p:cNvPr id="13" name="Text 11"/>
          <p:cNvSpPr/>
          <p:nvPr/>
        </p:nvSpPr>
        <p:spPr>
          <a:xfrm>
            <a:off x="594360" y="5376672"/>
            <a:ext cx="384048" cy="274320"/>
          </a:xfrm>
          <a:prstGeom prst="rect">
            <a:avLst/>
          </a:prstGeom>
          <a:noFill/>
          <a:ln/>
        </p:spPr>
        <p:txBody>
          <a:bodyPr wrap="square" lIns="0" tIns="0" rIns="0" bIns="0" rtlCol="0" anchor="ctr"/>
          <a:lstStyle/>
          <a:p>
            <a:pPr marL="0" indent="0">
              <a:buNone/>
            </a:pPr>
            <a:r>
              <a:rPr lang="en-US" sz="1050" b="1" dirty="0">
                <a:solidFill>
                  <a:srgbClr val="E8A33D"/>
                </a:solidFill>
                <a:latin typeface="Courier New" pitchFamily="34" charset="0"/>
                <a:ea typeface="Courier New" pitchFamily="34" charset="-122"/>
                <a:cs typeface="Courier New" pitchFamily="34" charset="-120"/>
              </a:rPr>
              <a:t>03</a:t>
            </a:r>
            <a:endParaRPr lang="en-US" sz="1050" dirty="0"/>
          </a:p>
        </p:txBody>
      </p:sp>
      <p:sp>
        <p:nvSpPr>
          <p:cNvPr id="14" name="Text 12"/>
          <p:cNvSpPr/>
          <p:nvPr/>
        </p:nvSpPr>
        <p:spPr>
          <a:xfrm>
            <a:off x="1033272" y="5358384"/>
            <a:ext cx="5486400" cy="292608"/>
          </a:xfrm>
          <a:prstGeom prst="rect">
            <a:avLst/>
          </a:prstGeom>
          <a:noFill/>
          <a:ln/>
        </p:spPr>
        <p:txBody>
          <a:bodyPr wrap="square" lIns="0" tIns="0" rIns="0" bIns="0" rtlCol="0" anchor="ctr"/>
          <a:lstStyle/>
          <a:p>
            <a:pPr marL="0" indent="0">
              <a:buNone/>
            </a:pPr>
            <a:r>
              <a:rPr lang="en-US" sz="1300" dirty="0">
                <a:solidFill>
                  <a:srgbClr val="D7E0E5"/>
                </a:solidFill>
                <a:latin typeface="Calibri" pitchFamily="34" charset="0"/>
                <a:ea typeface="Calibri" pitchFamily="34" charset="-122"/>
                <a:cs typeface="Calibri" pitchFamily="34" charset="-120"/>
              </a:rPr>
              <a:t>The four-layer model: machine, interpreter, environment, code</a:t>
            </a:r>
            <a:endParaRPr lang="en-US" sz="1300" dirty="0"/>
          </a:p>
        </p:txBody>
      </p:sp>
      <p:sp>
        <p:nvSpPr>
          <p:cNvPr id="15" name="Text 13"/>
          <p:cNvSpPr/>
          <p:nvPr/>
        </p:nvSpPr>
        <p:spPr>
          <a:xfrm>
            <a:off x="7452360" y="1371600"/>
            <a:ext cx="4114800" cy="228600"/>
          </a:xfrm>
          <a:prstGeom prst="rect">
            <a:avLst/>
          </a:prstGeom>
          <a:noFill/>
          <a:ln/>
        </p:spPr>
        <p:txBody>
          <a:bodyPr wrap="square" lIns="0" tIns="0" rIns="0" bIns="0" rtlCol="0" anchor="ctr"/>
          <a:lstStyle/>
          <a:p>
            <a:pPr marL="0" indent="0">
              <a:buNone/>
            </a:pPr>
            <a:r>
              <a:rPr lang="en-US" sz="950" b="1" kern="0" spc="120" dirty="0">
                <a:solidFill>
                  <a:srgbClr val="8A9AA4"/>
                </a:solidFill>
                <a:latin typeface="Courier New" pitchFamily="34" charset="0"/>
                <a:ea typeface="Courier New" pitchFamily="34" charset="-122"/>
                <a:cs typeface="Courier New" pitchFamily="34" charset="-120"/>
              </a:rPr>
              <a:t>WHERE WE ARE</a:t>
            </a:r>
            <a:endParaRPr lang="en-US" sz="950" dirty="0"/>
          </a:p>
        </p:txBody>
      </p:sp>
      <p:sp>
        <p:nvSpPr>
          <p:cNvPr id="16" name="Shape 14"/>
          <p:cNvSpPr/>
          <p:nvPr/>
        </p:nvSpPr>
        <p:spPr>
          <a:xfrm>
            <a:off x="7452360" y="1645920"/>
            <a:ext cx="4114800" cy="0"/>
          </a:xfrm>
          <a:prstGeom prst="line">
            <a:avLst/>
          </a:prstGeom>
          <a:noFill/>
          <a:ln w="12700">
            <a:solidFill>
              <a:srgbClr val="4A5F6C"/>
            </a:solidFill>
            <a:prstDash val="solid"/>
          </a:ln>
        </p:spPr>
        <p:txBody>
          <a:bodyPr/>
          <a:lstStyle/>
          <a:p>
            <a:endParaRPr lang="en-US"/>
          </a:p>
        </p:txBody>
      </p:sp>
      <p:sp>
        <p:nvSpPr>
          <p:cNvPr id="18" name="Text 16"/>
          <p:cNvSpPr/>
          <p:nvPr/>
        </p:nvSpPr>
        <p:spPr>
          <a:xfrm>
            <a:off x="7452360" y="1865376"/>
            <a:ext cx="2606040" cy="365760"/>
          </a:xfrm>
          <a:prstGeom prst="rect">
            <a:avLst/>
          </a:prstGeom>
          <a:noFill/>
          <a:ln/>
        </p:spPr>
        <p:txBody>
          <a:bodyPr wrap="square" lIns="0" tIns="0" rIns="0" bIns="0" rtlCol="0" anchor="ctr"/>
          <a:lstStyle/>
          <a:p>
            <a:pPr marL="0" indent="0">
              <a:lnSpc>
                <a:spcPct val="105000"/>
              </a:lnSpc>
              <a:buNone/>
            </a:pPr>
            <a:r>
              <a:rPr lang="en-US" sz="1350" b="1" dirty="0">
                <a:solidFill>
                  <a:srgbClr val="FFFFFF"/>
                </a:solidFill>
                <a:latin typeface="Calibri" pitchFamily="34" charset="0"/>
                <a:ea typeface="Calibri" pitchFamily="34" charset="-122"/>
                <a:cs typeface="Calibri" pitchFamily="34" charset="-120"/>
              </a:rPr>
              <a:t>Behind the curtain of Colab</a:t>
            </a:r>
            <a:endParaRPr lang="en-US" sz="1350" dirty="0"/>
          </a:p>
        </p:txBody>
      </p:sp>
      <p:sp>
        <p:nvSpPr>
          <p:cNvPr id="20" name="Shape 18"/>
          <p:cNvSpPr/>
          <p:nvPr/>
        </p:nvSpPr>
        <p:spPr>
          <a:xfrm>
            <a:off x="7452360" y="2359152"/>
            <a:ext cx="4114800" cy="0"/>
          </a:xfrm>
          <a:prstGeom prst="line">
            <a:avLst/>
          </a:prstGeom>
          <a:noFill/>
          <a:ln w="9525">
            <a:solidFill>
              <a:srgbClr val="2C4150"/>
            </a:solidFill>
            <a:prstDash val="solid"/>
          </a:ln>
        </p:spPr>
        <p:txBody>
          <a:bodyPr/>
          <a:lstStyle/>
          <a:p>
            <a:endParaRPr lang="en-US"/>
          </a:p>
        </p:txBody>
      </p:sp>
      <p:sp>
        <p:nvSpPr>
          <p:cNvPr id="22" name="Text 20"/>
          <p:cNvSpPr/>
          <p:nvPr/>
        </p:nvSpPr>
        <p:spPr>
          <a:xfrm>
            <a:off x="7452360" y="2578608"/>
            <a:ext cx="2606040" cy="365760"/>
          </a:xfrm>
          <a:prstGeom prst="rect">
            <a:avLst/>
          </a:prstGeom>
          <a:noFill/>
          <a:ln/>
        </p:spPr>
        <p:txBody>
          <a:bodyPr wrap="square" lIns="0" tIns="0" rIns="0" bIns="0" rtlCol="0" anchor="ctr"/>
          <a:lstStyle/>
          <a:p>
            <a:pPr marL="0" indent="0">
              <a:lnSpc>
                <a:spcPct val="105000"/>
              </a:lnSpc>
              <a:buNone/>
            </a:pPr>
            <a:r>
              <a:rPr lang="en-US" sz="1350" dirty="0">
                <a:solidFill>
                  <a:srgbClr val="6E7F8A"/>
                </a:solidFill>
                <a:latin typeface="Calibri" pitchFamily="34" charset="0"/>
                <a:ea typeface="Calibri" pitchFamily="34" charset="-122"/>
                <a:cs typeface="Calibri" pitchFamily="34" charset="-120"/>
              </a:rPr>
              <a:t>Sharing Python code</a:t>
            </a:r>
            <a:endParaRPr lang="en-US" sz="1350" dirty="0"/>
          </a:p>
        </p:txBody>
      </p:sp>
      <p:sp>
        <p:nvSpPr>
          <p:cNvPr id="23" name="Shape 21"/>
          <p:cNvSpPr/>
          <p:nvPr/>
        </p:nvSpPr>
        <p:spPr>
          <a:xfrm>
            <a:off x="7452360" y="3072384"/>
            <a:ext cx="4114800" cy="0"/>
          </a:xfrm>
          <a:prstGeom prst="line">
            <a:avLst/>
          </a:prstGeom>
          <a:noFill/>
          <a:ln w="9525">
            <a:solidFill>
              <a:srgbClr val="2C4150"/>
            </a:solidFill>
            <a:prstDash val="solid"/>
          </a:ln>
        </p:spPr>
        <p:txBody>
          <a:bodyPr/>
          <a:lstStyle/>
          <a:p>
            <a:endParaRPr lang="en-US"/>
          </a:p>
        </p:txBody>
      </p:sp>
      <p:sp>
        <p:nvSpPr>
          <p:cNvPr id="25" name="Text 23"/>
          <p:cNvSpPr/>
          <p:nvPr/>
        </p:nvSpPr>
        <p:spPr>
          <a:xfrm>
            <a:off x="7452360" y="3291840"/>
            <a:ext cx="2606040" cy="365760"/>
          </a:xfrm>
          <a:prstGeom prst="rect">
            <a:avLst/>
          </a:prstGeom>
          <a:noFill/>
          <a:ln/>
        </p:spPr>
        <p:txBody>
          <a:bodyPr wrap="square" lIns="0" tIns="0" rIns="0" bIns="0" rtlCol="0" anchor="ctr"/>
          <a:lstStyle/>
          <a:p>
            <a:pPr marL="0" indent="0">
              <a:lnSpc>
                <a:spcPct val="105000"/>
              </a:lnSpc>
              <a:buNone/>
            </a:pPr>
            <a:r>
              <a:rPr lang="en-US" sz="1350" dirty="0">
                <a:solidFill>
                  <a:srgbClr val="6E7F8A"/>
                </a:solidFill>
                <a:latin typeface="Calibri" pitchFamily="34" charset="0"/>
                <a:ea typeface="Calibri" pitchFamily="34" charset="-122"/>
                <a:cs typeface="Calibri" pitchFamily="34" charset="-120"/>
              </a:rPr>
              <a:t>From notebook to program</a:t>
            </a:r>
            <a:endParaRPr lang="en-US" sz="1350" dirty="0"/>
          </a:p>
        </p:txBody>
      </p:sp>
      <p:sp>
        <p:nvSpPr>
          <p:cNvPr id="26" name="Shape 24"/>
          <p:cNvSpPr/>
          <p:nvPr/>
        </p:nvSpPr>
        <p:spPr>
          <a:xfrm>
            <a:off x="7452360" y="3785616"/>
            <a:ext cx="4114800" cy="0"/>
          </a:xfrm>
          <a:prstGeom prst="line">
            <a:avLst/>
          </a:prstGeom>
          <a:noFill/>
          <a:ln w="9525">
            <a:solidFill>
              <a:srgbClr val="2C4150"/>
            </a:solidFill>
            <a:prstDash val="solid"/>
          </a:ln>
        </p:spPr>
        <p:txBody>
          <a:bodyPr/>
          <a:lstStyle/>
          <a:p>
            <a:endParaRPr lang="en-US"/>
          </a:p>
        </p:txBody>
      </p:sp>
      <p:sp>
        <p:nvSpPr>
          <p:cNvPr id="29" name="Shape 27"/>
          <p:cNvSpPr/>
          <p:nvPr/>
        </p:nvSpPr>
        <p:spPr>
          <a:xfrm>
            <a:off x="7452360" y="4498848"/>
            <a:ext cx="4114800" cy="0"/>
          </a:xfrm>
          <a:prstGeom prst="line">
            <a:avLst/>
          </a:prstGeom>
          <a:noFill/>
          <a:ln w="9525">
            <a:solidFill>
              <a:srgbClr val="2C4150"/>
            </a:solidFill>
            <a:prstDash val="solid"/>
          </a:ln>
        </p:spPr>
        <p:txBody>
          <a:bodyPr/>
          <a:lstStyle/>
          <a:p>
            <a:endParaRPr lang="en-US"/>
          </a:p>
        </p:txBody>
      </p:sp>
      <p:sp>
        <p:nvSpPr>
          <p:cNvPr id="2" name="Text 20">
            <a:extLst>
              <a:ext uri="{FF2B5EF4-FFF2-40B4-BE49-F238E27FC236}">
                <a16:creationId xmlns:a16="http://schemas.microsoft.com/office/drawing/2014/main" id="{2D3E76F1-A1B7-7293-88F3-F0C90BD649D3}"/>
              </a:ext>
            </a:extLst>
          </p:cNvPr>
          <p:cNvSpPr/>
          <p:nvPr/>
        </p:nvSpPr>
        <p:spPr>
          <a:xfrm>
            <a:off x="7452360" y="3959352"/>
            <a:ext cx="2606040" cy="365760"/>
          </a:xfrm>
          <a:prstGeom prst="rect">
            <a:avLst/>
          </a:prstGeom>
          <a:noFill/>
          <a:ln/>
        </p:spPr>
        <p:txBody>
          <a:bodyPr wrap="square" lIns="0" tIns="0" rIns="0" bIns="0" rtlCol="0" anchor="ctr"/>
          <a:lstStyle/>
          <a:p>
            <a:pPr marL="0" indent="0">
              <a:lnSpc>
                <a:spcPct val="105000"/>
              </a:lnSpc>
              <a:buNone/>
            </a:pPr>
            <a:r>
              <a:rPr lang="en-US" sz="1350" dirty="0">
                <a:solidFill>
                  <a:srgbClr val="6E7F8A"/>
                </a:solidFill>
                <a:latin typeface="Calibri" pitchFamily="34" charset="0"/>
                <a:ea typeface="Calibri" pitchFamily="34" charset="-122"/>
                <a:cs typeface="Calibri" pitchFamily="34" charset="-120"/>
              </a:rPr>
              <a:t>Software in the Real World</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731520"/>
            <a:ext cx="11002975" cy="676656"/>
          </a:xfrm>
          <a:prstGeom prst="rect">
            <a:avLst/>
          </a:prstGeom>
          <a:noFill/>
          <a:ln/>
        </p:spPr>
        <p:txBody>
          <a:bodyPr wrap="square" lIns="0" tIns="0" rIns="0" bIns="0" rtlCol="0" anchor="t"/>
          <a:lstStyle/>
          <a:p>
            <a:pPr marL="0" indent="0">
              <a:buNone/>
            </a:pPr>
            <a:r>
              <a:rPr lang="en-US" sz="3300" b="1" dirty="0">
                <a:solidFill>
                  <a:srgbClr val="121C22"/>
                </a:solidFill>
                <a:latin typeface="Calibri" pitchFamily="34" charset="0"/>
                <a:ea typeface="Calibri" pitchFamily="34" charset="-122"/>
                <a:cs typeface="Calibri" pitchFamily="34" charset="-120"/>
              </a:rPr>
              <a:t>Interrogate the runtime</a:t>
            </a:r>
            <a:endParaRPr lang="en-US" sz="3300" dirty="0"/>
          </a:p>
        </p:txBody>
      </p:sp>
      <p:sp>
        <p:nvSpPr>
          <p:cNvPr id="4" name="Text 2"/>
          <p:cNvSpPr/>
          <p:nvPr/>
        </p:nvSpPr>
        <p:spPr>
          <a:xfrm>
            <a:off x="594360" y="1371600"/>
            <a:ext cx="11002975" cy="274320"/>
          </a:xfrm>
          <a:prstGeom prst="rect">
            <a:avLst/>
          </a:prstGeom>
          <a:noFill/>
          <a:ln/>
        </p:spPr>
        <p:txBody>
          <a:bodyPr wrap="square" lIns="0" tIns="0" rIns="0" bIns="0" rtlCol="0" anchor="ctr"/>
          <a:lstStyle/>
          <a:p>
            <a:pPr marL="0" indent="0">
              <a:buNone/>
            </a:pPr>
            <a:r>
              <a:rPr lang="en-US" sz="1300" dirty="0">
                <a:solidFill>
                  <a:srgbClr val="1F6B65"/>
                </a:solidFill>
                <a:latin typeface="Courier New" pitchFamily="34" charset="0"/>
                <a:ea typeface="Courier New" pitchFamily="34" charset="-122"/>
                <a:cs typeface="Courier New" pitchFamily="34" charset="-120"/>
              </a:rPr>
              <a:t>Run these in your own notebook — three minutes, and everyone's output may differ slightly</a:t>
            </a:r>
            <a:endParaRPr lang="en-US" sz="1300" dirty="0"/>
          </a:p>
        </p:txBody>
      </p:sp>
      <p:sp>
        <p:nvSpPr>
          <p:cNvPr id="5" name="Text 3"/>
          <p:cNvSpPr/>
          <p:nvPr/>
        </p:nvSpPr>
        <p:spPr>
          <a:xfrm>
            <a:off x="594360" y="1938528"/>
            <a:ext cx="3099473"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RUN THIS</a:t>
            </a:r>
            <a:endParaRPr lang="en-US" sz="950" dirty="0"/>
          </a:p>
        </p:txBody>
      </p:sp>
      <p:sp>
        <p:nvSpPr>
          <p:cNvPr id="6" name="Text 4"/>
          <p:cNvSpPr/>
          <p:nvPr/>
        </p:nvSpPr>
        <p:spPr>
          <a:xfrm>
            <a:off x="3803561" y="1938528"/>
            <a:ext cx="2916090"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YOU GET SOMETHING LIKE</a:t>
            </a:r>
            <a:endParaRPr lang="en-US" sz="950" dirty="0"/>
          </a:p>
        </p:txBody>
      </p:sp>
      <p:sp>
        <p:nvSpPr>
          <p:cNvPr id="7" name="Text 5"/>
          <p:cNvSpPr/>
          <p:nvPr/>
        </p:nvSpPr>
        <p:spPr>
          <a:xfrm>
            <a:off x="6829379" y="1938528"/>
            <a:ext cx="4658228"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WHICH MEANS</a:t>
            </a:r>
            <a:endParaRPr lang="en-US" sz="950" dirty="0"/>
          </a:p>
        </p:txBody>
      </p:sp>
      <p:sp>
        <p:nvSpPr>
          <p:cNvPr id="8" name="Shape 6"/>
          <p:cNvSpPr/>
          <p:nvPr/>
        </p:nvSpPr>
        <p:spPr>
          <a:xfrm>
            <a:off x="594360" y="2212848"/>
            <a:ext cx="11002975" cy="0"/>
          </a:xfrm>
          <a:prstGeom prst="line">
            <a:avLst/>
          </a:prstGeom>
          <a:noFill/>
          <a:ln w="12700">
            <a:solidFill>
              <a:srgbClr val="9EAEB8"/>
            </a:solidFill>
            <a:prstDash val="solid"/>
          </a:ln>
        </p:spPr>
        <p:txBody>
          <a:bodyPr/>
          <a:lstStyle/>
          <a:p>
            <a:endParaRPr lang="en-US"/>
          </a:p>
        </p:txBody>
      </p:sp>
      <p:sp>
        <p:nvSpPr>
          <p:cNvPr id="9" name="Text 7"/>
          <p:cNvSpPr/>
          <p:nvPr/>
        </p:nvSpPr>
        <p:spPr>
          <a:xfrm>
            <a:off x="594360" y="2212848"/>
            <a:ext cx="3081185" cy="694944"/>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!python --version</a:t>
            </a:r>
            <a:endParaRPr lang="en-US" sz="1200" dirty="0"/>
          </a:p>
        </p:txBody>
      </p:sp>
      <p:sp>
        <p:nvSpPr>
          <p:cNvPr id="10" name="Text 8"/>
          <p:cNvSpPr/>
          <p:nvPr/>
        </p:nvSpPr>
        <p:spPr>
          <a:xfrm>
            <a:off x="3803561" y="2212848"/>
            <a:ext cx="2897802" cy="694944"/>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Python 3.12.11</a:t>
            </a:r>
            <a:endParaRPr lang="en-US" sz="1050" dirty="0"/>
          </a:p>
        </p:txBody>
      </p:sp>
      <p:sp>
        <p:nvSpPr>
          <p:cNvPr id="11" name="Text 9"/>
          <p:cNvSpPr/>
          <p:nvPr/>
        </p:nvSpPr>
        <p:spPr>
          <a:xfrm>
            <a:off x="6829379" y="2212848"/>
            <a:ext cx="4639940" cy="694944"/>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You never chose this version. Somebody did.</a:t>
            </a:r>
            <a:endParaRPr lang="en-US" sz="1250" dirty="0"/>
          </a:p>
        </p:txBody>
      </p:sp>
      <p:sp>
        <p:nvSpPr>
          <p:cNvPr id="12" name="Shape 10"/>
          <p:cNvSpPr/>
          <p:nvPr/>
        </p:nvSpPr>
        <p:spPr>
          <a:xfrm>
            <a:off x="594360" y="2907792"/>
            <a:ext cx="11002975" cy="0"/>
          </a:xfrm>
          <a:prstGeom prst="line">
            <a:avLst/>
          </a:prstGeom>
          <a:noFill/>
          <a:ln w="9525">
            <a:solidFill>
              <a:srgbClr val="D0DAE0"/>
            </a:solidFill>
            <a:prstDash val="solid"/>
          </a:ln>
        </p:spPr>
        <p:txBody>
          <a:bodyPr/>
          <a:lstStyle/>
          <a:p>
            <a:endParaRPr lang="en-US"/>
          </a:p>
        </p:txBody>
      </p:sp>
      <p:sp>
        <p:nvSpPr>
          <p:cNvPr id="13" name="Text 11"/>
          <p:cNvSpPr/>
          <p:nvPr/>
        </p:nvSpPr>
        <p:spPr>
          <a:xfrm>
            <a:off x="594360" y="2907792"/>
            <a:ext cx="3081185" cy="694944"/>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!which python</a:t>
            </a:r>
            <a:endParaRPr lang="en-US" sz="1200" dirty="0"/>
          </a:p>
        </p:txBody>
      </p:sp>
      <p:sp>
        <p:nvSpPr>
          <p:cNvPr id="14" name="Text 12"/>
          <p:cNvSpPr/>
          <p:nvPr/>
        </p:nvSpPr>
        <p:spPr>
          <a:xfrm>
            <a:off x="3803561" y="2907792"/>
            <a:ext cx="2897802" cy="694944"/>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/usr/local/bin/python3</a:t>
            </a:r>
            <a:endParaRPr lang="en-US" sz="1050" dirty="0"/>
          </a:p>
        </p:txBody>
      </p:sp>
      <p:sp>
        <p:nvSpPr>
          <p:cNvPr id="15" name="Text 13"/>
          <p:cNvSpPr/>
          <p:nvPr/>
        </p:nvSpPr>
        <p:spPr>
          <a:xfrm>
            <a:off x="6829379" y="2907792"/>
            <a:ext cx="4639940" cy="694944"/>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A file path on a computer you have never seen.</a:t>
            </a:r>
            <a:endParaRPr lang="en-US" sz="1250" dirty="0"/>
          </a:p>
        </p:txBody>
      </p:sp>
      <p:sp>
        <p:nvSpPr>
          <p:cNvPr id="16" name="Shape 14"/>
          <p:cNvSpPr/>
          <p:nvPr/>
        </p:nvSpPr>
        <p:spPr>
          <a:xfrm>
            <a:off x="594360" y="3602736"/>
            <a:ext cx="11002975" cy="0"/>
          </a:xfrm>
          <a:prstGeom prst="line">
            <a:avLst/>
          </a:prstGeom>
          <a:noFill/>
          <a:ln w="9525">
            <a:solidFill>
              <a:srgbClr val="D0DAE0"/>
            </a:solidFill>
            <a:prstDash val="solid"/>
          </a:ln>
        </p:spPr>
        <p:txBody>
          <a:bodyPr/>
          <a:lstStyle/>
          <a:p>
            <a:endParaRPr lang="en-US"/>
          </a:p>
        </p:txBody>
      </p:sp>
      <p:sp>
        <p:nvSpPr>
          <p:cNvPr id="17" name="Text 15"/>
          <p:cNvSpPr/>
          <p:nvPr/>
        </p:nvSpPr>
        <p:spPr>
          <a:xfrm>
            <a:off x="594360" y="3602736"/>
            <a:ext cx="3081185" cy="694944"/>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!pip list</a:t>
            </a:r>
            <a:endParaRPr lang="en-US" sz="1200" dirty="0"/>
          </a:p>
        </p:txBody>
      </p:sp>
      <p:sp>
        <p:nvSpPr>
          <p:cNvPr id="18" name="Text 16"/>
          <p:cNvSpPr/>
          <p:nvPr/>
        </p:nvSpPr>
        <p:spPr>
          <a:xfrm>
            <a:off x="3803561" y="3602736"/>
            <a:ext cx="2897802" cy="694944"/>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Many many packages!</a:t>
            </a:r>
            <a:endParaRPr lang="en-US" sz="1050" dirty="0"/>
          </a:p>
        </p:txBody>
      </p:sp>
      <p:sp>
        <p:nvSpPr>
          <p:cNvPr id="19" name="Text 17"/>
          <p:cNvSpPr/>
          <p:nvPr/>
        </p:nvSpPr>
        <p:spPr>
          <a:xfrm>
            <a:off x="6829379" y="3602736"/>
            <a:ext cx="4639940" cy="694944"/>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~300 packages, and you installed none of them.</a:t>
            </a:r>
            <a:endParaRPr lang="en-US" sz="1250" dirty="0"/>
          </a:p>
        </p:txBody>
      </p:sp>
      <p:sp>
        <p:nvSpPr>
          <p:cNvPr id="20" name="Shape 18"/>
          <p:cNvSpPr/>
          <p:nvPr/>
        </p:nvSpPr>
        <p:spPr>
          <a:xfrm>
            <a:off x="594360" y="4297680"/>
            <a:ext cx="11002975" cy="0"/>
          </a:xfrm>
          <a:prstGeom prst="line">
            <a:avLst/>
          </a:prstGeom>
          <a:noFill/>
          <a:ln w="9525">
            <a:solidFill>
              <a:srgbClr val="D0DAE0"/>
            </a:solidFill>
            <a:prstDash val="solid"/>
          </a:ln>
        </p:spPr>
        <p:txBody>
          <a:bodyPr/>
          <a:lstStyle/>
          <a:p>
            <a:endParaRPr lang="en-US"/>
          </a:p>
        </p:txBody>
      </p:sp>
      <p:sp>
        <p:nvSpPr>
          <p:cNvPr id="21" name="Text 19"/>
          <p:cNvSpPr/>
          <p:nvPr/>
        </p:nvSpPr>
        <p:spPr>
          <a:xfrm>
            <a:off x="594360" y="4297680"/>
            <a:ext cx="3081185" cy="694944"/>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!ls /</a:t>
            </a:r>
            <a:endParaRPr lang="en-US" sz="1200" dirty="0"/>
          </a:p>
        </p:txBody>
      </p:sp>
      <p:sp>
        <p:nvSpPr>
          <p:cNvPr id="22" name="Text 20"/>
          <p:cNvSpPr/>
          <p:nvPr/>
        </p:nvSpPr>
        <p:spPr>
          <a:xfrm>
            <a:off x="3803561" y="4297680"/>
            <a:ext cx="2897802" cy="694944"/>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bin dev etc home proc usr</a:t>
            </a:r>
            <a:endParaRPr lang="en-US" sz="1050" dirty="0"/>
          </a:p>
        </p:txBody>
      </p:sp>
      <p:sp>
        <p:nvSpPr>
          <p:cNvPr id="23" name="Text 21"/>
          <p:cNvSpPr/>
          <p:nvPr/>
        </p:nvSpPr>
        <p:spPr>
          <a:xfrm>
            <a:off x="6829379" y="4297680"/>
            <a:ext cx="4639940" cy="694944"/>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A whole Linux filesystem. It is not yours.</a:t>
            </a:r>
            <a:endParaRPr lang="en-US" sz="1250" dirty="0"/>
          </a:p>
        </p:txBody>
      </p:sp>
      <p:sp>
        <p:nvSpPr>
          <p:cNvPr id="24" name="Shape 22"/>
          <p:cNvSpPr/>
          <p:nvPr/>
        </p:nvSpPr>
        <p:spPr>
          <a:xfrm>
            <a:off x="594360" y="4992624"/>
            <a:ext cx="11002975" cy="0"/>
          </a:xfrm>
          <a:prstGeom prst="line">
            <a:avLst/>
          </a:prstGeom>
          <a:noFill/>
          <a:ln w="9525">
            <a:solidFill>
              <a:srgbClr val="D0DAE0"/>
            </a:solidFill>
            <a:prstDash val="solid"/>
          </a:ln>
        </p:spPr>
        <p:txBody>
          <a:bodyPr/>
          <a:lstStyle/>
          <a:p>
            <a:endParaRPr lang="en-US"/>
          </a:p>
        </p:txBody>
      </p:sp>
      <p:sp>
        <p:nvSpPr>
          <p:cNvPr id="25" name="Text 23"/>
          <p:cNvSpPr/>
          <p:nvPr/>
        </p:nvSpPr>
        <p:spPr>
          <a:xfrm>
            <a:off x="594360" y="4992624"/>
            <a:ext cx="3081185" cy="694944"/>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!df -h</a:t>
            </a:r>
            <a:endParaRPr lang="en-US" sz="1200" dirty="0"/>
          </a:p>
        </p:txBody>
      </p:sp>
      <p:sp>
        <p:nvSpPr>
          <p:cNvPr id="26" name="Text 24"/>
          <p:cNvSpPr/>
          <p:nvPr/>
        </p:nvSpPr>
        <p:spPr>
          <a:xfrm>
            <a:off x="3803561" y="4992624"/>
            <a:ext cx="2897802" cy="694944"/>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108G disk</a:t>
            </a:r>
            <a:endParaRPr lang="en-US" sz="1050" dirty="0"/>
          </a:p>
        </p:txBody>
      </p:sp>
      <p:sp>
        <p:nvSpPr>
          <p:cNvPr id="27" name="Text 25"/>
          <p:cNvSpPr/>
          <p:nvPr/>
        </p:nvSpPr>
        <p:spPr>
          <a:xfrm>
            <a:off x="6829379" y="4992624"/>
            <a:ext cx="4639940" cy="694944"/>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Whose disk is that? Can anyone else access it?</a:t>
            </a:r>
            <a:endParaRPr lang="en-US" sz="1250" dirty="0"/>
          </a:p>
        </p:txBody>
      </p:sp>
      <p:sp>
        <p:nvSpPr>
          <p:cNvPr id="28" name="Shape 26"/>
          <p:cNvSpPr/>
          <p:nvPr/>
        </p:nvSpPr>
        <p:spPr>
          <a:xfrm>
            <a:off x="594360" y="5687568"/>
            <a:ext cx="11002975" cy="0"/>
          </a:xfrm>
          <a:prstGeom prst="line">
            <a:avLst/>
          </a:prstGeom>
          <a:noFill/>
          <a:ln w="9525">
            <a:solidFill>
              <a:srgbClr val="D0DAE0"/>
            </a:solidFill>
            <a:prstDash val="solid"/>
          </a:ln>
        </p:spPr>
        <p:txBody>
          <a:bodyPr/>
          <a:lstStyle/>
          <a:p>
            <a:endParaRPr lang="en-US"/>
          </a:p>
        </p:txBody>
      </p:sp>
      <p:sp>
        <p:nvSpPr>
          <p:cNvPr id="29" name="Text 27"/>
          <p:cNvSpPr/>
          <p:nvPr/>
        </p:nvSpPr>
        <p:spPr>
          <a:xfrm>
            <a:off x="594359" y="6382511"/>
            <a:ext cx="11002975" cy="402336"/>
          </a:xfrm>
          <a:prstGeom prst="rect">
            <a:avLst/>
          </a:prstGeom>
          <a:noFill/>
          <a:ln/>
        </p:spPr>
        <p:txBody>
          <a:bodyPr wrap="square" lIns="0" tIns="0" rIns="0" bIns="0" rtlCol="0" anchor="t"/>
          <a:lstStyle/>
          <a:p>
            <a:pPr marL="0" indent="0">
              <a:lnSpc>
                <a:spcPct val="120000"/>
              </a:lnSpc>
              <a:buNone/>
            </a:pPr>
            <a:r>
              <a:rPr lang="en-US" sz="1350" b="1" dirty="0">
                <a:solidFill>
                  <a:srgbClr val="121C22"/>
                </a:solidFill>
                <a:latin typeface="Calibri" pitchFamily="34" charset="0"/>
                <a:ea typeface="Calibri" pitchFamily="34" charset="-122"/>
                <a:cs typeface="Calibri" pitchFamily="34" charset="-120"/>
              </a:rPr>
              <a:t>You have spent four days writing Python on a Linux machine in a Google data centre.</a:t>
            </a:r>
            <a:r>
              <a:rPr lang="en-US" sz="1350" dirty="0">
                <a:solidFill>
                  <a:srgbClr val="55656F"/>
                </a:solidFill>
                <a:latin typeface="Calibri" pitchFamily="34" charset="0"/>
                <a:ea typeface="Calibri" pitchFamily="34" charset="-122"/>
                <a:cs typeface="Calibri" pitchFamily="34" charset="-120"/>
              </a:rPr>
              <a:t>   That is what </a:t>
            </a:r>
            <a:r>
              <a:rPr lang="en-US" sz="1350" dirty="0" err="1">
                <a:solidFill>
                  <a:srgbClr val="55656F"/>
                </a:solidFill>
                <a:latin typeface="Calibri" pitchFamily="34" charset="0"/>
                <a:ea typeface="Calibri" pitchFamily="34" charset="-122"/>
                <a:cs typeface="Calibri" pitchFamily="34" charset="-120"/>
              </a:rPr>
              <a:t>Colab</a:t>
            </a:r>
            <a:r>
              <a:rPr lang="en-US" sz="1350" dirty="0">
                <a:solidFill>
                  <a:srgbClr val="55656F"/>
                </a:solidFill>
                <a:latin typeface="Calibri" pitchFamily="34" charset="0"/>
                <a:ea typeface="Calibri" pitchFamily="34" charset="-122"/>
                <a:cs typeface="Calibri" pitchFamily="34" charset="-120"/>
              </a:rPr>
              <a:t> does for you to simply the experience.</a:t>
            </a:r>
            <a:endParaRPr lang="en-US" sz="1350" dirty="0"/>
          </a:p>
        </p:txBody>
      </p:sp>
      <p:sp>
        <p:nvSpPr>
          <p:cNvPr id="2" name="Text 23">
            <a:extLst>
              <a:ext uri="{FF2B5EF4-FFF2-40B4-BE49-F238E27FC236}">
                <a16:creationId xmlns:a16="http://schemas.microsoft.com/office/drawing/2014/main" id="{2FFED920-C763-CE9A-BD74-4CB2DBC5D1AC}"/>
              </a:ext>
            </a:extLst>
          </p:cNvPr>
          <p:cNvSpPr/>
          <p:nvPr/>
        </p:nvSpPr>
        <p:spPr>
          <a:xfrm>
            <a:off x="594359" y="5577838"/>
            <a:ext cx="3081185" cy="694944"/>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!free -h</a:t>
            </a:r>
            <a:endParaRPr lang="en-US" sz="1200" dirty="0"/>
          </a:p>
        </p:txBody>
      </p:sp>
      <p:sp>
        <p:nvSpPr>
          <p:cNvPr id="30" name="Text 24">
            <a:extLst>
              <a:ext uri="{FF2B5EF4-FFF2-40B4-BE49-F238E27FC236}">
                <a16:creationId xmlns:a16="http://schemas.microsoft.com/office/drawing/2014/main" id="{4DD67BF7-3337-0348-9AD7-97DA00BD801E}"/>
              </a:ext>
            </a:extLst>
          </p:cNvPr>
          <p:cNvSpPr/>
          <p:nvPr/>
        </p:nvSpPr>
        <p:spPr>
          <a:xfrm>
            <a:off x="3803560" y="5577838"/>
            <a:ext cx="2897802" cy="694944"/>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12G RAM</a:t>
            </a:r>
            <a:endParaRPr lang="en-US" sz="1050" dirty="0"/>
          </a:p>
        </p:txBody>
      </p:sp>
      <p:sp>
        <p:nvSpPr>
          <p:cNvPr id="31" name="Text 25">
            <a:extLst>
              <a:ext uri="{FF2B5EF4-FFF2-40B4-BE49-F238E27FC236}">
                <a16:creationId xmlns:a16="http://schemas.microsoft.com/office/drawing/2014/main" id="{9EEDF4AC-2A53-4806-D4BA-5EE9C1C996DC}"/>
              </a:ext>
            </a:extLst>
          </p:cNvPr>
          <p:cNvSpPr/>
          <p:nvPr/>
        </p:nvSpPr>
        <p:spPr>
          <a:xfrm>
            <a:off x="6829378" y="5577838"/>
            <a:ext cx="4639940" cy="694944"/>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Whose memory is this? Can I change it?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731520"/>
            <a:ext cx="11002975" cy="676656"/>
          </a:xfrm>
          <a:prstGeom prst="rect">
            <a:avLst/>
          </a:prstGeom>
          <a:noFill/>
          <a:ln/>
        </p:spPr>
        <p:txBody>
          <a:bodyPr wrap="square" lIns="0" tIns="0" rIns="0" bIns="0" rtlCol="0" anchor="t"/>
          <a:lstStyle/>
          <a:p>
            <a:pPr marL="0" indent="0">
              <a:buNone/>
            </a:pPr>
            <a:r>
              <a:rPr lang="en-US" sz="3300" b="1" dirty="0">
                <a:solidFill>
                  <a:srgbClr val="121C22"/>
                </a:solidFill>
                <a:latin typeface="Calibri" pitchFamily="34" charset="0"/>
                <a:ea typeface="Calibri" pitchFamily="34" charset="-122"/>
                <a:cs typeface="Calibri" pitchFamily="34" charset="-120"/>
              </a:rPr>
              <a:t>What is permanent on these systems?</a:t>
            </a:r>
            <a:endParaRPr lang="en-US" sz="3300" dirty="0"/>
          </a:p>
        </p:txBody>
      </p:sp>
      <p:sp>
        <p:nvSpPr>
          <p:cNvPr id="5" name="Text 3"/>
          <p:cNvSpPr/>
          <p:nvPr/>
        </p:nvSpPr>
        <p:spPr>
          <a:xfrm>
            <a:off x="594360" y="1938528"/>
            <a:ext cx="4005072"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WHEN THE RUNTIME IS DELETED</a:t>
            </a:r>
            <a:endParaRPr lang="en-US" sz="950" dirty="0"/>
          </a:p>
        </p:txBody>
      </p:sp>
      <p:sp>
        <p:nvSpPr>
          <p:cNvPr id="6" name="Shape 4"/>
          <p:cNvSpPr/>
          <p:nvPr/>
        </p:nvSpPr>
        <p:spPr>
          <a:xfrm>
            <a:off x="594360" y="2212848"/>
            <a:ext cx="5577840" cy="0"/>
          </a:xfrm>
          <a:prstGeom prst="line">
            <a:avLst/>
          </a:prstGeom>
          <a:noFill/>
          <a:ln w="12700">
            <a:solidFill>
              <a:srgbClr val="9EAEB8"/>
            </a:solidFill>
            <a:prstDash val="solid"/>
          </a:ln>
        </p:spPr>
        <p:txBody>
          <a:bodyPr/>
          <a:lstStyle/>
          <a:p>
            <a:endParaRPr lang="en-US"/>
          </a:p>
        </p:txBody>
      </p:sp>
      <p:sp>
        <p:nvSpPr>
          <p:cNvPr id="7" name="Shape 5"/>
          <p:cNvSpPr/>
          <p:nvPr/>
        </p:nvSpPr>
        <p:spPr>
          <a:xfrm>
            <a:off x="594360" y="2212848"/>
            <a:ext cx="5577840" cy="566928"/>
          </a:xfrm>
          <a:prstGeom prst="rect">
            <a:avLst/>
          </a:prstGeom>
          <a:solidFill>
            <a:srgbClr val="F1F5F6"/>
          </a:solidFill>
          <a:ln/>
        </p:spPr>
        <p:txBody>
          <a:bodyPr/>
          <a:lstStyle/>
          <a:p>
            <a:endParaRPr lang="en-US"/>
          </a:p>
        </p:txBody>
      </p:sp>
      <p:sp>
        <p:nvSpPr>
          <p:cNvPr id="8" name="Text 6"/>
          <p:cNvSpPr/>
          <p:nvPr/>
        </p:nvSpPr>
        <p:spPr>
          <a:xfrm>
            <a:off x="594360" y="2212848"/>
            <a:ext cx="3986784" cy="566928"/>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your .ipynb notebook, saved in Drive</a:t>
            </a:r>
            <a:endParaRPr lang="en-US" sz="1250" dirty="0"/>
          </a:p>
        </p:txBody>
      </p:sp>
      <p:sp>
        <p:nvSpPr>
          <p:cNvPr id="9" name="Text 7"/>
          <p:cNvSpPr/>
          <p:nvPr/>
        </p:nvSpPr>
        <p:spPr>
          <a:xfrm>
            <a:off x="4709160" y="2212848"/>
            <a:ext cx="1335024" cy="566928"/>
          </a:xfrm>
          <a:prstGeom prst="rect">
            <a:avLst/>
          </a:prstGeom>
          <a:noFill/>
          <a:ln/>
        </p:spPr>
        <p:txBody>
          <a:bodyPr wrap="square" lIns="0" tIns="0" rIns="0" bIns="0" rtlCol="0" anchor="ctr"/>
          <a:lstStyle/>
          <a:p>
            <a:pPr marL="0" indent="0" algn="r">
              <a:lnSpc>
                <a:spcPct val="115000"/>
              </a:lnSpc>
              <a:buNone/>
            </a:pPr>
            <a:r>
              <a:rPr lang="en-US" sz="1200" b="1" dirty="0">
                <a:solidFill>
                  <a:srgbClr val="1F6B65"/>
                </a:solidFill>
                <a:latin typeface="Courier New" pitchFamily="34" charset="0"/>
                <a:ea typeface="Courier New" pitchFamily="34" charset="-122"/>
                <a:cs typeface="Courier New" pitchFamily="34" charset="-120"/>
              </a:rPr>
              <a:t>survives</a:t>
            </a:r>
            <a:endParaRPr lang="en-US" sz="1200" dirty="0"/>
          </a:p>
        </p:txBody>
      </p:sp>
      <p:sp>
        <p:nvSpPr>
          <p:cNvPr id="10" name="Shape 8"/>
          <p:cNvSpPr/>
          <p:nvPr/>
        </p:nvSpPr>
        <p:spPr>
          <a:xfrm>
            <a:off x="594360" y="2779776"/>
            <a:ext cx="5577840" cy="0"/>
          </a:xfrm>
          <a:prstGeom prst="line">
            <a:avLst/>
          </a:prstGeom>
          <a:noFill/>
          <a:ln w="9525">
            <a:solidFill>
              <a:srgbClr val="D0DAE0"/>
            </a:solidFill>
            <a:prstDash val="solid"/>
          </a:ln>
        </p:spPr>
        <p:txBody>
          <a:bodyPr/>
          <a:lstStyle/>
          <a:p>
            <a:endParaRPr lang="en-US"/>
          </a:p>
        </p:txBody>
      </p:sp>
      <p:sp>
        <p:nvSpPr>
          <p:cNvPr id="11" name="Shape 9"/>
          <p:cNvSpPr/>
          <p:nvPr/>
        </p:nvSpPr>
        <p:spPr>
          <a:xfrm>
            <a:off x="594360" y="2779776"/>
            <a:ext cx="5577840" cy="566928"/>
          </a:xfrm>
          <a:prstGeom prst="rect">
            <a:avLst/>
          </a:prstGeom>
          <a:solidFill>
            <a:srgbClr val="F1F5F6"/>
          </a:solidFill>
          <a:ln/>
        </p:spPr>
        <p:txBody>
          <a:bodyPr/>
          <a:lstStyle/>
          <a:p>
            <a:endParaRPr lang="en-US"/>
          </a:p>
        </p:txBody>
      </p:sp>
      <p:sp>
        <p:nvSpPr>
          <p:cNvPr id="12" name="Text 10"/>
          <p:cNvSpPr/>
          <p:nvPr/>
        </p:nvSpPr>
        <p:spPr>
          <a:xfrm>
            <a:off x="594360" y="2779776"/>
            <a:ext cx="3986784" cy="566928"/>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files you deliberately saved to Drive</a:t>
            </a:r>
            <a:endParaRPr lang="en-US" sz="1250" dirty="0"/>
          </a:p>
        </p:txBody>
      </p:sp>
      <p:sp>
        <p:nvSpPr>
          <p:cNvPr id="13" name="Text 11"/>
          <p:cNvSpPr/>
          <p:nvPr/>
        </p:nvSpPr>
        <p:spPr>
          <a:xfrm>
            <a:off x="4709160" y="2779776"/>
            <a:ext cx="1335024" cy="566928"/>
          </a:xfrm>
          <a:prstGeom prst="rect">
            <a:avLst/>
          </a:prstGeom>
          <a:noFill/>
          <a:ln/>
        </p:spPr>
        <p:txBody>
          <a:bodyPr wrap="square" lIns="0" tIns="0" rIns="0" bIns="0" rtlCol="0" anchor="ctr"/>
          <a:lstStyle/>
          <a:p>
            <a:pPr marL="0" indent="0" algn="r">
              <a:lnSpc>
                <a:spcPct val="115000"/>
              </a:lnSpc>
              <a:buNone/>
            </a:pPr>
            <a:r>
              <a:rPr lang="en-US" sz="1200" b="1" dirty="0">
                <a:solidFill>
                  <a:srgbClr val="1F6B65"/>
                </a:solidFill>
                <a:latin typeface="Courier New" pitchFamily="34" charset="0"/>
                <a:ea typeface="Courier New" pitchFamily="34" charset="-122"/>
                <a:cs typeface="Courier New" pitchFamily="34" charset="-120"/>
              </a:rPr>
              <a:t>survives</a:t>
            </a:r>
            <a:endParaRPr lang="en-US" sz="1200" dirty="0"/>
          </a:p>
        </p:txBody>
      </p:sp>
      <p:sp>
        <p:nvSpPr>
          <p:cNvPr id="14" name="Shape 12"/>
          <p:cNvSpPr/>
          <p:nvPr/>
        </p:nvSpPr>
        <p:spPr>
          <a:xfrm>
            <a:off x="594360" y="3346704"/>
            <a:ext cx="5577840" cy="0"/>
          </a:xfrm>
          <a:prstGeom prst="line">
            <a:avLst/>
          </a:prstGeom>
          <a:noFill/>
          <a:ln w="9525">
            <a:solidFill>
              <a:srgbClr val="D0DAE0"/>
            </a:solidFill>
            <a:prstDash val="solid"/>
          </a:ln>
        </p:spPr>
        <p:txBody>
          <a:bodyPr/>
          <a:lstStyle/>
          <a:p>
            <a:endParaRPr lang="en-US"/>
          </a:p>
        </p:txBody>
      </p:sp>
      <p:sp>
        <p:nvSpPr>
          <p:cNvPr id="15" name="Text 13"/>
          <p:cNvSpPr/>
          <p:nvPr/>
        </p:nvSpPr>
        <p:spPr>
          <a:xfrm>
            <a:off x="594360" y="3346704"/>
            <a:ext cx="3986784" cy="566928"/>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the machine itself</a:t>
            </a:r>
            <a:endParaRPr lang="en-US" sz="1250" dirty="0"/>
          </a:p>
        </p:txBody>
      </p:sp>
      <p:sp>
        <p:nvSpPr>
          <p:cNvPr id="16" name="Text 14"/>
          <p:cNvSpPr/>
          <p:nvPr/>
        </p:nvSpPr>
        <p:spPr>
          <a:xfrm>
            <a:off x="4709160" y="3346704"/>
            <a:ext cx="1335024" cy="566928"/>
          </a:xfrm>
          <a:prstGeom prst="rect">
            <a:avLst/>
          </a:prstGeom>
          <a:noFill/>
          <a:ln/>
        </p:spPr>
        <p:txBody>
          <a:bodyPr wrap="square" lIns="0" tIns="0" rIns="0" bIns="0" rtlCol="0" anchor="ctr"/>
          <a:lstStyle/>
          <a:p>
            <a:pPr marL="0" indent="0" algn="r">
              <a:lnSpc>
                <a:spcPct val="115000"/>
              </a:lnSpc>
              <a:buNone/>
            </a:pPr>
            <a:r>
              <a:rPr lang="en-US" sz="1200" b="1" dirty="0">
                <a:solidFill>
                  <a:srgbClr val="B4483C"/>
                </a:solidFill>
                <a:latin typeface="Courier New" pitchFamily="34" charset="0"/>
                <a:ea typeface="Courier New" pitchFamily="34" charset="-122"/>
                <a:cs typeface="Courier New" pitchFamily="34" charset="-120"/>
              </a:rPr>
              <a:t>gone</a:t>
            </a:r>
            <a:endParaRPr lang="en-US" sz="1200" dirty="0"/>
          </a:p>
        </p:txBody>
      </p:sp>
      <p:sp>
        <p:nvSpPr>
          <p:cNvPr id="17" name="Shape 15"/>
          <p:cNvSpPr/>
          <p:nvPr/>
        </p:nvSpPr>
        <p:spPr>
          <a:xfrm>
            <a:off x="594360" y="3913632"/>
            <a:ext cx="5577840" cy="0"/>
          </a:xfrm>
          <a:prstGeom prst="line">
            <a:avLst/>
          </a:prstGeom>
          <a:noFill/>
          <a:ln w="9525">
            <a:solidFill>
              <a:srgbClr val="D0DAE0"/>
            </a:solidFill>
            <a:prstDash val="solid"/>
          </a:ln>
        </p:spPr>
        <p:txBody>
          <a:bodyPr/>
          <a:lstStyle/>
          <a:p>
            <a:endParaRPr lang="en-US"/>
          </a:p>
        </p:txBody>
      </p:sp>
      <p:sp>
        <p:nvSpPr>
          <p:cNvPr id="18" name="Text 16"/>
          <p:cNvSpPr/>
          <p:nvPr/>
        </p:nvSpPr>
        <p:spPr>
          <a:xfrm>
            <a:off x="594360" y="3913632"/>
            <a:ext cx="3986784" cy="566928"/>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every package you installed</a:t>
            </a:r>
            <a:endParaRPr lang="en-US" sz="1250" dirty="0"/>
          </a:p>
        </p:txBody>
      </p:sp>
      <p:sp>
        <p:nvSpPr>
          <p:cNvPr id="19" name="Text 17"/>
          <p:cNvSpPr/>
          <p:nvPr/>
        </p:nvSpPr>
        <p:spPr>
          <a:xfrm>
            <a:off x="4709160" y="3913632"/>
            <a:ext cx="1335024" cy="566928"/>
          </a:xfrm>
          <a:prstGeom prst="rect">
            <a:avLst/>
          </a:prstGeom>
          <a:noFill/>
          <a:ln/>
        </p:spPr>
        <p:txBody>
          <a:bodyPr wrap="square" lIns="0" tIns="0" rIns="0" bIns="0" rtlCol="0" anchor="ctr"/>
          <a:lstStyle/>
          <a:p>
            <a:pPr marL="0" indent="0" algn="r">
              <a:lnSpc>
                <a:spcPct val="115000"/>
              </a:lnSpc>
              <a:buNone/>
            </a:pPr>
            <a:r>
              <a:rPr lang="en-US" sz="1200" b="1" dirty="0">
                <a:solidFill>
                  <a:srgbClr val="B4483C"/>
                </a:solidFill>
                <a:latin typeface="Courier New" pitchFamily="34" charset="0"/>
                <a:ea typeface="Courier New" pitchFamily="34" charset="-122"/>
                <a:cs typeface="Courier New" pitchFamily="34" charset="-120"/>
              </a:rPr>
              <a:t>gone</a:t>
            </a:r>
            <a:endParaRPr lang="en-US" sz="1200" dirty="0"/>
          </a:p>
        </p:txBody>
      </p:sp>
      <p:sp>
        <p:nvSpPr>
          <p:cNvPr id="20" name="Shape 18"/>
          <p:cNvSpPr/>
          <p:nvPr/>
        </p:nvSpPr>
        <p:spPr>
          <a:xfrm>
            <a:off x="594360" y="4480560"/>
            <a:ext cx="5577840" cy="0"/>
          </a:xfrm>
          <a:prstGeom prst="line">
            <a:avLst/>
          </a:prstGeom>
          <a:noFill/>
          <a:ln w="9525">
            <a:solidFill>
              <a:srgbClr val="D0DAE0"/>
            </a:solidFill>
            <a:prstDash val="solid"/>
          </a:ln>
        </p:spPr>
        <p:txBody>
          <a:bodyPr/>
          <a:lstStyle/>
          <a:p>
            <a:endParaRPr lang="en-US"/>
          </a:p>
        </p:txBody>
      </p:sp>
      <p:sp>
        <p:nvSpPr>
          <p:cNvPr id="21" name="Text 19"/>
          <p:cNvSpPr/>
          <p:nvPr/>
        </p:nvSpPr>
        <p:spPr>
          <a:xfrm>
            <a:off x="594360" y="4480560"/>
            <a:ext cx="3986784" cy="566928"/>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every file you uploaded</a:t>
            </a:r>
            <a:endParaRPr lang="en-US" sz="1250" dirty="0"/>
          </a:p>
        </p:txBody>
      </p:sp>
      <p:sp>
        <p:nvSpPr>
          <p:cNvPr id="22" name="Text 20"/>
          <p:cNvSpPr/>
          <p:nvPr/>
        </p:nvSpPr>
        <p:spPr>
          <a:xfrm>
            <a:off x="4709160" y="4480560"/>
            <a:ext cx="1335024" cy="566928"/>
          </a:xfrm>
          <a:prstGeom prst="rect">
            <a:avLst/>
          </a:prstGeom>
          <a:noFill/>
          <a:ln/>
        </p:spPr>
        <p:txBody>
          <a:bodyPr wrap="square" lIns="0" tIns="0" rIns="0" bIns="0" rtlCol="0" anchor="ctr"/>
          <a:lstStyle/>
          <a:p>
            <a:pPr marL="0" indent="0" algn="r">
              <a:lnSpc>
                <a:spcPct val="115000"/>
              </a:lnSpc>
              <a:buNone/>
            </a:pPr>
            <a:r>
              <a:rPr lang="en-US" sz="1200" b="1" dirty="0">
                <a:solidFill>
                  <a:srgbClr val="B4483C"/>
                </a:solidFill>
                <a:latin typeface="Courier New" pitchFamily="34" charset="0"/>
                <a:ea typeface="Courier New" pitchFamily="34" charset="-122"/>
                <a:cs typeface="Courier New" pitchFamily="34" charset="-120"/>
              </a:rPr>
              <a:t>gone</a:t>
            </a:r>
            <a:endParaRPr lang="en-US" sz="1200" dirty="0"/>
          </a:p>
        </p:txBody>
      </p:sp>
      <p:sp>
        <p:nvSpPr>
          <p:cNvPr id="23" name="Shape 21"/>
          <p:cNvSpPr/>
          <p:nvPr/>
        </p:nvSpPr>
        <p:spPr>
          <a:xfrm>
            <a:off x="594360" y="5047488"/>
            <a:ext cx="5577840" cy="0"/>
          </a:xfrm>
          <a:prstGeom prst="line">
            <a:avLst/>
          </a:prstGeom>
          <a:noFill/>
          <a:ln w="9525">
            <a:solidFill>
              <a:srgbClr val="D0DAE0"/>
            </a:solidFill>
            <a:prstDash val="solid"/>
          </a:ln>
        </p:spPr>
        <p:txBody>
          <a:bodyPr/>
          <a:lstStyle/>
          <a:p>
            <a:endParaRPr lang="en-US"/>
          </a:p>
        </p:txBody>
      </p:sp>
      <p:sp>
        <p:nvSpPr>
          <p:cNvPr id="24" name="Text 22"/>
          <p:cNvSpPr/>
          <p:nvPr/>
        </p:nvSpPr>
        <p:spPr>
          <a:xfrm>
            <a:off x="594360" y="5047488"/>
            <a:ext cx="3986784" cy="566928"/>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anything written to /content</a:t>
            </a:r>
            <a:endParaRPr lang="en-US" sz="1250" dirty="0"/>
          </a:p>
        </p:txBody>
      </p:sp>
      <p:sp>
        <p:nvSpPr>
          <p:cNvPr id="25" name="Text 23"/>
          <p:cNvSpPr/>
          <p:nvPr/>
        </p:nvSpPr>
        <p:spPr>
          <a:xfrm>
            <a:off x="4709160" y="5047488"/>
            <a:ext cx="1335024" cy="566928"/>
          </a:xfrm>
          <a:prstGeom prst="rect">
            <a:avLst/>
          </a:prstGeom>
          <a:noFill/>
          <a:ln/>
        </p:spPr>
        <p:txBody>
          <a:bodyPr wrap="square" lIns="0" tIns="0" rIns="0" bIns="0" rtlCol="0" anchor="ctr"/>
          <a:lstStyle/>
          <a:p>
            <a:pPr marL="0" indent="0" algn="r">
              <a:lnSpc>
                <a:spcPct val="115000"/>
              </a:lnSpc>
              <a:buNone/>
            </a:pPr>
            <a:r>
              <a:rPr lang="en-US" sz="1200" b="1" dirty="0">
                <a:solidFill>
                  <a:srgbClr val="B4483C"/>
                </a:solidFill>
                <a:latin typeface="Courier New" pitchFamily="34" charset="0"/>
                <a:ea typeface="Courier New" pitchFamily="34" charset="-122"/>
                <a:cs typeface="Courier New" pitchFamily="34" charset="-120"/>
              </a:rPr>
              <a:t>gone</a:t>
            </a:r>
            <a:endParaRPr lang="en-US" sz="1200" dirty="0"/>
          </a:p>
        </p:txBody>
      </p:sp>
      <p:sp>
        <p:nvSpPr>
          <p:cNvPr id="26" name="Shape 24"/>
          <p:cNvSpPr/>
          <p:nvPr/>
        </p:nvSpPr>
        <p:spPr>
          <a:xfrm>
            <a:off x="594360" y="5614416"/>
            <a:ext cx="5577840" cy="0"/>
          </a:xfrm>
          <a:prstGeom prst="line">
            <a:avLst/>
          </a:prstGeom>
          <a:noFill/>
          <a:ln w="9525">
            <a:solidFill>
              <a:srgbClr val="D0DAE0"/>
            </a:solidFill>
            <a:prstDash val="solid"/>
          </a:ln>
        </p:spPr>
        <p:txBody>
          <a:bodyPr/>
          <a:lstStyle/>
          <a:p>
            <a:endParaRPr lang="en-US"/>
          </a:p>
        </p:txBody>
      </p:sp>
      <p:sp>
        <p:nvSpPr>
          <p:cNvPr id="28" name="Shape 26"/>
          <p:cNvSpPr/>
          <p:nvPr/>
        </p:nvSpPr>
        <p:spPr>
          <a:xfrm>
            <a:off x="6537960" y="1920240"/>
            <a:ext cx="0" cy="3931920"/>
          </a:xfrm>
          <a:prstGeom prst="line">
            <a:avLst/>
          </a:prstGeom>
          <a:noFill/>
          <a:ln w="9525">
            <a:solidFill>
              <a:srgbClr val="D0DAE0"/>
            </a:solidFill>
            <a:prstDash val="solid"/>
          </a:ln>
        </p:spPr>
        <p:txBody>
          <a:bodyPr/>
          <a:lstStyle/>
          <a:p>
            <a:endParaRPr lang="en-US"/>
          </a:p>
        </p:txBody>
      </p:sp>
      <p:sp>
        <p:nvSpPr>
          <p:cNvPr id="30" name="Text 28"/>
          <p:cNvSpPr/>
          <p:nvPr/>
        </p:nvSpPr>
        <p:spPr>
          <a:xfrm>
            <a:off x="6949440" y="2286000"/>
            <a:ext cx="4617720" cy="365760"/>
          </a:xfrm>
          <a:prstGeom prst="rect">
            <a:avLst/>
          </a:prstGeom>
          <a:noFill/>
          <a:ln/>
        </p:spPr>
        <p:txBody>
          <a:bodyPr wrap="square" lIns="0" tIns="0" rIns="0" bIns="0" rtlCol="0" anchor="ctr"/>
          <a:lstStyle/>
          <a:p>
            <a:pPr marL="0" indent="0">
              <a:buNone/>
            </a:pPr>
            <a:r>
              <a:rPr lang="en-US" sz="1900" b="1" dirty="0">
                <a:solidFill>
                  <a:srgbClr val="121C22"/>
                </a:solidFill>
                <a:latin typeface="Calibri" pitchFamily="34" charset="0"/>
                <a:ea typeface="Calibri" pitchFamily="34" charset="-122"/>
                <a:cs typeface="Calibri" pitchFamily="34" charset="-120"/>
              </a:rPr>
              <a:t>How do you write code that still runs —</a:t>
            </a:r>
            <a:endParaRPr lang="en-US" sz="1900" dirty="0"/>
          </a:p>
        </p:txBody>
      </p:sp>
      <p:sp>
        <p:nvSpPr>
          <p:cNvPr id="31" name="Text 29"/>
          <p:cNvSpPr/>
          <p:nvPr/>
        </p:nvSpPr>
        <p:spPr>
          <a:xfrm>
            <a:off x="6949440" y="2834640"/>
            <a:ext cx="411480" cy="292608"/>
          </a:xfrm>
          <a:prstGeom prst="rect">
            <a:avLst/>
          </a:prstGeom>
          <a:noFill/>
          <a:ln/>
        </p:spPr>
        <p:txBody>
          <a:bodyPr wrap="square" lIns="0" tIns="0" rIns="0" bIns="0" rtlCol="0" anchor="ctr"/>
          <a:lstStyle/>
          <a:p>
            <a:pPr marL="0" indent="0">
              <a:buNone/>
            </a:pPr>
            <a:r>
              <a:rPr lang="en-US" sz="1150" b="1" dirty="0">
                <a:solidFill>
                  <a:srgbClr val="C07A10"/>
                </a:solidFill>
                <a:latin typeface="Courier New" pitchFamily="34" charset="0"/>
                <a:ea typeface="Courier New" pitchFamily="34" charset="-122"/>
                <a:cs typeface="Courier New" pitchFamily="34" charset="-120"/>
              </a:rPr>
              <a:t>01</a:t>
            </a:r>
            <a:endParaRPr lang="en-US" sz="1150" dirty="0"/>
          </a:p>
        </p:txBody>
      </p:sp>
      <p:sp>
        <p:nvSpPr>
          <p:cNvPr id="32" name="Text 30"/>
          <p:cNvSpPr/>
          <p:nvPr/>
        </p:nvSpPr>
        <p:spPr>
          <a:xfrm>
            <a:off x="7406640" y="2807208"/>
            <a:ext cx="4114800" cy="310896"/>
          </a:xfrm>
          <a:prstGeom prst="rect">
            <a:avLst/>
          </a:prstGeom>
          <a:noFill/>
          <a:ln/>
        </p:spPr>
        <p:txBody>
          <a:bodyPr wrap="square" lIns="0" tIns="0" rIns="0" bIns="0" rtlCol="0" anchor="ctr"/>
          <a:lstStyle/>
          <a:p>
            <a:pPr marL="0" indent="0">
              <a:buNone/>
            </a:pPr>
            <a:r>
              <a:rPr lang="en-US" sz="1500" dirty="0">
                <a:solidFill>
                  <a:srgbClr val="55656F"/>
                </a:solidFill>
                <a:latin typeface="Calibri" pitchFamily="34" charset="0"/>
                <a:ea typeface="Calibri" pitchFamily="34" charset="-122"/>
                <a:cs typeface="Calibri" pitchFamily="34" charset="-120"/>
              </a:rPr>
              <a:t>on a different computer</a:t>
            </a:r>
            <a:endParaRPr lang="en-US" sz="1500" dirty="0"/>
          </a:p>
        </p:txBody>
      </p:sp>
      <p:sp>
        <p:nvSpPr>
          <p:cNvPr id="33" name="Shape 31"/>
          <p:cNvSpPr/>
          <p:nvPr/>
        </p:nvSpPr>
        <p:spPr>
          <a:xfrm>
            <a:off x="6949440" y="3236976"/>
            <a:ext cx="4617720" cy="0"/>
          </a:xfrm>
          <a:prstGeom prst="line">
            <a:avLst/>
          </a:prstGeom>
          <a:noFill/>
          <a:ln w="9525">
            <a:solidFill>
              <a:srgbClr val="D0DAE0"/>
            </a:solidFill>
            <a:prstDash val="solid"/>
          </a:ln>
        </p:spPr>
        <p:txBody>
          <a:bodyPr/>
          <a:lstStyle/>
          <a:p>
            <a:endParaRPr lang="en-US"/>
          </a:p>
        </p:txBody>
      </p:sp>
      <p:sp>
        <p:nvSpPr>
          <p:cNvPr id="34" name="Text 32"/>
          <p:cNvSpPr/>
          <p:nvPr/>
        </p:nvSpPr>
        <p:spPr>
          <a:xfrm>
            <a:off x="6949440" y="3310128"/>
            <a:ext cx="411480" cy="292608"/>
          </a:xfrm>
          <a:prstGeom prst="rect">
            <a:avLst/>
          </a:prstGeom>
          <a:noFill/>
          <a:ln/>
        </p:spPr>
        <p:txBody>
          <a:bodyPr wrap="square" lIns="0" tIns="0" rIns="0" bIns="0" rtlCol="0" anchor="ctr"/>
          <a:lstStyle/>
          <a:p>
            <a:pPr marL="0" indent="0">
              <a:buNone/>
            </a:pPr>
            <a:r>
              <a:rPr lang="en-US" sz="1150" b="1" dirty="0">
                <a:solidFill>
                  <a:srgbClr val="C07A10"/>
                </a:solidFill>
                <a:latin typeface="Courier New" pitchFamily="34" charset="0"/>
                <a:ea typeface="Courier New" pitchFamily="34" charset="-122"/>
                <a:cs typeface="Courier New" pitchFamily="34" charset="-120"/>
              </a:rPr>
              <a:t>02</a:t>
            </a:r>
            <a:endParaRPr lang="en-US" sz="1150" dirty="0"/>
          </a:p>
        </p:txBody>
      </p:sp>
      <p:sp>
        <p:nvSpPr>
          <p:cNvPr id="35" name="Text 33"/>
          <p:cNvSpPr/>
          <p:nvPr/>
        </p:nvSpPr>
        <p:spPr>
          <a:xfrm>
            <a:off x="7406640" y="3282696"/>
            <a:ext cx="4114800" cy="310896"/>
          </a:xfrm>
          <a:prstGeom prst="rect">
            <a:avLst/>
          </a:prstGeom>
          <a:noFill/>
          <a:ln/>
        </p:spPr>
        <p:txBody>
          <a:bodyPr wrap="square" lIns="0" tIns="0" rIns="0" bIns="0" rtlCol="0" anchor="ctr"/>
          <a:lstStyle/>
          <a:p>
            <a:pPr marL="0" indent="0">
              <a:buNone/>
            </a:pPr>
            <a:r>
              <a:rPr lang="en-US" sz="1500" dirty="0">
                <a:solidFill>
                  <a:srgbClr val="55656F"/>
                </a:solidFill>
                <a:latin typeface="Calibri" pitchFamily="34" charset="0"/>
                <a:ea typeface="Calibri" pitchFamily="34" charset="-122"/>
                <a:cs typeface="Calibri" pitchFamily="34" charset="-120"/>
              </a:rPr>
              <a:t>for a different person</a:t>
            </a:r>
            <a:endParaRPr lang="en-US" sz="1500" dirty="0"/>
          </a:p>
        </p:txBody>
      </p:sp>
      <p:sp>
        <p:nvSpPr>
          <p:cNvPr id="36" name="Shape 34"/>
          <p:cNvSpPr/>
          <p:nvPr/>
        </p:nvSpPr>
        <p:spPr>
          <a:xfrm>
            <a:off x="6949440" y="3712464"/>
            <a:ext cx="4617720" cy="0"/>
          </a:xfrm>
          <a:prstGeom prst="line">
            <a:avLst/>
          </a:prstGeom>
          <a:noFill/>
          <a:ln w="9525">
            <a:solidFill>
              <a:srgbClr val="D0DAE0"/>
            </a:solidFill>
            <a:prstDash val="solid"/>
          </a:ln>
        </p:spPr>
        <p:txBody>
          <a:bodyPr/>
          <a:lstStyle/>
          <a:p>
            <a:endParaRPr lang="en-US"/>
          </a:p>
        </p:txBody>
      </p:sp>
      <p:sp>
        <p:nvSpPr>
          <p:cNvPr id="37" name="Text 35"/>
          <p:cNvSpPr/>
          <p:nvPr/>
        </p:nvSpPr>
        <p:spPr>
          <a:xfrm>
            <a:off x="6949440" y="3785616"/>
            <a:ext cx="411480" cy="292608"/>
          </a:xfrm>
          <a:prstGeom prst="rect">
            <a:avLst/>
          </a:prstGeom>
          <a:noFill/>
          <a:ln/>
        </p:spPr>
        <p:txBody>
          <a:bodyPr wrap="square" lIns="0" tIns="0" rIns="0" bIns="0" rtlCol="0" anchor="ctr"/>
          <a:lstStyle/>
          <a:p>
            <a:pPr marL="0" indent="0">
              <a:buNone/>
            </a:pPr>
            <a:r>
              <a:rPr lang="en-US" sz="1150" b="1" dirty="0">
                <a:solidFill>
                  <a:srgbClr val="C07A10"/>
                </a:solidFill>
                <a:latin typeface="Courier New" pitchFamily="34" charset="0"/>
                <a:ea typeface="Courier New" pitchFamily="34" charset="-122"/>
                <a:cs typeface="Courier New" pitchFamily="34" charset="-120"/>
              </a:rPr>
              <a:t>03</a:t>
            </a:r>
            <a:endParaRPr lang="en-US" sz="1150" dirty="0"/>
          </a:p>
        </p:txBody>
      </p:sp>
      <p:sp>
        <p:nvSpPr>
          <p:cNvPr id="38" name="Text 36"/>
          <p:cNvSpPr/>
          <p:nvPr/>
        </p:nvSpPr>
        <p:spPr>
          <a:xfrm>
            <a:off x="7406640" y="3758184"/>
            <a:ext cx="4114800" cy="310896"/>
          </a:xfrm>
          <a:prstGeom prst="rect">
            <a:avLst/>
          </a:prstGeom>
          <a:noFill/>
          <a:ln/>
        </p:spPr>
        <p:txBody>
          <a:bodyPr wrap="square" lIns="0" tIns="0" rIns="0" bIns="0" rtlCol="0" anchor="ctr"/>
          <a:lstStyle/>
          <a:p>
            <a:pPr marL="0" indent="0">
              <a:buNone/>
            </a:pPr>
            <a:r>
              <a:rPr lang="en-US" sz="1500" dirty="0">
                <a:solidFill>
                  <a:srgbClr val="55656F"/>
                </a:solidFill>
                <a:latin typeface="Calibri" pitchFamily="34" charset="0"/>
                <a:ea typeface="Calibri" pitchFamily="34" charset="-122"/>
                <a:cs typeface="Calibri" pitchFamily="34" charset="-120"/>
              </a:rPr>
              <a:t>in six months</a:t>
            </a:r>
            <a:endParaRPr lang="en-US" sz="1500" dirty="0"/>
          </a:p>
        </p:txBody>
      </p:sp>
      <p:sp>
        <p:nvSpPr>
          <p:cNvPr id="39" name="Shape 37"/>
          <p:cNvSpPr/>
          <p:nvPr/>
        </p:nvSpPr>
        <p:spPr>
          <a:xfrm>
            <a:off x="6949440" y="4187952"/>
            <a:ext cx="4617720" cy="0"/>
          </a:xfrm>
          <a:prstGeom prst="line">
            <a:avLst/>
          </a:prstGeom>
          <a:noFill/>
          <a:ln w="9525">
            <a:solidFill>
              <a:srgbClr val="D0DAE0"/>
            </a:solidFill>
            <a:prstDash val="solid"/>
          </a:ln>
        </p:spPr>
        <p:txBody>
          <a:bodyPr/>
          <a:lstStyle/>
          <a:p>
            <a:endParaRPr lang="en-US"/>
          </a:p>
        </p:txBody>
      </p:sp>
      <p:sp>
        <p:nvSpPr>
          <p:cNvPr id="40" name="Text 38"/>
          <p:cNvSpPr/>
          <p:nvPr/>
        </p:nvSpPr>
        <p:spPr>
          <a:xfrm>
            <a:off x="6949440" y="4261104"/>
            <a:ext cx="411480" cy="292608"/>
          </a:xfrm>
          <a:prstGeom prst="rect">
            <a:avLst/>
          </a:prstGeom>
          <a:noFill/>
          <a:ln/>
        </p:spPr>
        <p:txBody>
          <a:bodyPr wrap="square" lIns="0" tIns="0" rIns="0" bIns="0" rtlCol="0" anchor="ctr"/>
          <a:lstStyle/>
          <a:p>
            <a:pPr marL="0" indent="0">
              <a:buNone/>
            </a:pPr>
            <a:r>
              <a:rPr lang="en-US" sz="1150" b="1" dirty="0">
                <a:solidFill>
                  <a:srgbClr val="C07A10"/>
                </a:solidFill>
                <a:latin typeface="Courier New" pitchFamily="34" charset="0"/>
                <a:ea typeface="Courier New" pitchFamily="34" charset="-122"/>
                <a:cs typeface="Courier New" pitchFamily="34" charset="-120"/>
              </a:rPr>
              <a:t>04</a:t>
            </a:r>
            <a:endParaRPr lang="en-US" sz="1150" dirty="0"/>
          </a:p>
        </p:txBody>
      </p:sp>
      <p:sp>
        <p:nvSpPr>
          <p:cNvPr id="41" name="Text 39"/>
          <p:cNvSpPr/>
          <p:nvPr/>
        </p:nvSpPr>
        <p:spPr>
          <a:xfrm>
            <a:off x="7406640" y="4233672"/>
            <a:ext cx="4114800" cy="310896"/>
          </a:xfrm>
          <a:prstGeom prst="rect">
            <a:avLst/>
          </a:prstGeom>
          <a:noFill/>
          <a:ln/>
        </p:spPr>
        <p:txBody>
          <a:bodyPr wrap="square" lIns="0" tIns="0" rIns="0" bIns="0" rtlCol="0" anchor="ctr"/>
          <a:lstStyle/>
          <a:p>
            <a:pPr marL="0" indent="0">
              <a:buNone/>
            </a:pPr>
            <a:r>
              <a:rPr lang="en-US" sz="1500" dirty="0">
                <a:solidFill>
                  <a:srgbClr val="55656F"/>
                </a:solidFill>
                <a:latin typeface="Calibri" pitchFamily="34" charset="0"/>
                <a:ea typeface="Calibri" pitchFamily="34" charset="-122"/>
                <a:cs typeface="Calibri" pitchFamily="34" charset="-120"/>
              </a:rPr>
              <a:t>without you sitting next to them?</a:t>
            </a:r>
            <a:endParaRPr lang="en-US" sz="1500" dirty="0"/>
          </a:p>
        </p:txBody>
      </p:sp>
      <p:sp>
        <p:nvSpPr>
          <p:cNvPr id="42" name="Shape 40"/>
          <p:cNvSpPr/>
          <p:nvPr/>
        </p:nvSpPr>
        <p:spPr>
          <a:xfrm>
            <a:off x="6949440" y="4663440"/>
            <a:ext cx="4617720" cy="0"/>
          </a:xfrm>
          <a:prstGeom prst="line">
            <a:avLst/>
          </a:prstGeom>
          <a:noFill/>
          <a:ln w="9525">
            <a:solidFill>
              <a:srgbClr val="D0DAE0"/>
            </a:solidFill>
            <a:prstDash val="solid"/>
          </a:ln>
        </p:spPr>
        <p:txBody>
          <a:bodyPr/>
          <a:lstStyle/>
          <a:p>
            <a:endParaRPr lang="en-US"/>
          </a:p>
        </p:txBody>
      </p:sp>
      <p:sp>
        <p:nvSpPr>
          <p:cNvPr id="43" name="Text 41"/>
          <p:cNvSpPr/>
          <p:nvPr/>
        </p:nvSpPr>
        <p:spPr>
          <a:xfrm>
            <a:off x="6949440" y="4864608"/>
            <a:ext cx="4617720" cy="640080"/>
          </a:xfrm>
          <a:prstGeom prst="rect">
            <a:avLst/>
          </a:prstGeom>
          <a:noFill/>
          <a:ln/>
        </p:spPr>
        <p:txBody>
          <a:bodyPr wrap="square" lIns="0" tIns="0" rIns="0" bIns="0" rtlCol="0" anchor="t"/>
          <a:lstStyle/>
          <a:p>
            <a:pPr marL="0" indent="0">
              <a:lnSpc>
                <a:spcPct val="120000"/>
              </a:lnSpc>
              <a:buNone/>
            </a:pPr>
            <a:r>
              <a:rPr lang="en-US" sz="1350" b="1" dirty="0">
                <a:solidFill>
                  <a:srgbClr val="121C22"/>
                </a:solidFill>
                <a:latin typeface="Calibri" pitchFamily="34" charset="0"/>
                <a:ea typeface="Calibri" pitchFamily="34" charset="-122"/>
                <a:cs typeface="Calibri" pitchFamily="34" charset="-120"/>
              </a:rPr>
              <a:t>These questions are a major part of being a modern scientist or software engineer</a:t>
            </a:r>
            <a:r>
              <a:rPr lang="en-US" sz="1350" dirty="0">
                <a:solidFill>
                  <a:srgbClr val="55656F"/>
                </a:solidFill>
                <a:latin typeface="Calibri" pitchFamily="34" charset="0"/>
                <a:ea typeface="Calibri" pitchFamily="34" charset="-122"/>
                <a:cs typeface="Calibri" pitchFamily="34" charset="-120"/>
              </a:rPr>
              <a:t>  </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731520"/>
            <a:ext cx="11002975" cy="676656"/>
          </a:xfrm>
          <a:prstGeom prst="rect">
            <a:avLst/>
          </a:prstGeom>
          <a:noFill/>
          <a:ln/>
        </p:spPr>
        <p:txBody>
          <a:bodyPr wrap="square" lIns="0" tIns="0" rIns="0" bIns="0" rtlCol="0" anchor="t"/>
          <a:lstStyle/>
          <a:p>
            <a:pPr marL="0" indent="0">
              <a:buNone/>
            </a:pPr>
            <a:r>
              <a:rPr lang="en-US" sz="3300" b="1" dirty="0">
                <a:solidFill>
                  <a:srgbClr val="121C22"/>
                </a:solidFill>
                <a:latin typeface="Calibri" pitchFamily="34" charset="0"/>
                <a:ea typeface="Calibri" pitchFamily="34" charset="-122"/>
                <a:cs typeface="Calibri" pitchFamily="34" charset="-120"/>
              </a:rPr>
              <a:t>Colab chose layers 1–3 for you</a:t>
            </a:r>
            <a:endParaRPr lang="en-US" sz="3300" dirty="0"/>
          </a:p>
        </p:txBody>
      </p:sp>
      <p:sp>
        <p:nvSpPr>
          <p:cNvPr id="4" name="Text 2"/>
          <p:cNvSpPr/>
          <p:nvPr/>
        </p:nvSpPr>
        <p:spPr>
          <a:xfrm>
            <a:off x="1017551" y="1691640"/>
            <a:ext cx="1771122"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LAYER</a:t>
            </a:r>
            <a:endParaRPr lang="en-US" sz="950" dirty="0"/>
          </a:p>
        </p:txBody>
      </p:sp>
      <p:sp>
        <p:nvSpPr>
          <p:cNvPr id="5" name="Text 3"/>
          <p:cNvSpPr/>
          <p:nvPr/>
        </p:nvSpPr>
        <p:spPr>
          <a:xfrm>
            <a:off x="2898402" y="1691640"/>
            <a:ext cx="2805590"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WHAT IT IS</a:t>
            </a:r>
            <a:endParaRPr lang="en-US" sz="950" dirty="0"/>
          </a:p>
        </p:txBody>
      </p:sp>
      <p:sp>
        <p:nvSpPr>
          <p:cNvPr id="6" name="Text 4"/>
          <p:cNvSpPr/>
          <p:nvPr/>
        </p:nvSpPr>
        <p:spPr>
          <a:xfrm>
            <a:off x="5813720" y="1691640"/>
            <a:ext cx="1112825"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CHOSEN BY</a:t>
            </a:r>
            <a:endParaRPr lang="en-US" sz="950" dirty="0"/>
          </a:p>
        </p:txBody>
      </p:sp>
      <p:sp>
        <p:nvSpPr>
          <p:cNvPr id="7" name="Text 5"/>
          <p:cNvSpPr/>
          <p:nvPr/>
        </p:nvSpPr>
        <p:spPr>
          <a:xfrm>
            <a:off x="7036273" y="1691640"/>
            <a:ext cx="4451334"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WHAT YOU SEE WHEN IT'S WRONG</a:t>
            </a:r>
            <a:endParaRPr lang="en-US" sz="950" dirty="0"/>
          </a:p>
        </p:txBody>
      </p:sp>
      <p:sp>
        <p:nvSpPr>
          <p:cNvPr id="8" name="Shape 6"/>
          <p:cNvSpPr/>
          <p:nvPr/>
        </p:nvSpPr>
        <p:spPr>
          <a:xfrm>
            <a:off x="594360" y="1965960"/>
            <a:ext cx="11002975" cy="0"/>
          </a:xfrm>
          <a:prstGeom prst="line">
            <a:avLst/>
          </a:prstGeom>
          <a:noFill/>
          <a:ln w="12700">
            <a:solidFill>
              <a:srgbClr val="9EAEB8"/>
            </a:solidFill>
            <a:prstDash val="solid"/>
          </a:ln>
        </p:spPr>
        <p:txBody>
          <a:bodyPr/>
          <a:lstStyle/>
          <a:p>
            <a:endParaRPr lang="en-US"/>
          </a:p>
        </p:txBody>
      </p:sp>
      <p:sp>
        <p:nvSpPr>
          <p:cNvPr id="9" name="Shape 7"/>
          <p:cNvSpPr/>
          <p:nvPr/>
        </p:nvSpPr>
        <p:spPr>
          <a:xfrm>
            <a:off x="594360" y="1965960"/>
            <a:ext cx="11002975" cy="868680"/>
          </a:xfrm>
          <a:prstGeom prst="rect">
            <a:avLst/>
          </a:prstGeom>
          <a:solidFill>
            <a:srgbClr val="F1F5F6"/>
          </a:solidFill>
          <a:ln/>
        </p:spPr>
        <p:txBody>
          <a:bodyPr/>
          <a:lstStyle/>
          <a:p>
            <a:endParaRPr lang="en-US"/>
          </a:p>
        </p:txBody>
      </p:sp>
      <p:sp>
        <p:nvSpPr>
          <p:cNvPr id="10" name="Text 8"/>
          <p:cNvSpPr/>
          <p:nvPr/>
        </p:nvSpPr>
        <p:spPr>
          <a:xfrm>
            <a:off x="594360" y="1965960"/>
            <a:ext cx="295175" cy="868680"/>
          </a:xfrm>
          <a:prstGeom prst="rect">
            <a:avLst/>
          </a:prstGeom>
          <a:noFill/>
          <a:ln/>
        </p:spPr>
        <p:txBody>
          <a:bodyPr wrap="square" lIns="0" tIns="0" rIns="0" bIns="0" rtlCol="0" anchor="ctr"/>
          <a:lstStyle/>
          <a:p>
            <a:pPr marL="0" indent="0" algn="l">
              <a:lnSpc>
                <a:spcPct val="115000"/>
              </a:lnSpc>
              <a:buNone/>
            </a:pPr>
            <a:r>
              <a:rPr lang="en-US" sz="2200" b="1" dirty="0">
                <a:solidFill>
                  <a:srgbClr val="55656F"/>
                </a:solidFill>
                <a:latin typeface="Courier New" pitchFamily="34" charset="0"/>
                <a:ea typeface="Courier New" pitchFamily="34" charset="-122"/>
                <a:cs typeface="Courier New" pitchFamily="34" charset="-120"/>
              </a:rPr>
              <a:t>4</a:t>
            </a:r>
            <a:endParaRPr lang="en-US" sz="2200" dirty="0"/>
          </a:p>
        </p:txBody>
      </p:sp>
      <p:sp>
        <p:nvSpPr>
          <p:cNvPr id="11" name="Text 9"/>
          <p:cNvSpPr/>
          <p:nvPr/>
        </p:nvSpPr>
        <p:spPr>
          <a:xfrm>
            <a:off x="1017551" y="1965960"/>
            <a:ext cx="1752834" cy="868680"/>
          </a:xfrm>
          <a:prstGeom prst="rect">
            <a:avLst/>
          </a:prstGeom>
          <a:noFill/>
          <a:ln/>
        </p:spPr>
        <p:txBody>
          <a:bodyPr wrap="square" lIns="0" tIns="0" rIns="0" bIns="0" rtlCol="0" anchor="ctr"/>
          <a:lstStyle/>
          <a:p>
            <a:pPr marL="0" indent="0" algn="l">
              <a:lnSpc>
                <a:spcPct val="115000"/>
              </a:lnSpc>
              <a:buNone/>
            </a:pPr>
            <a:r>
              <a:rPr lang="en-US" sz="1400" b="1" dirty="0">
                <a:solidFill>
                  <a:srgbClr val="121C22"/>
                </a:solidFill>
                <a:latin typeface="Calibri" pitchFamily="34" charset="0"/>
                <a:ea typeface="Calibri" pitchFamily="34" charset="-122"/>
                <a:cs typeface="Calibri" pitchFamily="34" charset="-120"/>
              </a:rPr>
              <a:t>YOUR CODE</a:t>
            </a:r>
            <a:endParaRPr lang="en-US" sz="1400" dirty="0"/>
          </a:p>
        </p:txBody>
      </p:sp>
      <p:sp>
        <p:nvSpPr>
          <p:cNvPr id="12" name="Text 10"/>
          <p:cNvSpPr/>
          <p:nvPr/>
        </p:nvSpPr>
        <p:spPr>
          <a:xfrm>
            <a:off x="2898402" y="1965960"/>
            <a:ext cx="2787302" cy="86868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the .py files you write</a:t>
            </a:r>
            <a:endParaRPr lang="en-US" sz="1250" dirty="0"/>
          </a:p>
        </p:txBody>
      </p:sp>
      <p:sp>
        <p:nvSpPr>
          <p:cNvPr id="13" name="Text 11"/>
          <p:cNvSpPr/>
          <p:nvPr/>
        </p:nvSpPr>
        <p:spPr>
          <a:xfrm>
            <a:off x="5813720" y="1965960"/>
            <a:ext cx="1094537" cy="868680"/>
          </a:xfrm>
          <a:prstGeom prst="rect">
            <a:avLst/>
          </a:prstGeom>
          <a:noFill/>
          <a:ln/>
        </p:spPr>
        <p:txBody>
          <a:bodyPr wrap="square" lIns="0" tIns="0" rIns="0" bIns="0" rtlCol="0" anchor="ctr"/>
          <a:lstStyle/>
          <a:p>
            <a:pPr marL="0" indent="0" algn="l">
              <a:lnSpc>
                <a:spcPct val="115000"/>
              </a:lnSpc>
              <a:buNone/>
            </a:pPr>
            <a:r>
              <a:rPr lang="en-US" sz="1200" b="1" dirty="0">
                <a:solidFill>
                  <a:srgbClr val="1F6B65"/>
                </a:solidFill>
                <a:latin typeface="Courier New" pitchFamily="34" charset="0"/>
                <a:ea typeface="Courier New" pitchFamily="34" charset="-122"/>
                <a:cs typeface="Courier New" pitchFamily="34" charset="-120"/>
              </a:rPr>
              <a:t>you</a:t>
            </a:r>
            <a:endParaRPr lang="en-US" sz="1200" dirty="0"/>
          </a:p>
        </p:txBody>
      </p:sp>
      <p:sp>
        <p:nvSpPr>
          <p:cNvPr id="14" name="Text 12"/>
          <p:cNvSpPr/>
          <p:nvPr/>
        </p:nvSpPr>
        <p:spPr>
          <a:xfrm>
            <a:off x="7036273" y="1965960"/>
            <a:ext cx="4433046" cy="86868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your own logic — a bug you can read and fix</a:t>
            </a:r>
            <a:endParaRPr lang="en-US" sz="1250" dirty="0"/>
          </a:p>
        </p:txBody>
      </p:sp>
      <p:sp>
        <p:nvSpPr>
          <p:cNvPr id="15" name="Shape 13"/>
          <p:cNvSpPr/>
          <p:nvPr/>
        </p:nvSpPr>
        <p:spPr>
          <a:xfrm>
            <a:off x="594360" y="2834640"/>
            <a:ext cx="11002975" cy="0"/>
          </a:xfrm>
          <a:prstGeom prst="line">
            <a:avLst/>
          </a:prstGeom>
          <a:noFill/>
          <a:ln w="9525">
            <a:solidFill>
              <a:srgbClr val="D0DAE0"/>
            </a:solidFill>
            <a:prstDash val="solid"/>
          </a:ln>
        </p:spPr>
        <p:txBody>
          <a:bodyPr/>
          <a:lstStyle/>
          <a:p>
            <a:endParaRPr lang="en-US"/>
          </a:p>
        </p:txBody>
      </p:sp>
      <p:sp>
        <p:nvSpPr>
          <p:cNvPr id="16" name="Text 14"/>
          <p:cNvSpPr/>
          <p:nvPr/>
        </p:nvSpPr>
        <p:spPr>
          <a:xfrm>
            <a:off x="594360" y="2834640"/>
            <a:ext cx="295175" cy="868680"/>
          </a:xfrm>
          <a:prstGeom prst="rect">
            <a:avLst/>
          </a:prstGeom>
          <a:noFill/>
          <a:ln/>
        </p:spPr>
        <p:txBody>
          <a:bodyPr wrap="square" lIns="0" tIns="0" rIns="0" bIns="0" rtlCol="0" anchor="ctr"/>
          <a:lstStyle/>
          <a:p>
            <a:pPr marL="0" indent="0" algn="l">
              <a:lnSpc>
                <a:spcPct val="115000"/>
              </a:lnSpc>
              <a:buNone/>
            </a:pPr>
            <a:r>
              <a:rPr lang="en-US" sz="2200" b="1" dirty="0">
                <a:solidFill>
                  <a:srgbClr val="C07A10"/>
                </a:solidFill>
                <a:latin typeface="Courier New" pitchFamily="34" charset="0"/>
                <a:ea typeface="Courier New" pitchFamily="34" charset="-122"/>
                <a:cs typeface="Courier New" pitchFamily="34" charset="-120"/>
              </a:rPr>
              <a:t>3</a:t>
            </a:r>
            <a:endParaRPr lang="en-US" sz="2200" dirty="0"/>
          </a:p>
        </p:txBody>
      </p:sp>
      <p:sp>
        <p:nvSpPr>
          <p:cNvPr id="17" name="Text 15"/>
          <p:cNvSpPr/>
          <p:nvPr/>
        </p:nvSpPr>
        <p:spPr>
          <a:xfrm>
            <a:off x="1017551" y="2834640"/>
            <a:ext cx="1752834" cy="868680"/>
          </a:xfrm>
          <a:prstGeom prst="rect">
            <a:avLst/>
          </a:prstGeom>
          <a:noFill/>
          <a:ln/>
        </p:spPr>
        <p:txBody>
          <a:bodyPr wrap="square" lIns="0" tIns="0" rIns="0" bIns="0" rtlCol="0" anchor="ctr"/>
          <a:lstStyle/>
          <a:p>
            <a:pPr marL="0" indent="0" algn="l">
              <a:lnSpc>
                <a:spcPct val="115000"/>
              </a:lnSpc>
              <a:buNone/>
            </a:pPr>
            <a:r>
              <a:rPr lang="en-US" sz="1400" b="1" dirty="0">
                <a:solidFill>
                  <a:srgbClr val="121C22"/>
                </a:solidFill>
                <a:latin typeface="Calibri" pitchFamily="34" charset="0"/>
                <a:ea typeface="Calibri" pitchFamily="34" charset="-122"/>
                <a:cs typeface="Calibri" pitchFamily="34" charset="-120"/>
              </a:rPr>
              <a:t>ENVIRONMENT</a:t>
            </a:r>
            <a:endParaRPr lang="en-US" sz="1400" dirty="0"/>
          </a:p>
        </p:txBody>
      </p:sp>
      <p:sp>
        <p:nvSpPr>
          <p:cNvPr id="18" name="Text 16"/>
          <p:cNvSpPr/>
          <p:nvPr/>
        </p:nvSpPr>
        <p:spPr>
          <a:xfrm>
            <a:off x="2898402" y="2834640"/>
            <a:ext cx="2787302" cy="86868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which packages, which versions</a:t>
            </a:r>
            <a:endParaRPr lang="en-US" sz="1250" dirty="0"/>
          </a:p>
        </p:txBody>
      </p:sp>
      <p:sp>
        <p:nvSpPr>
          <p:cNvPr id="19" name="Text 17"/>
          <p:cNvSpPr/>
          <p:nvPr/>
        </p:nvSpPr>
        <p:spPr>
          <a:xfrm>
            <a:off x="5813720" y="2834640"/>
            <a:ext cx="1094537" cy="868680"/>
          </a:xfrm>
          <a:prstGeom prst="rect">
            <a:avLst/>
          </a:prstGeom>
          <a:noFill/>
          <a:ln/>
        </p:spPr>
        <p:txBody>
          <a:bodyPr wrap="square" lIns="0" tIns="0" rIns="0" bIns="0" rtlCol="0" anchor="ctr"/>
          <a:lstStyle/>
          <a:p>
            <a:pPr marL="0" indent="0" algn="l">
              <a:lnSpc>
                <a:spcPct val="115000"/>
              </a:lnSpc>
              <a:buNone/>
            </a:pPr>
            <a:r>
              <a:rPr lang="en-US" sz="1200" b="1" dirty="0">
                <a:solidFill>
                  <a:srgbClr val="C07A10"/>
                </a:solidFill>
                <a:latin typeface="Courier New" pitchFamily="34" charset="0"/>
                <a:ea typeface="Courier New" pitchFamily="34" charset="-122"/>
                <a:cs typeface="Courier New" pitchFamily="34" charset="-120"/>
              </a:rPr>
              <a:t>Colab</a:t>
            </a:r>
            <a:endParaRPr lang="en-US" sz="1200" dirty="0"/>
          </a:p>
        </p:txBody>
      </p:sp>
      <p:sp>
        <p:nvSpPr>
          <p:cNvPr id="20" name="Text 18"/>
          <p:cNvSpPr/>
          <p:nvPr/>
        </p:nvSpPr>
        <p:spPr>
          <a:xfrm>
            <a:off x="7036273" y="2834640"/>
            <a:ext cx="4433046" cy="86868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ModuleNotFoundError; a function that vanished between versions</a:t>
            </a:r>
            <a:endParaRPr lang="en-US" sz="1250" dirty="0"/>
          </a:p>
        </p:txBody>
      </p:sp>
      <p:sp>
        <p:nvSpPr>
          <p:cNvPr id="21" name="Shape 19"/>
          <p:cNvSpPr/>
          <p:nvPr/>
        </p:nvSpPr>
        <p:spPr>
          <a:xfrm>
            <a:off x="594360" y="3703320"/>
            <a:ext cx="11002975" cy="0"/>
          </a:xfrm>
          <a:prstGeom prst="line">
            <a:avLst/>
          </a:prstGeom>
          <a:noFill/>
          <a:ln w="9525">
            <a:solidFill>
              <a:srgbClr val="D0DAE0"/>
            </a:solidFill>
            <a:prstDash val="solid"/>
          </a:ln>
        </p:spPr>
        <p:txBody>
          <a:bodyPr/>
          <a:lstStyle/>
          <a:p>
            <a:endParaRPr lang="en-US"/>
          </a:p>
        </p:txBody>
      </p:sp>
      <p:sp>
        <p:nvSpPr>
          <p:cNvPr id="22" name="Text 20"/>
          <p:cNvSpPr/>
          <p:nvPr/>
        </p:nvSpPr>
        <p:spPr>
          <a:xfrm>
            <a:off x="594360" y="3703320"/>
            <a:ext cx="295175" cy="868680"/>
          </a:xfrm>
          <a:prstGeom prst="rect">
            <a:avLst/>
          </a:prstGeom>
          <a:noFill/>
          <a:ln/>
        </p:spPr>
        <p:txBody>
          <a:bodyPr wrap="square" lIns="0" tIns="0" rIns="0" bIns="0" rtlCol="0" anchor="ctr"/>
          <a:lstStyle/>
          <a:p>
            <a:pPr marL="0" indent="0" algn="l">
              <a:lnSpc>
                <a:spcPct val="115000"/>
              </a:lnSpc>
              <a:buNone/>
            </a:pPr>
            <a:r>
              <a:rPr lang="en-US" sz="2200" b="1" dirty="0">
                <a:solidFill>
                  <a:srgbClr val="C07A10"/>
                </a:solidFill>
                <a:latin typeface="Courier New" pitchFamily="34" charset="0"/>
                <a:ea typeface="Courier New" pitchFamily="34" charset="-122"/>
                <a:cs typeface="Courier New" pitchFamily="34" charset="-120"/>
              </a:rPr>
              <a:t>2</a:t>
            </a:r>
            <a:endParaRPr lang="en-US" sz="2200" dirty="0"/>
          </a:p>
        </p:txBody>
      </p:sp>
      <p:sp>
        <p:nvSpPr>
          <p:cNvPr id="23" name="Text 21"/>
          <p:cNvSpPr/>
          <p:nvPr/>
        </p:nvSpPr>
        <p:spPr>
          <a:xfrm>
            <a:off x="1017551" y="3703320"/>
            <a:ext cx="1752834" cy="868680"/>
          </a:xfrm>
          <a:prstGeom prst="rect">
            <a:avLst/>
          </a:prstGeom>
          <a:noFill/>
          <a:ln/>
        </p:spPr>
        <p:txBody>
          <a:bodyPr wrap="square" lIns="0" tIns="0" rIns="0" bIns="0" rtlCol="0" anchor="ctr"/>
          <a:lstStyle/>
          <a:p>
            <a:pPr marL="0" indent="0" algn="l">
              <a:lnSpc>
                <a:spcPct val="115000"/>
              </a:lnSpc>
              <a:buNone/>
            </a:pPr>
            <a:r>
              <a:rPr lang="en-US" sz="1400" b="1" dirty="0">
                <a:solidFill>
                  <a:srgbClr val="121C22"/>
                </a:solidFill>
                <a:latin typeface="Calibri" pitchFamily="34" charset="0"/>
                <a:ea typeface="Calibri" pitchFamily="34" charset="-122"/>
                <a:cs typeface="Calibri" pitchFamily="34" charset="-120"/>
              </a:rPr>
              <a:t>INTERPRETER</a:t>
            </a:r>
            <a:endParaRPr lang="en-US" sz="1400" dirty="0"/>
          </a:p>
        </p:txBody>
      </p:sp>
      <p:sp>
        <p:nvSpPr>
          <p:cNvPr id="24" name="Text 22"/>
          <p:cNvSpPr/>
          <p:nvPr/>
        </p:nvSpPr>
        <p:spPr>
          <a:xfrm>
            <a:off x="2898402" y="3703320"/>
            <a:ext cx="2787302" cy="86868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which Python</a:t>
            </a:r>
            <a:endParaRPr lang="en-US" sz="1250" dirty="0"/>
          </a:p>
        </p:txBody>
      </p:sp>
      <p:sp>
        <p:nvSpPr>
          <p:cNvPr id="25" name="Text 23"/>
          <p:cNvSpPr/>
          <p:nvPr/>
        </p:nvSpPr>
        <p:spPr>
          <a:xfrm>
            <a:off x="5813720" y="3703320"/>
            <a:ext cx="1094537" cy="868680"/>
          </a:xfrm>
          <a:prstGeom prst="rect">
            <a:avLst/>
          </a:prstGeom>
          <a:noFill/>
          <a:ln/>
        </p:spPr>
        <p:txBody>
          <a:bodyPr wrap="square" lIns="0" tIns="0" rIns="0" bIns="0" rtlCol="0" anchor="ctr"/>
          <a:lstStyle/>
          <a:p>
            <a:pPr marL="0" indent="0" algn="l">
              <a:lnSpc>
                <a:spcPct val="115000"/>
              </a:lnSpc>
              <a:buNone/>
            </a:pPr>
            <a:r>
              <a:rPr lang="en-US" sz="1200" b="1" dirty="0">
                <a:solidFill>
                  <a:srgbClr val="C07A10"/>
                </a:solidFill>
                <a:latin typeface="Courier New" pitchFamily="34" charset="0"/>
                <a:ea typeface="Courier New" pitchFamily="34" charset="-122"/>
                <a:cs typeface="Courier New" pitchFamily="34" charset="-120"/>
              </a:rPr>
              <a:t>Colab</a:t>
            </a:r>
            <a:endParaRPr lang="en-US" sz="1200" dirty="0"/>
          </a:p>
        </p:txBody>
      </p:sp>
      <p:sp>
        <p:nvSpPr>
          <p:cNvPr id="26" name="Text 24"/>
          <p:cNvSpPr/>
          <p:nvPr/>
        </p:nvSpPr>
        <p:spPr>
          <a:xfrm>
            <a:off x="7036273" y="3703320"/>
            <a:ext cx="4433046" cy="86868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SyntaxError on code that runs fine somewhere else</a:t>
            </a:r>
            <a:endParaRPr lang="en-US" sz="1250" dirty="0"/>
          </a:p>
        </p:txBody>
      </p:sp>
      <p:sp>
        <p:nvSpPr>
          <p:cNvPr id="27" name="Shape 25"/>
          <p:cNvSpPr/>
          <p:nvPr/>
        </p:nvSpPr>
        <p:spPr>
          <a:xfrm>
            <a:off x="594360" y="4572000"/>
            <a:ext cx="11002975" cy="0"/>
          </a:xfrm>
          <a:prstGeom prst="line">
            <a:avLst/>
          </a:prstGeom>
          <a:noFill/>
          <a:ln w="9525">
            <a:solidFill>
              <a:srgbClr val="D0DAE0"/>
            </a:solidFill>
            <a:prstDash val="solid"/>
          </a:ln>
        </p:spPr>
        <p:txBody>
          <a:bodyPr/>
          <a:lstStyle/>
          <a:p>
            <a:endParaRPr lang="en-US"/>
          </a:p>
        </p:txBody>
      </p:sp>
      <p:sp>
        <p:nvSpPr>
          <p:cNvPr id="28" name="Text 26"/>
          <p:cNvSpPr/>
          <p:nvPr/>
        </p:nvSpPr>
        <p:spPr>
          <a:xfrm>
            <a:off x="594360" y="4572000"/>
            <a:ext cx="295175" cy="868680"/>
          </a:xfrm>
          <a:prstGeom prst="rect">
            <a:avLst/>
          </a:prstGeom>
          <a:noFill/>
          <a:ln/>
        </p:spPr>
        <p:txBody>
          <a:bodyPr wrap="square" lIns="0" tIns="0" rIns="0" bIns="0" rtlCol="0" anchor="ctr"/>
          <a:lstStyle/>
          <a:p>
            <a:pPr marL="0" indent="0" algn="l">
              <a:lnSpc>
                <a:spcPct val="115000"/>
              </a:lnSpc>
              <a:buNone/>
            </a:pPr>
            <a:r>
              <a:rPr lang="en-US" sz="2200" b="1" dirty="0">
                <a:solidFill>
                  <a:srgbClr val="C07A10"/>
                </a:solidFill>
                <a:latin typeface="Courier New" pitchFamily="34" charset="0"/>
                <a:ea typeface="Courier New" pitchFamily="34" charset="-122"/>
                <a:cs typeface="Courier New" pitchFamily="34" charset="-120"/>
              </a:rPr>
              <a:t>1</a:t>
            </a:r>
            <a:endParaRPr lang="en-US" sz="2200" dirty="0"/>
          </a:p>
        </p:txBody>
      </p:sp>
      <p:sp>
        <p:nvSpPr>
          <p:cNvPr id="29" name="Text 27"/>
          <p:cNvSpPr/>
          <p:nvPr/>
        </p:nvSpPr>
        <p:spPr>
          <a:xfrm>
            <a:off x="1017551" y="4572000"/>
            <a:ext cx="1752834" cy="868680"/>
          </a:xfrm>
          <a:prstGeom prst="rect">
            <a:avLst/>
          </a:prstGeom>
          <a:noFill/>
          <a:ln/>
        </p:spPr>
        <p:txBody>
          <a:bodyPr wrap="square" lIns="0" tIns="0" rIns="0" bIns="0" rtlCol="0" anchor="ctr"/>
          <a:lstStyle/>
          <a:p>
            <a:pPr marL="0" indent="0" algn="l">
              <a:lnSpc>
                <a:spcPct val="115000"/>
              </a:lnSpc>
              <a:buNone/>
            </a:pPr>
            <a:r>
              <a:rPr lang="en-US" sz="1400" b="1" dirty="0">
                <a:solidFill>
                  <a:srgbClr val="121C22"/>
                </a:solidFill>
                <a:latin typeface="Calibri" pitchFamily="34" charset="0"/>
                <a:ea typeface="Calibri" pitchFamily="34" charset="-122"/>
                <a:cs typeface="Calibri" pitchFamily="34" charset="-120"/>
              </a:rPr>
              <a:t>MACHINE</a:t>
            </a:r>
            <a:endParaRPr lang="en-US" sz="1400" dirty="0"/>
          </a:p>
        </p:txBody>
      </p:sp>
      <p:sp>
        <p:nvSpPr>
          <p:cNvPr id="30" name="Text 28"/>
          <p:cNvSpPr/>
          <p:nvPr/>
        </p:nvSpPr>
        <p:spPr>
          <a:xfrm>
            <a:off x="2898402" y="4572000"/>
            <a:ext cx="2787302" cy="86868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your laptop, a server, a VM</a:t>
            </a:r>
            <a:endParaRPr lang="en-US" sz="1250" dirty="0"/>
          </a:p>
        </p:txBody>
      </p:sp>
      <p:sp>
        <p:nvSpPr>
          <p:cNvPr id="31" name="Text 29"/>
          <p:cNvSpPr/>
          <p:nvPr/>
        </p:nvSpPr>
        <p:spPr>
          <a:xfrm>
            <a:off x="5813720" y="4572000"/>
            <a:ext cx="1094537" cy="868680"/>
          </a:xfrm>
          <a:prstGeom prst="rect">
            <a:avLst/>
          </a:prstGeom>
          <a:noFill/>
          <a:ln/>
        </p:spPr>
        <p:txBody>
          <a:bodyPr wrap="square" lIns="0" tIns="0" rIns="0" bIns="0" rtlCol="0" anchor="ctr"/>
          <a:lstStyle/>
          <a:p>
            <a:pPr marL="0" indent="0" algn="l">
              <a:lnSpc>
                <a:spcPct val="115000"/>
              </a:lnSpc>
              <a:buNone/>
            </a:pPr>
            <a:r>
              <a:rPr lang="en-US" sz="1200" b="1" dirty="0">
                <a:solidFill>
                  <a:srgbClr val="C07A10"/>
                </a:solidFill>
                <a:latin typeface="Courier New" pitchFamily="34" charset="0"/>
                <a:ea typeface="Courier New" pitchFamily="34" charset="-122"/>
                <a:cs typeface="Courier New" pitchFamily="34" charset="-120"/>
              </a:rPr>
              <a:t>Colab</a:t>
            </a:r>
            <a:endParaRPr lang="en-US" sz="1200" dirty="0"/>
          </a:p>
        </p:txBody>
      </p:sp>
      <p:sp>
        <p:nvSpPr>
          <p:cNvPr id="32" name="Text 30"/>
          <p:cNvSpPr/>
          <p:nvPr/>
        </p:nvSpPr>
        <p:spPr>
          <a:xfrm>
            <a:off x="7036273" y="4572000"/>
            <a:ext cx="4433046" cy="86868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paths that don't exist; no GPU; out of memory</a:t>
            </a:r>
            <a:endParaRPr lang="en-US" sz="1250" dirty="0"/>
          </a:p>
        </p:txBody>
      </p:sp>
      <p:sp>
        <p:nvSpPr>
          <p:cNvPr id="33" name="Shape 31"/>
          <p:cNvSpPr/>
          <p:nvPr/>
        </p:nvSpPr>
        <p:spPr>
          <a:xfrm>
            <a:off x="594360" y="5440680"/>
            <a:ext cx="11002975" cy="0"/>
          </a:xfrm>
          <a:prstGeom prst="line">
            <a:avLst/>
          </a:prstGeom>
          <a:noFill/>
          <a:ln w="9525">
            <a:solidFill>
              <a:srgbClr val="D0DAE0"/>
            </a:solidFill>
            <a:prstDash val="solid"/>
          </a:ln>
        </p:spPr>
        <p:txBody>
          <a:bodyPr/>
          <a:lstStyle/>
          <a:p>
            <a:endParaRPr lang="en-US"/>
          </a:p>
        </p:txBody>
      </p:sp>
      <p:sp>
        <p:nvSpPr>
          <p:cNvPr id="34" name="Text 32"/>
          <p:cNvSpPr/>
          <p:nvPr/>
        </p:nvSpPr>
        <p:spPr>
          <a:xfrm>
            <a:off x="594360" y="5806440"/>
            <a:ext cx="11002975" cy="402336"/>
          </a:xfrm>
          <a:prstGeom prst="rect">
            <a:avLst/>
          </a:prstGeom>
          <a:noFill/>
          <a:ln/>
        </p:spPr>
        <p:txBody>
          <a:bodyPr wrap="square" lIns="0" tIns="0" rIns="0" bIns="0" rtlCol="0" anchor="t"/>
          <a:lstStyle/>
          <a:p>
            <a:pPr marL="0" indent="0">
              <a:lnSpc>
                <a:spcPct val="120000"/>
              </a:lnSpc>
              <a:buNone/>
            </a:pPr>
            <a:r>
              <a:rPr lang="en-US" sz="1350" b="1" dirty="0">
                <a:solidFill>
                  <a:srgbClr val="121C22"/>
                </a:solidFill>
                <a:latin typeface="Calibri" pitchFamily="34" charset="0"/>
                <a:ea typeface="Calibri" pitchFamily="34" charset="-122"/>
                <a:cs typeface="Calibri" pitchFamily="34" charset="-120"/>
              </a:rPr>
              <a:t>The “works on my machine” bug is a mismatch in layer 1, 2 or 3.</a:t>
            </a:r>
            <a:r>
              <a:rPr lang="en-US" sz="1350" dirty="0">
                <a:solidFill>
                  <a:srgbClr val="55656F"/>
                </a:solidFill>
                <a:latin typeface="Calibri" pitchFamily="34" charset="0"/>
                <a:ea typeface="Calibri" pitchFamily="34" charset="-122"/>
                <a:cs typeface="Calibri" pitchFamily="34" charset="-120"/>
              </a:rPr>
              <a:t>   Understanding which layer is most of the fix.</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121C22"/>
        </a:solidFill>
        <a:effectLst/>
      </p:bgPr>
    </p:bg>
    <p:spTree>
      <p:nvGrpSpPr>
        <p:cNvPr id="1" name=""/>
        <p:cNvGrpSpPr/>
        <p:nvPr/>
      </p:nvGrpSpPr>
      <p:grpSpPr>
        <a:xfrm>
          <a:off x="0" y="0"/>
          <a:ext cx="0" cy="0"/>
          <a:chOff x="0" y="0"/>
          <a:chExt cx="0" cy="0"/>
        </a:xfrm>
      </p:grpSpPr>
      <p:sp>
        <p:nvSpPr>
          <p:cNvPr id="4" name="Text 2"/>
          <p:cNvSpPr/>
          <p:nvPr/>
        </p:nvSpPr>
        <p:spPr>
          <a:xfrm>
            <a:off x="594360" y="2103120"/>
            <a:ext cx="6217920" cy="822960"/>
          </a:xfrm>
          <a:prstGeom prst="rect">
            <a:avLst/>
          </a:prstGeom>
          <a:noFill/>
          <a:ln/>
        </p:spPr>
        <p:txBody>
          <a:bodyPr wrap="square" lIns="0" tIns="0" rIns="0" bIns="0"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Sharing Python Code</a:t>
            </a:r>
            <a:endParaRPr lang="en-US" sz="3800" dirty="0"/>
          </a:p>
        </p:txBody>
      </p:sp>
      <p:sp>
        <p:nvSpPr>
          <p:cNvPr id="5" name="Text 3"/>
          <p:cNvSpPr/>
          <p:nvPr/>
        </p:nvSpPr>
        <p:spPr>
          <a:xfrm>
            <a:off x="594360" y="2926080"/>
            <a:ext cx="6217920" cy="292608"/>
          </a:xfrm>
          <a:prstGeom prst="rect">
            <a:avLst/>
          </a:prstGeom>
          <a:noFill/>
          <a:ln/>
        </p:spPr>
        <p:txBody>
          <a:bodyPr wrap="square" lIns="0" tIns="0" rIns="0" bIns="0" rtlCol="0" anchor="ctr"/>
          <a:lstStyle/>
          <a:p>
            <a:pPr marL="0" indent="0">
              <a:buNone/>
            </a:pPr>
            <a:r>
              <a:rPr lang="en-US" sz="1500" dirty="0">
                <a:solidFill>
                  <a:srgbClr val="E8A33D"/>
                </a:solidFill>
                <a:latin typeface="Courier New" pitchFamily="34" charset="0"/>
                <a:ea typeface="Courier New" pitchFamily="34" charset="-122"/>
                <a:cs typeface="Courier New" pitchFamily="34" charset="-120"/>
              </a:rPr>
              <a:t>virtual environments and lockfiles</a:t>
            </a:r>
            <a:endParaRPr lang="en-US" sz="1500" dirty="0"/>
          </a:p>
        </p:txBody>
      </p:sp>
      <p:sp>
        <p:nvSpPr>
          <p:cNvPr id="6" name="Shape 4"/>
          <p:cNvSpPr/>
          <p:nvPr/>
        </p:nvSpPr>
        <p:spPr>
          <a:xfrm>
            <a:off x="594360" y="3401568"/>
            <a:ext cx="6035040" cy="0"/>
          </a:xfrm>
          <a:prstGeom prst="line">
            <a:avLst/>
          </a:prstGeom>
          <a:noFill/>
          <a:ln w="9525">
            <a:solidFill>
              <a:srgbClr val="2C4150"/>
            </a:solidFill>
            <a:prstDash val="solid"/>
          </a:ln>
        </p:spPr>
        <p:txBody>
          <a:bodyPr/>
          <a:lstStyle/>
          <a:p>
            <a:endParaRPr lang="en-US"/>
          </a:p>
        </p:txBody>
      </p:sp>
      <p:sp>
        <p:nvSpPr>
          <p:cNvPr id="7" name="Text 5"/>
          <p:cNvSpPr/>
          <p:nvPr/>
        </p:nvSpPr>
        <p:spPr>
          <a:xfrm>
            <a:off x="594360" y="3547872"/>
            <a:ext cx="5943600" cy="640080"/>
          </a:xfrm>
          <a:prstGeom prst="rect">
            <a:avLst/>
          </a:prstGeom>
          <a:noFill/>
          <a:ln/>
        </p:spPr>
        <p:txBody>
          <a:bodyPr wrap="square" lIns="0" tIns="0" rIns="0" bIns="0" rtlCol="0" anchor="t"/>
          <a:lstStyle/>
          <a:p>
            <a:pPr marL="0" indent="0">
              <a:lnSpc>
                <a:spcPct val="130000"/>
              </a:lnSpc>
              <a:buNone/>
            </a:pPr>
            <a:r>
              <a:rPr lang="en-US" sz="1400" dirty="0">
                <a:solidFill>
                  <a:srgbClr val="D7E0E5"/>
                </a:solidFill>
                <a:latin typeface="Calibri" pitchFamily="34" charset="0"/>
                <a:ea typeface="Calibri" pitchFamily="34" charset="-122"/>
                <a:cs typeface="Calibri" pitchFamily="34" charset="-120"/>
              </a:rPr>
              <a:t>Give a project its own private Python, then write down what it needs — so somebody else can rebuild it exactly the same way</a:t>
            </a:r>
            <a:endParaRPr lang="en-US" sz="1400" dirty="0"/>
          </a:p>
        </p:txBody>
      </p:sp>
      <p:sp>
        <p:nvSpPr>
          <p:cNvPr id="8" name="Text 6"/>
          <p:cNvSpPr/>
          <p:nvPr/>
        </p:nvSpPr>
        <p:spPr>
          <a:xfrm>
            <a:off x="594360" y="4370832"/>
            <a:ext cx="3657600" cy="228600"/>
          </a:xfrm>
          <a:prstGeom prst="rect">
            <a:avLst/>
          </a:prstGeom>
          <a:noFill/>
          <a:ln/>
        </p:spPr>
        <p:txBody>
          <a:bodyPr wrap="square" lIns="0" tIns="0" rIns="0" bIns="0" rtlCol="0" anchor="ctr"/>
          <a:lstStyle/>
          <a:p>
            <a:pPr marL="0" indent="0">
              <a:buNone/>
            </a:pPr>
            <a:r>
              <a:rPr lang="en-US" sz="950" b="1" kern="0" spc="120" dirty="0">
                <a:solidFill>
                  <a:srgbClr val="8A9AA4"/>
                </a:solidFill>
                <a:latin typeface="Courier New" pitchFamily="34" charset="0"/>
                <a:ea typeface="Courier New" pitchFamily="34" charset="-122"/>
                <a:cs typeface="Courier New" pitchFamily="34" charset="-120"/>
              </a:rPr>
              <a:t>IN THIS SECTION</a:t>
            </a:r>
            <a:endParaRPr lang="en-US" sz="950" dirty="0"/>
          </a:p>
        </p:txBody>
      </p:sp>
      <p:sp>
        <p:nvSpPr>
          <p:cNvPr id="9" name="Shape 7"/>
          <p:cNvSpPr/>
          <p:nvPr/>
        </p:nvSpPr>
        <p:spPr>
          <a:xfrm>
            <a:off x="594360" y="4626864"/>
            <a:ext cx="6035040" cy="0"/>
          </a:xfrm>
          <a:prstGeom prst="line">
            <a:avLst/>
          </a:prstGeom>
          <a:noFill/>
          <a:ln w="9525">
            <a:solidFill>
              <a:srgbClr val="2C4150"/>
            </a:solidFill>
            <a:prstDash val="solid"/>
          </a:ln>
        </p:spPr>
        <p:txBody>
          <a:bodyPr/>
          <a:lstStyle/>
          <a:p>
            <a:endParaRPr lang="en-US"/>
          </a:p>
        </p:txBody>
      </p:sp>
      <p:sp>
        <p:nvSpPr>
          <p:cNvPr id="10" name="Text 8"/>
          <p:cNvSpPr/>
          <p:nvPr/>
        </p:nvSpPr>
        <p:spPr>
          <a:xfrm>
            <a:off x="594360" y="4718304"/>
            <a:ext cx="384048" cy="274320"/>
          </a:xfrm>
          <a:prstGeom prst="rect">
            <a:avLst/>
          </a:prstGeom>
          <a:noFill/>
          <a:ln/>
        </p:spPr>
        <p:txBody>
          <a:bodyPr wrap="square" lIns="0" tIns="0" rIns="0" bIns="0" rtlCol="0" anchor="ctr"/>
          <a:lstStyle/>
          <a:p>
            <a:pPr marL="0" indent="0">
              <a:buNone/>
            </a:pPr>
            <a:r>
              <a:rPr lang="en-US" sz="1050" b="1" dirty="0">
                <a:solidFill>
                  <a:srgbClr val="E8A33D"/>
                </a:solidFill>
                <a:latin typeface="Courier New" pitchFamily="34" charset="0"/>
                <a:ea typeface="Courier New" pitchFamily="34" charset="-122"/>
                <a:cs typeface="Courier New" pitchFamily="34" charset="-120"/>
              </a:rPr>
              <a:t>01</a:t>
            </a:r>
            <a:endParaRPr lang="en-US" sz="1050" dirty="0"/>
          </a:p>
        </p:txBody>
      </p:sp>
      <p:sp>
        <p:nvSpPr>
          <p:cNvPr id="11" name="Text 9"/>
          <p:cNvSpPr/>
          <p:nvPr/>
        </p:nvSpPr>
        <p:spPr>
          <a:xfrm>
            <a:off x="1033272" y="4700016"/>
            <a:ext cx="5486400" cy="292608"/>
          </a:xfrm>
          <a:prstGeom prst="rect">
            <a:avLst/>
          </a:prstGeom>
          <a:noFill/>
          <a:ln/>
        </p:spPr>
        <p:txBody>
          <a:bodyPr wrap="square" lIns="0" tIns="0" rIns="0" bIns="0" rtlCol="0" anchor="ctr"/>
          <a:lstStyle/>
          <a:p>
            <a:pPr marL="0" indent="0">
              <a:buNone/>
            </a:pPr>
            <a:r>
              <a:rPr lang="en-US" sz="1300" dirty="0">
                <a:solidFill>
                  <a:srgbClr val="D7E0E5"/>
                </a:solidFill>
                <a:latin typeface="Calibri" pitchFamily="34" charset="0"/>
                <a:ea typeface="Calibri" pitchFamily="34" charset="-122"/>
                <a:cs typeface="Calibri" pitchFamily="34" charset="-120"/>
              </a:rPr>
              <a:t>Why environments exist at all</a:t>
            </a:r>
            <a:endParaRPr lang="en-US" sz="1300" dirty="0"/>
          </a:p>
        </p:txBody>
      </p:sp>
      <p:sp>
        <p:nvSpPr>
          <p:cNvPr id="12" name="Text 10"/>
          <p:cNvSpPr/>
          <p:nvPr/>
        </p:nvSpPr>
        <p:spPr>
          <a:xfrm>
            <a:off x="594360" y="5047488"/>
            <a:ext cx="384048" cy="274320"/>
          </a:xfrm>
          <a:prstGeom prst="rect">
            <a:avLst/>
          </a:prstGeom>
          <a:noFill/>
          <a:ln/>
        </p:spPr>
        <p:txBody>
          <a:bodyPr wrap="square" lIns="0" tIns="0" rIns="0" bIns="0" rtlCol="0" anchor="ctr"/>
          <a:lstStyle/>
          <a:p>
            <a:pPr marL="0" indent="0">
              <a:buNone/>
            </a:pPr>
            <a:r>
              <a:rPr lang="en-US" sz="1050" b="1" dirty="0">
                <a:solidFill>
                  <a:srgbClr val="E8A33D"/>
                </a:solidFill>
                <a:latin typeface="Courier New" pitchFamily="34" charset="0"/>
                <a:ea typeface="Courier New" pitchFamily="34" charset="-122"/>
                <a:cs typeface="Courier New" pitchFamily="34" charset="-120"/>
              </a:rPr>
              <a:t>02</a:t>
            </a:r>
            <a:endParaRPr lang="en-US" sz="1050" dirty="0"/>
          </a:p>
        </p:txBody>
      </p:sp>
      <p:sp>
        <p:nvSpPr>
          <p:cNvPr id="13" name="Text 11"/>
          <p:cNvSpPr/>
          <p:nvPr/>
        </p:nvSpPr>
        <p:spPr>
          <a:xfrm>
            <a:off x="1033272" y="5029200"/>
            <a:ext cx="5486400" cy="292608"/>
          </a:xfrm>
          <a:prstGeom prst="rect">
            <a:avLst/>
          </a:prstGeom>
          <a:noFill/>
          <a:ln/>
        </p:spPr>
        <p:txBody>
          <a:bodyPr wrap="square" lIns="0" tIns="0" rIns="0" bIns="0" rtlCol="0" anchor="ctr"/>
          <a:lstStyle/>
          <a:p>
            <a:pPr marL="0" indent="0">
              <a:buNone/>
            </a:pPr>
            <a:r>
              <a:rPr lang="en-US" sz="1300" dirty="0">
                <a:solidFill>
                  <a:srgbClr val="D7E0E5"/>
                </a:solidFill>
                <a:latin typeface="Calibri" pitchFamily="34" charset="0"/>
                <a:ea typeface="Calibri" pitchFamily="34" charset="-122"/>
                <a:cs typeface="Calibri" pitchFamily="34" charset="-120"/>
              </a:rPr>
              <a:t>A virtual environment is just a folder</a:t>
            </a:r>
            <a:endParaRPr lang="en-US" sz="1300" dirty="0"/>
          </a:p>
        </p:txBody>
      </p:sp>
      <p:sp>
        <p:nvSpPr>
          <p:cNvPr id="14" name="Text 12"/>
          <p:cNvSpPr/>
          <p:nvPr/>
        </p:nvSpPr>
        <p:spPr>
          <a:xfrm>
            <a:off x="594360" y="5376672"/>
            <a:ext cx="384048" cy="274320"/>
          </a:xfrm>
          <a:prstGeom prst="rect">
            <a:avLst/>
          </a:prstGeom>
          <a:noFill/>
          <a:ln/>
        </p:spPr>
        <p:txBody>
          <a:bodyPr wrap="square" lIns="0" tIns="0" rIns="0" bIns="0" rtlCol="0" anchor="ctr"/>
          <a:lstStyle/>
          <a:p>
            <a:pPr marL="0" indent="0">
              <a:buNone/>
            </a:pPr>
            <a:r>
              <a:rPr lang="en-US" sz="1050" b="1" dirty="0">
                <a:solidFill>
                  <a:srgbClr val="E8A33D"/>
                </a:solidFill>
                <a:latin typeface="Courier New" pitchFamily="34" charset="0"/>
                <a:ea typeface="Courier New" pitchFamily="34" charset="-122"/>
                <a:cs typeface="Courier New" pitchFamily="34" charset="-120"/>
              </a:rPr>
              <a:t>03</a:t>
            </a:r>
            <a:endParaRPr lang="en-US" sz="1050" dirty="0"/>
          </a:p>
        </p:txBody>
      </p:sp>
      <p:sp>
        <p:nvSpPr>
          <p:cNvPr id="15" name="Text 13"/>
          <p:cNvSpPr/>
          <p:nvPr/>
        </p:nvSpPr>
        <p:spPr>
          <a:xfrm>
            <a:off x="1033272" y="5358384"/>
            <a:ext cx="5486400" cy="292608"/>
          </a:xfrm>
          <a:prstGeom prst="rect">
            <a:avLst/>
          </a:prstGeom>
          <a:noFill/>
          <a:ln/>
        </p:spPr>
        <p:txBody>
          <a:bodyPr wrap="square" lIns="0" tIns="0" rIns="0" bIns="0" rtlCol="0" anchor="ctr"/>
          <a:lstStyle/>
          <a:p>
            <a:pPr marL="0" indent="0">
              <a:buNone/>
            </a:pPr>
            <a:r>
              <a:rPr lang="en-US" sz="1300" dirty="0">
                <a:solidFill>
                  <a:srgbClr val="D7E0E5"/>
                </a:solidFill>
                <a:latin typeface="Calibri" pitchFamily="34" charset="0"/>
                <a:ea typeface="Calibri" pitchFamily="34" charset="-122"/>
                <a:cs typeface="Calibri" pitchFamily="34" charset="-120"/>
              </a:rPr>
              <a:t>The recipe and the receipt</a:t>
            </a:r>
            <a:endParaRPr lang="en-US" sz="1300" dirty="0"/>
          </a:p>
        </p:txBody>
      </p:sp>
      <p:sp>
        <p:nvSpPr>
          <p:cNvPr id="16" name="Text 14"/>
          <p:cNvSpPr/>
          <p:nvPr/>
        </p:nvSpPr>
        <p:spPr>
          <a:xfrm>
            <a:off x="594360" y="5705856"/>
            <a:ext cx="384048" cy="274320"/>
          </a:xfrm>
          <a:prstGeom prst="rect">
            <a:avLst/>
          </a:prstGeom>
          <a:noFill/>
          <a:ln/>
        </p:spPr>
        <p:txBody>
          <a:bodyPr wrap="square" lIns="0" tIns="0" rIns="0" bIns="0" rtlCol="0" anchor="ctr"/>
          <a:lstStyle/>
          <a:p>
            <a:pPr marL="0" indent="0">
              <a:buNone/>
            </a:pPr>
            <a:r>
              <a:rPr lang="en-US" sz="1050" b="1" dirty="0">
                <a:solidFill>
                  <a:srgbClr val="E8A33D"/>
                </a:solidFill>
                <a:latin typeface="Courier New" pitchFamily="34" charset="0"/>
                <a:ea typeface="Courier New" pitchFamily="34" charset="-122"/>
                <a:cs typeface="Courier New" pitchFamily="34" charset="-120"/>
              </a:rPr>
              <a:t>04</a:t>
            </a:r>
            <a:endParaRPr lang="en-US" sz="1050" dirty="0"/>
          </a:p>
        </p:txBody>
      </p:sp>
      <p:sp>
        <p:nvSpPr>
          <p:cNvPr id="17" name="Text 15"/>
          <p:cNvSpPr/>
          <p:nvPr/>
        </p:nvSpPr>
        <p:spPr>
          <a:xfrm>
            <a:off x="1033272" y="5687568"/>
            <a:ext cx="5486400" cy="292608"/>
          </a:xfrm>
          <a:prstGeom prst="rect">
            <a:avLst/>
          </a:prstGeom>
          <a:noFill/>
          <a:ln/>
        </p:spPr>
        <p:txBody>
          <a:bodyPr wrap="square" lIns="0" tIns="0" rIns="0" bIns="0" rtlCol="0" anchor="ctr"/>
          <a:lstStyle/>
          <a:p>
            <a:pPr marL="0" indent="0">
              <a:buNone/>
            </a:pPr>
            <a:r>
              <a:rPr lang="en-US" sz="1300" dirty="0">
                <a:solidFill>
                  <a:srgbClr val="D7E0E5"/>
                </a:solidFill>
                <a:latin typeface="Calibri" pitchFamily="34" charset="0"/>
                <a:ea typeface="Calibri" pitchFamily="34" charset="-122"/>
                <a:cs typeface="Calibri" pitchFamily="34" charset="-120"/>
              </a:rPr>
              <a:t>Hands-on: build one inside Colab</a:t>
            </a:r>
            <a:endParaRPr lang="en-US" sz="1300" dirty="0"/>
          </a:p>
        </p:txBody>
      </p:sp>
      <p:sp>
        <p:nvSpPr>
          <p:cNvPr id="18" name="Text 16"/>
          <p:cNvSpPr/>
          <p:nvPr/>
        </p:nvSpPr>
        <p:spPr>
          <a:xfrm>
            <a:off x="594360" y="6035040"/>
            <a:ext cx="384048" cy="274320"/>
          </a:xfrm>
          <a:prstGeom prst="rect">
            <a:avLst/>
          </a:prstGeom>
          <a:noFill/>
          <a:ln/>
        </p:spPr>
        <p:txBody>
          <a:bodyPr wrap="square" lIns="0" tIns="0" rIns="0" bIns="0" rtlCol="0" anchor="ctr"/>
          <a:lstStyle/>
          <a:p>
            <a:pPr marL="0" indent="0">
              <a:buNone/>
            </a:pPr>
            <a:r>
              <a:rPr lang="en-US" sz="1050" b="1" dirty="0">
                <a:solidFill>
                  <a:srgbClr val="E8A33D"/>
                </a:solidFill>
                <a:latin typeface="Courier New" pitchFamily="34" charset="0"/>
                <a:ea typeface="Courier New" pitchFamily="34" charset="-122"/>
                <a:cs typeface="Courier New" pitchFamily="34" charset="-120"/>
              </a:rPr>
              <a:t>05</a:t>
            </a:r>
            <a:endParaRPr lang="en-US" sz="1050" dirty="0"/>
          </a:p>
        </p:txBody>
      </p:sp>
      <p:sp>
        <p:nvSpPr>
          <p:cNvPr id="19" name="Text 17"/>
          <p:cNvSpPr/>
          <p:nvPr/>
        </p:nvSpPr>
        <p:spPr>
          <a:xfrm>
            <a:off x="1033272" y="6016752"/>
            <a:ext cx="5486400" cy="292608"/>
          </a:xfrm>
          <a:prstGeom prst="rect">
            <a:avLst/>
          </a:prstGeom>
          <a:noFill/>
          <a:ln/>
        </p:spPr>
        <p:txBody>
          <a:bodyPr wrap="square" lIns="0" tIns="0" rIns="0" bIns="0" rtlCol="0" anchor="ctr"/>
          <a:lstStyle/>
          <a:p>
            <a:pPr marL="0" indent="0">
              <a:buNone/>
            </a:pPr>
            <a:r>
              <a:rPr lang="en-US" sz="1300" dirty="0">
                <a:solidFill>
                  <a:srgbClr val="D7E0E5"/>
                </a:solidFill>
                <a:latin typeface="Calibri" pitchFamily="34" charset="0"/>
                <a:ea typeface="Calibri" pitchFamily="34" charset="-122"/>
                <a:cs typeface="Calibri" pitchFamily="34" charset="-120"/>
              </a:rPr>
              <a:t>Five tools, and why uv caught on</a:t>
            </a:r>
            <a:endParaRPr lang="en-US" sz="1300" dirty="0"/>
          </a:p>
        </p:txBody>
      </p:sp>
      <p:sp>
        <p:nvSpPr>
          <p:cNvPr id="20" name="Text 18"/>
          <p:cNvSpPr/>
          <p:nvPr/>
        </p:nvSpPr>
        <p:spPr>
          <a:xfrm>
            <a:off x="7452360" y="1371600"/>
            <a:ext cx="4114800" cy="228600"/>
          </a:xfrm>
          <a:prstGeom prst="rect">
            <a:avLst/>
          </a:prstGeom>
          <a:noFill/>
          <a:ln/>
        </p:spPr>
        <p:txBody>
          <a:bodyPr wrap="square" lIns="0" tIns="0" rIns="0" bIns="0" rtlCol="0" anchor="ctr"/>
          <a:lstStyle/>
          <a:p>
            <a:pPr marL="0" indent="0">
              <a:buNone/>
            </a:pPr>
            <a:r>
              <a:rPr lang="en-US" sz="950" b="1" kern="0" spc="120" dirty="0">
                <a:solidFill>
                  <a:srgbClr val="8A9AA4"/>
                </a:solidFill>
                <a:latin typeface="Courier New" pitchFamily="34" charset="0"/>
                <a:ea typeface="Courier New" pitchFamily="34" charset="-122"/>
                <a:cs typeface="Courier New" pitchFamily="34" charset="-120"/>
              </a:rPr>
              <a:t>WHERE WE ARE</a:t>
            </a:r>
            <a:endParaRPr lang="en-US" sz="950" dirty="0"/>
          </a:p>
        </p:txBody>
      </p:sp>
      <p:sp>
        <p:nvSpPr>
          <p:cNvPr id="21" name="Shape 19"/>
          <p:cNvSpPr/>
          <p:nvPr/>
        </p:nvSpPr>
        <p:spPr>
          <a:xfrm>
            <a:off x="7452360" y="1645920"/>
            <a:ext cx="4114800" cy="0"/>
          </a:xfrm>
          <a:prstGeom prst="line">
            <a:avLst/>
          </a:prstGeom>
          <a:noFill/>
          <a:ln w="12700">
            <a:solidFill>
              <a:srgbClr val="4A5F6C"/>
            </a:solidFill>
            <a:prstDash val="solid"/>
          </a:ln>
        </p:spPr>
        <p:txBody>
          <a:bodyPr/>
          <a:lstStyle/>
          <a:p>
            <a:endParaRPr lang="en-US"/>
          </a:p>
        </p:txBody>
      </p:sp>
      <p:sp>
        <p:nvSpPr>
          <p:cNvPr id="23" name="Text 21"/>
          <p:cNvSpPr/>
          <p:nvPr/>
        </p:nvSpPr>
        <p:spPr>
          <a:xfrm>
            <a:off x="7452360" y="1817744"/>
            <a:ext cx="2606040" cy="365760"/>
          </a:xfrm>
          <a:prstGeom prst="rect">
            <a:avLst/>
          </a:prstGeom>
          <a:noFill/>
          <a:ln/>
        </p:spPr>
        <p:txBody>
          <a:bodyPr wrap="square" lIns="0" tIns="0" rIns="0" bIns="0" rtlCol="0" anchor="ctr"/>
          <a:lstStyle/>
          <a:p>
            <a:pPr marL="0" indent="0">
              <a:lnSpc>
                <a:spcPct val="105000"/>
              </a:lnSpc>
              <a:buNone/>
            </a:pPr>
            <a:r>
              <a:rPr lang="en-US" sz="1350" dirty="0">
                <a:solidFill>
                  <a:srgbClr val="6E7F8A"/>
                </a:solidFill>
                <a:latin typeface="Calibri" pitchFamily="34" charset="0"/>
                <a:ea typeface="Calibri" pitchFamily="34" charset="-122"/>
                <a:cs typeface="Calibri" pitchFamily="34" charset="-120"/>
              </a:rPr>
              <a:t>Behind the curtain of Colab</a:t>
            </a:r>
            <a:endParaRPr lang="en-US" sz="1350" dirty="0"/>
          </a:p>
        </p:txBody>
      </p:sp>
      <p:sp>
        <p:nvSpPr>
          <p:cNvPr id="25" name="Shape 23"/>
          <p:cNvSpPr/>
          <p:nvPr/>
        </p:nvSpPr>
        <p:spPr>
          <a:xfrm>
            <a:off x="7452360" y="2359152"/>
            <a:ext cx="4114800" cy="0"/>
          </a:xfrm>
          <a:prstGeom prst="line">
            <a:avLst/>
          </a:prstGeom>
          <a:noFill/>
          <a:ln w="9525">
            <a:solidFill>
              <a:srgbClr val="2C4150"/>
            </a:solidFill>
            <a:prstDash val="solid"/>
          </a:ln>
        </p:spPr>
        <p:txBody>
          <a:bodyPr/>
          <a:lstStyle/>
          <a:p>
            <a:endParaRPr lang="en-US"/>
          </a:p>
        </p:txBody>
      </p:sp>
      <p:sp>
        <p:nvSpPr>
          <p:cNvPr id="27" name="Text 25"/>
          <p:cNvSpPr/>
          <p:nvPr/>
        </p:nvSpPr>
        <p:spPr>
          <a:xfrm>
            <a:off x="7452360" y="2530976"/>
            <a:ext cx="2606040" cy="365760"/>
          </a:xfrm>
          <a:prstGeom prst="rect">
            <a:avLst/>
          </a:prstGeom>
          <a:noFill/>
          <a:ln/>
        </p:spPr>
        <p:txBody>
          <a:bodyPr wrap="square" lIns="0" tIns="0" rIns="0" bIns="0" rtlCol="0" anchor="ctr"/>
          <a:lstStyle/>
          <a:p>
            <a:pPr marL="0" indent="0">
              <a:lnSpc>
                <a:spcPct val="105000"/>
              </a:lnSpc>
              <a:buNone/>
            </a:pPr>
            <a:r>
              <a:rPr lang="en-US" sz="1350" b="1" dirty="0">
                <a:solidFill>
                  <a:srgbClr val="FFFFFF"/>
                </a:solidFill>
                <a:latin typeface="Calibri" pitchFamily="34" charset="0"/>
                <a:ea typeface="Calibri" pitchFamily="34" charset="-122"/>
                <a:cs typeface="Calibri" pitchFamily="34" charset="-120"/>
              </a:rPr>
              <a:t>Sharing Python code</a:t>
            </a:r>
            <a:endParaRPr lang="en-US" sz="1350" dirty="0"/>
          </a:p>
        </p:txBody>
      </p:sp>
      <p:sp>
        <p:nvSpPr>
          <p:cNvPr id="29" name="Shape 27"/>
          <p:cNvSpPr/>
          <p:nvPr/>
        </p:nvSpPr>
        <p:spPr>
          <a:xfrm>
            <a:off x="7452360" y="3072384"/>
            <a:ext cx="4114800" cy="0"/>
          </a:xfrm>
          <a:prstGeom prst="line">
            <a:avLst/>
          </a:prstGeom>
          <a:noFill/>
          <a:ln w="9525">
            <a:solidFill>
              <a:srgbClr val="2C4150"/>
            </a:solidFill>
            <a:prstDash val="solid"/>
          </a:ln>
        </p:spPr>
        <p:txBody>
          <a:bodyPr/>
          <a:lstStyle/>
          <a:p>
            <a:endParaRPr lang="en-US"/>
          </a:p>
        </p:txBody>
      </p:sp>
      <p:sp>
        <p:nvSpPr>
          <p:cNvPr id="31" name="Text 29"/>
          <p:cNvSpPr/>
          <p:nvPr/>
        </p:nvSpPr>
        <p:spPr>
          <a:xfrm>
            <a:off x="7452360" y="3244208"/>
            <a:ext cx="2606040" cy="365760"/>
          </a:xfrm>
          <a:prstGeom prst="rect">
            <a:avLst/>
          </a:prstGeom>
          <a:noFill/>
          <a:ln/>
        </p:spPr>
        <p:txBody>
          <a:bodyPr wrap="square" lIns="0" tIns="0" rIns="0" bIns="0" rtlCol="0" anchor="ctr"/>
          <a:lstStyle/>
          <a:p>
            <a:pPr marL="0" indent="0">
              <a:lnSpc>
                <a:spcPct val="105000"/>
              </a:lnSpc>
              <a:buNone/>
            </a:pPr>
            <a:r>
              <a:rPr lang="en-US" sz="1350" dirty="0">
                <a:solidFill>
                  <a:srgbClr val="6E7F8A"/>
                </a:solidFill>
                <a:latin typeface="Calibri" pitchFamily="34" charset="0"/>
                <a:ea typeface="Calibri" pitchFamily="34" charset="-122"/>
                <a:cs typeface="Calibri" pitchFamily="34" charset="-120"/>
              </a:rPr>
              <a:t>From notebook to program</a:t>
            </a:r>
            <a:endParaRPr lang="en-US" sz="1350" dirty="0"/>
          </a:p>
        </p:txBody>
      </p:sp>
      <p:sp>
        <p:nvSpPr>
          <p:cNvPr id="32" name="Shape 30"/>
          <p:cNvSpPr/>
          <p:nvPr/>
        </p:nvSpPr>
        <p:spPr>
          <a:xfrm>
            <a:off x="7452360" y="3785616"/>
            <a:ext cx="4114800" cy="0"/>
          </a:xfrm>
          <a:prstGeom prst="line">
            <a:avLst/>
          </a:prstGeom>
          <a:noFill/>
          <a:ln w="9525">
            <a:solidFill>
              <a:srgbClr val="2C4150"/>
            </a:solidFill>
            <a:prstDash val="solid"/>
          </a:ln>
        </p:spPr>
        <p:txBody>
          <a:bodyPr/>
          <a:lstStyle/>
          <a:p>
            <a:endParaRPr lang="en-US"/>
          </a:p>
        </p:txBody>
      </p:sp>
      <p:sp>
        <p:nvSpPr>
          <p:cNvPr id="35" name="Shape 33"/>
          <p:cNvSpPr/>
          <p:nvPr/>
        </p:nvSpPr>
        <p:spPr>
          <a:xfrm>
            <a:off x="7452360" y="4498848"/>
            <a:ext cx="4114800" cy="0"/>
          </a:xfrm>
          <a:prstGeom prst="line">
            <a:avLst/>
          </a:prstGeom>
          <a:noFill/>
          <a:ln w="9525">
            <a:solidFill>
              <a:srgbClr val="2C4150"/>
            </a:solidFill>
            <a:prstDash val="solid"/>
          </a:ln>
        </p:spPr>
        <p:txBody>
          <a:bodyPr/>
          <a:lstStyle/>
          <a:p>
            <a:endParaRPr lang="en-US"/>
          </a:p>
        </p:txBody>
      </p:sp>
      <p:sp>
        <p:nvSpPr>
          <p:cNvPr id="2" name="Text 20">
            <a:extLst>
              <a:ext uri="{FF2B5EF4-FFF2-40B4-BE49-F238E27FC236}">
                <a16:creationId xmlns:a16="http://schemas.microsoft.com/office/drawing/2014/main" id="{ED9F4D0E-0435-96E5-0414-FAEF38499322}"/>
              </a:ext>
            </a:extLst>
          </p:cNvPr>
          <p:cNvSpPr/>
          <p:nvPr/>
        </p:nvSpPr>
        <p:spPr>
          <a:xfrm>
            <a:off x="7452360" y="3959352"/>
            <a:ext cx="2606040" cy="365760"/>
          </a:xfrm>
          <a:prstGeom prst="rect">
            <a:avLst/>
          </a:prstGeom>
          <a:noFill/>
          <a:ln/>
        </p:spPr>
        <p:txBody>
          <a:bodyPr wrap="square" lIns="0" tIns="0" rIns="0" bIns="0" rtlCol="0" anchor="ctr"/>
          <a:lstStyle/>
          <a:p>
            <a:pPr marL="0" indent="0">
              <a:lnSpc>
                <a:spcPct val="105000"/>
              </a:lnSpc>
              <a:buNone/>
            </a:pPr>
            <a:r>
              <a:rPr lang="en-US" sz="1350" dirty="0">
                <a:solidFill>
                  <a:srgbClr val="6E7F8A"/>
                </a:solidFill>
                <a:latin typeface="Calibri" pitchFamily="34" charset="0"/>
                <a:ea typeface="Calibri" pitchFamily="34" charset="-122"/>
                <a:cs typeface="Calibri" pitchFamily="34" charset="-120"/>
              </a:rPr>
              <a:t>Software in the Real World</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896113"/>
            <a:ext cx="11002975" cy="676656"/>
          </a:xfrm>
          <a:prstGeom prst="rect">
            <a:avLst/>
          </a:prstGeom>
          <a:noFill/>
          <a:ln/>
        </p:spPr>
        <p:txBody>
          <a:bodyPr wrap="square" lIns="0" tIns="0" rIns="0" bIns="0" rtlCol="0" anchor="t"/>
          <a:lstStyle/>
          <a:p>
            <a:pPr marL="0" indent="0">
              <a:buNone/>
            </a:pPr>
            <a:r>
              <a:rPr lang="en-US" sz="3300" b="1" dirty="0">
                <a:solidFill>
                  <a:srgbClr val="121C22"/>
                </a:solidFill>
                <a:latin typeface="Calibri" pitchFamily="34" charset="0"/>
                <a:ea typeface="Calibri" pitchFamily="34" charset="-122"/>
                <a:cs typeface="Calibri" pitchFamily="34" charset="-120"/>
              </a:rPr>
              <a:t>One pip, two projects, one broken</a:t>
            </a:r>
            <a:endParaRPr lang="en-US" sz="3300" dirty="0"/>
          </a:p>
        </p:txBody>
      </p:sp>
      <p:sp>
        <p:nvSpPr>
          <p:cNvPr id="5" name="Text 3"/>
          <p:cNvSpPr/>
          <p:nvPr/>
        </p:nvSpPr>
        <p:spPr>
          <a:xfrm>
            <a:off x="958095" y="2194560"/>
            <a:ext cx="4164155"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WHAT YOU DO</a:t>
            </a:r>
            <a:endParaRPr lang="en-US" sz="950" dirty="0"/>
          </a:p>
        </p:txBody>
      </p:sp>
      <p:sp>
        <p:nvSpPr>
          <p:cNvPr id="6" name="Text 4"/>
          <p:cNvSpPr/>
          <p:nvPr/>
        </p:nvSpPr>
        <p:spPr>
          <a:xfrm>
            <a:off x="5231978" y="2194560"/>
            <a:ext cx="1527078"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pandas Version</a:t>
            </a:r>
            <a:endParaRPr lang="en-US" sz="950" dirty="0"/>
          </a:p>
        </p:txBody>
      </p:sp>
      <p:sp>
        <p:nvSpPr>
          <p:cNvPr id="7" name="Text 5"/>
          <p:cNvSpPr/>
          <p:nvPr/>
        </p:nvSpPr>
        <p:spPr>
          <a:xfrm>
            <a:off x="6868784" y="2194560"/>
            <a:ext cx="2254548"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PROJECT A — class assignment, needs 1.5</a:t>
            </a:r>
            <a:endParaRPr lang="en-US" sz="950" dirty="0"/>
          </a:p>
        </p:txBody>
      </p:sp>
      <p:sp>
        <p:nvSpPr>
          <p:cNvPr id="8" name="Text 6"/>
          <p:cNvSpPr/>
          <p:nvPr/>
        </p:nvSpPr>
        <p:spPr>
          <a:xfrm>
            <a:off x="9233060" y="2194560"/>
            <a:ext cx="2254548"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PROJECT B — side project, needs 2.2</a:t>
            </a:r>
            <a:endParaRPr lang="en-US" sz="950" dirty="0"/>
          </a:p>
        </p:txBody>
      </p:sp>
      <p:sp>
        <p:nvSpPr>
          <p:cNvPr id="9" name="Shape 7"/>
          <p:cNvSpPr/>
          <p:nvPr/>
        </p:nvSpPr>
        <p:spPr>
          <a:xfrm>
            <a:off x="594360" y="2468880"/>
            <a:ext cx="11002975" cy="0"/>
          </a:xfrm>
          <a:prstGeom prst="line">
            <a:avLst/>
          </a:prstGeom>
          <a:noFill/>
          <a:ln w="12700">
            <a:solidFill>
              <a:srgbClr val="9EAEB8"/>
            </a:solidFill>
            <a:prstDash val="solid"/>
          </a:ln>
        </p:spPr>
        <p:txBody>
          <a:bodyPr/>
          <a:lstStyle/>
          <a:p>
            <a:endParaRPr lang="en-US"/>
          </a:p>
        </p:txBody>
      </p:sp>
      <p:sp>
        <p:nvSpPr>
          <p:cNvPr id="10" name="Text 8"/>
          <p:cNvSpPr/>
          <p:nvPr/>
        </p:nvSpPr>
        <p:spPr>
          <a:xfrm>
            <a:off x="594360" y="2468880"/>
            <a:ext cx="235719" cy="960120"/>
          </a:xfrm>
          <a:prstGeom prst="rect">
            <a:avLst/>
          </a:prstGeom>
          <a:noFill/>
          <a:ln/>
        </p:spPr>
        <p:txBody>
          <a:bodyPr wrap="square" lIns="0" tIns="0" rIns="0" bIns="0" rtlCol="0" anchor="ctr"/>
          <a:lstStyle/>
          <a:p>
            <a:pPr marL="0" indent="0" algn="l">
              <a:lnSpc>
                <a:spcPct val="115000"/>
              </a:lnSpc>
              <a:buNone/>
            </a:pPr>
            <a:r>
              <a:rPr lang="en-US" sz="2200" b="1" dirty="0">
                <a:solidFill>
                  <a:srgbClr val="C07A10"/>
                </a:solidFill>
                <a:latin typeface="Courier New" pitchFamily="34" charset="0"/>
                <a:ea typeface="Courier New" pitchFamily="34" charset="-122"/>
                <a:cs typeface="Courier New" pitchFamily="34" charset="-120"/>
              </a:rPr>
              <a:t>1</a:t>
            </a:r>
            <a:endParaRPr lang="en-US" sz="2200" dirty="0"/>
          </a:p>
        </p:txBody>
      </p:sp>
      <p:sp>
        <p:nvSpPr>
          <p:cNvPr id="11" name="Text 9"/>
          <p:cNvSpPr/>
          <p:nvPr/>
        </p:nvSpPr>
        <p:spPr>
          <a:xfrm>
            <a:off x="958095" y="2468880"/>
            <a:ext cx="4145867" cy="96012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Set up your class assignment based on a professor’s guidance.</a:t>
            </a:r>
            <a:endParaRPr lang="en-US" sz="1250" dirty="0"/>
          </a:p>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pip install pandas==1.5 </a:t>
            </a:r>
            <a:endParaRPr lang="en-US" sz="1250" dirty="0"/>
          </a:p>
        </p:txBody>
      </p:sp>
      <p:sp>
        <p:nvSpPr>
          <p:cNvPr id="12" name="Text 10"/>
          <p:cNvSpPr/>
          <p:nvPr/>
        </p:nvSpPr>
        <p:spPr>
          <a:xfrm>
            <a:off x="5231978" y="2468880"/>
            <a:ext cx="1508790" cy="960120"/>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1.5</a:t>
            </a:r>
            <a:endParaRPr lang="en-US" sz="1200" dirty="0"/>
          </a:p>
        </p:txBody>
      </p:sp>
      <p:sp>
        <p:nvSpPr>
          <p:cNvPr id="13" name="Text 11"/>
          <p:cNvSpPr/>
          <p:nvPr/>
        </p:nvSpPr>
        <p:spPr>
          <a:xfrm>
            <a:off x="6868784" y="2468880"/>
            <a:ext cx="2236260" cy="960120"/>
          </a:xfrm>
          <a:prstGeom prst="rect">
            <a:avLst/>
          </a:prstGeom>
          <a:noFill/>
          <a:ln/>
        </p:spPr>
        <p:txBody>
          <a:bodyPr wrap="square" lIns="0" tIns="0" rIns="0" bIns="0" rtlCol="0" anchor="ctr"/>
          <a:lstStyle/>
          <a:p>
            <a:pPr marL="0" indent="0" algn="l">
              <a:lnSpc>
                <a:spcPct val="115000"/>
              </a:lnSpc>
              <a:buNone/>
            </a:pPr>
            <a:r>
              <a:rPr lang="en-US" sz="1200" b="1" dirty="0">
                <a:solidFill>
                  <a:srgbClr val="1F6B65"/>
                </a:solidFill>
                <a:latin typeface="Courier New" pitchFamily="34" charset="0"/>
                <a:ea typeface="Courier New" pitchFamily="34" charset="-122"/>
                <a:cs typeface="Courier New" pitchFamily="34" charset="-120"/>
              </a:rPr>
              <a:t>works</a:t>
            </a:r>
            <a:endParaRPr lang="en-US" sz="1200" dirty="0"/>
          </a:p>
        </p:txBody>
      </p:sp>
      <p:sp>
        <p:nvSpPr>
          <p:cNvPr id="14" name="Text 12"/>
          <p:cNvSpPr/>
          <p:nvPr/>
        </p:nvSpPr>
        <p:spPr>
          <a:xfrm>
            <a:off x="9233060" y="2468880"/>
            <a:ext cx="2236260" cy="960120"/>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a:t>
            </a:r>
            <a:endParaRPr lang="en-US" sz="1050" dirty="0"/>
          </a:p>
        </p:txBody>
      </p:sp>
      <p:sp>
        <p:nvSpPr>
          <p:cNvPr id="15" name="Shape 13"/>
          <p:cNvSpPr/>
          <p:nvPr/>
        </p:nvSpPr>
        <p:spPr>
          <a:xfrm>
            <a:off x="594360" y="3429000"/>
            <a:ext cx="11002975" cy="0"/>
          </a:xfrm>
          <a:prstGeom prst="line">
            <a:avLst/>
          </a:prstGeom>
          <a:noFill/>
          <a:ln w="9525">
            <a:solidFill>
              <a:srgbClr val="D0DAE0"/>
            </a:solidFill>
            <a:prstDash val="solid"/>
          </a:ln>
        </p:spPr>
        <p:txBody>
          <a:bodyPr/>
          <a:lstStyle/>
          <a:p>
            <a:endParaRPr lang="en-US"/>
          </a:p>
        </p:txBody>
      </p:sp>
      <p:sp>
        <p:nvSpPr>
          <p:cNvPr id="16" name="Text 14"/>
          <p:cNvSpPr/>
          <p:nvPr/>
        </p:nvSpPr>
        <p:spPr>
          <a:xfrm>
            <a:off x="594360" y="3429000"/>
            <a:ext cx="235719" cy="960120"/>
          </a:xfrm>
          <a:prstGeom prst="rect">
            <a:avLst/>
          </a:prstGeom>
          <a:noFill/>
          <a:ln/>
        </p:spPr>
        <p:txBody>
          <a:bodyPr wrap="square" lIns="0" tIns="0" rIns="0" bIns="0" rtlCol="0" anchor="ctr"/>
          <a:lstStyle/>
          <a:p>
            <a:pPr marL="0" indent="0" algn="l">
              <a:lnSpc>
                <a:spcPct val="115000"/>
              </a:lnSpc>
              <a:buNone/>
            </a:pPr>
            <a:r>
              <a:rPr lang="en-US" sz="2200" b="1" dirty="0">
                <a:solidFill>
                  <a:srgbClr val="C07A10"/>
                </a:solidFill>
                <a:latin typeface="Courier New" pitchFamily="34" charset="0"/>
                <a:ea typeface="Courier New" pitchFamily="34" charset="-122"/>
                <a:cs typeface="Courier New" pitchFamily="34" charset="-120"/>
              </a:rPr>
              <a:t>2</a:t>
            </a:r>
            <a:endParaRPr lang="en-US" sz="2200" dirty="0"/>
          </a:p>
        </p:txBody>
      </p:sp>
      <p:sp>
        <p:nvSpPr>
          <p:cNvPr id="17" name="Text 15"/>
          <p:cNvSpPr/>
          <p:nvPr/>
        </p:nvSpPr>
        <p:spPr>
          <a:xfrm>
            <a:off x="958095" y="3429000"/>
            <a:ext cx="4145867" cy="96012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Weeks later, start a side project.</a:t>
            </a:r>
            <a:endParaRPr lang="en-US" sz="1250" dirty="0"/>
          </a:p>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pip install pandas==2.2</a:t>
            </a:r>
            <a:endParaRPr lang="en-US" sz="1250" dirty="0"/>
          </a:p>
        </p:txBody>
      </p:sp>
      <p:sp>
        <p:nvSpPr>
          <p:cNvPr id="18" name="Text 16"/>
          <p:cNvSpPr/>
          <p:nvPr/>
        </p:nvSpPr>
        <p:spPr>
          <a:xfrm>
            <a:off x="5231978" y="3429000"/>
            <a:ext cx="1508790" cy="960120"/>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2.2</a:t>
            </a:r>
            <a:endParaRPr lang="en-US" sz="1200" dirty="0"/>
          </a:p>
        </p:txBody>
      </p:sp>
      <p:sp>
        <p:nvSpPr>
          <p:cNvPr id="19" name="Text 17"/>
          <p:cNvSpPr/>
          <p:nvPr/>
        </p:nvSpPr>
        <p:spPr>
          <a:xfrm>
            <a:off x="6868784" y="3429000"/>
            <a:ext cx="2236260" cy="960120"/>
          </a:xfrm>
          <a:prstGeom prst="rect">
            <a:avLst/>
          </a:prstGeom>
          <a:noFill/>
          <a:ln/>
        </p:spPr>
        <p:txBody>
          <a:bodyPr wrap="square" lIns="0" tIns="0" rIns="0" bIns="0" rtlCol="0" anchor="ctr"/>
          <a:lstStyle/>
          <a:p>
            <a:pPr marL="0" indent="0" algn="l">
              <a:lnSpc>
                <a:spcPct val="115000"/>
              </a:lnSpc>
              <a:buNone/>
            </a:pPr>
            <a:r>
              <a:rPr lang="en-US" sz="1200" b="1" dirty="0">
                <a:solidFill>
                  <a:srgbClr val="B4483C"/>
                </a:solidFill>
                <a:latin typeface="Courier New" pitchFamily="34" charset="0"/>
                <a:ea typeface="Courier New" pitchFamily="34" charset="-122"/>
                <a:cs typeface="Courier New" pitchFamily="34" charset="-120"/>
              </a:rPr>
              <a:t>BROKEN</a:t>
            </a:r>
            <a:endParaRPr lang="en-US" sz="1200" dirty="0"/>
          </a:p>
        </p:txBody>
      </p:sp>
      <p:sp>
        <p:nvSpPr>
          <p:cNvPr id="20" name="Text 18"/>
          <p:cNvSpPr/>
          <p:nvPr/>
        </p:nvSpPr>
        <p:spPr>
          <a:xfrm>
            <a:off x="9233060" y="3429000"/>
            <a:ext cx="2236260" cy="960120"/>
          </a:xfrm>
          <a:prstGeom prst="rect">
            <a:avLst/>
          </a:prstGeom>
          <a:noFill/>
          <a:ln/>
        </p:spPr>
        <p:txBody>
          <a:bodyPr wrap="square" lIns="0" tIns="0" rIns="0" bIns="0" rtlCol="0" anchor="ctr"/>
          <a:lstStyle/>
          <a:p>
            <a:pPr marL="0" indent="0" algn="l">
              <a:lnSpc>
                <a:spcPct val="115000"/>
              </a:lnSpc>
              <a:buNone/>
            </a:pPr>
            <a:r>
              <a:rPr lang="en-US" sz="1200" b="1" dirty="0">
                <a:solidFill>
                  <a:srgbClr val="1F6B65"/>
                </a:solidFill>
                <a:latin typeface="Courier New" pitchFamily="34" charset="0"/>
                <a:ea typeface="Courier New" pitchFamily="34" charset="-122"/>
                <a:cs typeface="Courier New" pitchFamily="34" charset="-120"/>
              </a:rPr>
              <a:t>works</a:t>
            </a:r>
            <a:endParaRPr lang="en-US" sz="1200" dirty="0"/>
          </a:p>
        </p:txBody>
      </p:sp>
      <p:sp>
        <p:nvSpPr>
          <p:cNvPr id="21" name="Shape 19"/>
          <p:cNvSpPr/>
          <p:nvPr/>
        </p:nvSpPr>
        <p:spPr>
          <a:xfrm>
            <a:off x="594360" y="4389120"/>
            <a:ext cx="11002975" cy="0"/>
          </a:xfrm>
          <a:prstGeom prst="line">
            <a:avLst/>
          </a:prstGeom>
          <a:noFill/>
          <a:ln w="9525">
            <a:solidFill>
              <a:srgbClr val="D0DAE0"/>
            </a:solidFill>
            <a:prstDash val="solid"/>
          </a:ln>
        </p:spPr>
        <p:txBody>
          <a:bodyPr/>
          <a:lstStyle/>
          <a:p>
            <a:endParaRPr lang="en-US"/>
          </a:p>
        </p:txBody>
      </p:sp>
      <p:sp>
        <p:nvSpPr>
          <p:cNvPr id="22" name="Shape 20"/>
          <p:cNvSpPr/>
          <p:nvPr/>
        </p:nvSpPr>
        <p:spPr>
          <a:xfrm>
            <a:off x="594360" y="4663440"/>
            <a:ext cx="11002975" cy="0"/>
          </a:xfrm>
          <a:prstGeom prst="line">
            <a:avLst/>
          </a:prstGeom>
          <a:noFill/>
          <a:ln w="12700">
            <a:solidFill>
              <a:srgbClr val="9EAEB8"/>
            </a:solidFill>
            <a:prstDash val="solid"/>
          </a:ln>
        </p:spPr>
        <p:txBody>
          <a:bodyPr/>
          <a:lstStyle/>
          <a:p>
            <a:endParaRPr lang="en-US"/>
          </a:p>
        </p:txBody>
      </p:sp>
      <p:sp>
        <p:nvSpPr>
          <p:cNvPr id="24" name="Text 22"/>
          <p:cNvSpPr/>
          <p:nvPr/>
        </p:nvSpPr>
        <p:spPr>
          <a:xfrm>
            <a:off x="594359" y="5248655"/>
            <a:ext cx="5746151" cy="256027"/>
          </a:xfrm>
          <a:prstGeom prst="rect">
            <a:avLst/>
          </a:prstGeom>
          <a:noFill/>
          <a:ln/>
        </p:spPr>
        <p:txBody>
          <a:bodyPr wrap="square" lIns="0" tIns="0" rIns="0" bIns="0" rtlCol="0" anchor="ctr"/>
          <a:lstStyle/>
          <a:p>
            <a:pPr marL="0" indent="0" algn="l">
              <a:buNone/>
            </a:pPr>
            <a:r>
              <a:rPr lang="en-US" b="1" kern="0" spc="110" dirty="0">
                <a:solidFill>
                  <a:srgbClr val="C07A10"/>
                </a:solidFill>
                <a:latin typeface="Courier New" pitchFamily="34" charset="0"/>
                <a:ea typeface="Courier New" pitchFamily="34" charset="-122"/>
                <a:cs typeface="Courier New" pitchFamily="34" charset="-120"/>
              </a:rPr>
              <a:t>Virtual Environments help solve this</a:t>
            </a:r>
            <a:endParaRPr lang="en-US" dirty="0"/>
          </a:p>
        </p:txBody>
      </p:sp>
      <p:sp>
        <p:nvSpPr>
          <p:cNvPr id="25" name="Text 23"/>
          <p:cNvSpPr/>
          <p:nvPr/>
        </p:nvSpPr>
        <p:spPr>
          <a:xfrm>
            <a:off x="594360" y="5504687"/>
            <a:ext cx="11002975" cy="457200"/>
          </a:xfrm>
          <a:prstGeom prst="rect">
            <a:avLst/>
          </a:prstGeom>
          <a:noFill/>
          <a:ln/>
        </p:spPr>
        <p:txBody>
          <a:bodyPr wrap="square" lIns="0" tIns="0" rIns="0" bIns="0" rtlCol="0" anchor="ctr"/>
          <a:lstStyle/>
          <a:p>
            <a:pPr marL="0" indent="0">
              <a:buNone/>
            </a:pPr>
            <a:r>
              <a:rPr lang="en-US" sz="1450" dirty="0">
                <a:solidFill>
                  <a:srgbClr val="121C22"/>
                </a:solidFill>
                <a:latin typeface="Calibri" pitchFamily="34" charset="0"/>
                <a:ea typeface="Calibri" pitchFamily="34" charset="-122"/>
                <a:cs typeface="Calibri" pitchFamily="34" charset="-120"/>
              </a:rPr>
              <a:t>Give every project its own private copy of Python and its own packages, and share those with the code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731520"/>
            <a:ext cx="11002975" cy="676656"/>
          </a:xfrm>
          <a:prstGeom prst="rect">
            <a:avLst/>
          </a:prstGeom>
          <a:noFill/>
          <a:ln/>
        </p:spPr>
        <p:txBody>
          <a:bodyPr wrap="square" lIns="0" tIns="0" rIns="0" bIns="0" rtlCol="0" anchor="t"/>
          <a:lstStyle/>
          <a:p>
            <a:pPr marL="0" indent="0">
              <a:buNone/>
            </a:pPr>
            <a:r>
              <a:rPr lang="en-US" sz="3300" b="1" dirty="0">
                <a:solidFill>
                  <a:srgbClr val="121C22"/>
                </a:solidFill>
                <a:latin typeface="Calibri" pitchFamily="34" charset="0"/>
                <a:ea typeface="Calibri" pitchFamily="34" charset="-122"/>
                <a:cs typeface="Calibri" pitchFamily="34" charset="-120"/>
              </a:rPr>
              <a:t>A virtual environment is a folder on your computer</a:t>
            </a:r>
            <a:endParaRPr lang="en-US" sz="3300" dirty="0"/>
          </a:p>
        </p:txBody>
      </p:sp>
      <p:sp>
        <p:nvSpPr>
          <p:cNvPr id="4" name="Text 2"/>
          <p:cNvSpPr/>
          <p:nvPr/>
        </p:nvSpPr>
        <p:spPr>
          <a:xfrm>
            <a:off x="594360" y="1783080"/>
            <a:ext cx="3657600"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WHAT IT LOOKS LIKE ON DISK</a:t>
            </a:r>
            <a:endParaRPr lang="en-US" sz="950" dirty="0"/>
          </a:p>
        </p:txBody>
      </p:sp>
      <p:sp>
        <p:nvSpPr>
          <p:cNvPr id="5" name="Shape 3"/>
          <p:cNvSpPr/>
          <p:nvPr/>
        </p:nvSpPr>
        <p:spPr>
          <a:xfrm>
            <a:off x="594360" y="2057400"/>
            <a:ext cx="5577840" cy="1389888"/>
          </a:xfrm>
          <a:prstGeom prst="rect">
            <a:avLst/>
          </a:prstGeom>
          <a:solidFill>
            <a:srgbClr val="121C22"/>
          </a:solidFill>
          <a:ln/>
        </p:spPr>
        <p:txBody>
          <a:bodyPr/>
          <a:lstStyle/>
          <a:p>
            <a:endParaRPr lang="en-US"/>
          </a:p>
        </p:txBody>
      </p:sp>
      <p:sp>
        <p:nvSpPr>
          <p:cNvPr id="6" name="Text 4"/>
          <p:cNvSpPr/>
          <p:nvPr/>
        </p:nvSpPr>
        <p:spPr>
          <a:xfrm>
            <a:off x="749808" y="2176272"/>
            <a:ext cx="5266944" cy="1152144"/>
          </a:xfrm>
          <a:prstGeom prst="rect">
            <a:avLst/>
          </a:prstGeom>
          <a:noFill/>
          <a:ln/>
        </p:spPr>
        <p:txBody>
          <a:bodyPr wrap="square" lIns="0" tIns="0" rIns="0" bIns="0" rtlCol="0" anchor="t"/>
          <a:lstStyle/>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my-project/</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analyse.py          ← your code</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requirements.txt    ← what it needs</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.venv/              ← THE ENVIRONMENT. it is a folder.</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 bin/python      ← a private Python, for this project only</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 lib/…           ← its private packages live here</a:t>
            </a:r>
            <a:endParaRPr lang="en-US" sz="1050" dirty="0"/>
          </a:p>
        </p:txBody>
      </p:sp>
      <p:sp>
        <p:nvSpPr>
          <p:cNvPr id="7" name="Text 5"/>
          <p:cNvSpPr/>
          <p:nvPr/>
        </p:nvSpPr>
        <p:spPr>
          <a:xfrm>
            <a:off x="594360" y="3639312"/>
            <a:ext cx="3657600"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ACTIVATION, DEMONSTRATED</a:t>
            </a:r>
            <a:endParaRPr lang="en-US" sz="950" dirty="0"/>
          </a:p>
        </p:txBody>
      </p:sp>
      <p:sp>
        <p:nvSpPr>
          <p:cNvPr id="8" name="Shape 6"/>
          <p:cNvSpPr/>
          <p:nvPr/>
        </p:nvSpPr>
        <p:spPr>
          <a:xfrm>
            <a:off x="594360" y="3913632"/>
            <a:ext cx="5577840" cy="1783080"/>
          </a:xfrm>
          <a:prstGeom prst="rect">
            <a:avLst/>
          </a:prstGeom>
          <a:solidFill>
            <a:srgbClr val="121C22"/>
          </a:solidFill>
          <a:ln/>
        </p:spPr>
        <p:txBody>
          <a:bodyPr/>
          <a:lstStyle/>
          <a:p>
            <a:endParaRPr lang="en-US"/>
          </a:p>
        </p:txBody>
      </p:sp>
      <p:sp>
        <p:nvSpPr>
          <p:cNvPr id="9" name="Text 7"/>
          <p:cNvSpPr/>
          <p:nvPr/>
        </p:nvSpPr>
        <p:spPr>
          <a:xfrm>
            <a:off x="749808" y="4032504"/>
            <a:ext cx="5266944" cy="1545336"/>
          </a:xfrm>
          <a:prstGeom prst="rect">
            <a:avLst/>
          </a:prstGeom>
          <a:noFill/>
          <a:ln/>
        </p:spPr>
        <p:txBody>
          <a:bodyPr wrap="square" lIns="0" tIns="0" rIns="0" bIns="0" rtlCol="0" anchor="t"/>
          <a:lstStyle/>
          <a:p>
            <a:pPr marL="0" indent="0">
              <a:lnSpc>
                <a:spcPct val="118000"/>
              </a:lnSpc>
              <a:buNone/>
            </a:pPr>
            <a:r>
              <a:rPr lang="en-US" sz="1000" dirty="0">
                <a:solidFill>
                  <a:srgbClr val="DCE6EA"/>
                </a:solidFill>
                <a:latin typeface="Courier New" pitchFamily="34" charset="0"/>
                <a:ea typeface="Courier New" pitchFamily="34" charset="-122"/>
                <a:cs typeface="Courier New" pitchFamily="34" charset="-120"/>
              </a:rPr>
              <a:t>$ which python</a:t>
            </a:r>
            <a:endParaRPr lang="en-US" sz="1000" dirty="0"/>
          </a:p>
          <a:p>
            <a:pPr marL="0" indent="0">
              <a:lnSpc>
                <a:spcPct val="118000"/>
              </a:lnSpc>
              <a:buNone/>
            </a:pPr>
            <a:r>
              <a:rPr lang="en-US" sz="1000" dirty="0">
                <a:solidFill>
                  <a:srgbClr val="DCE6EA"/>
                </a:solidFill>
                <a:latin typeface="Courier New" pitchFamily="34" charset="0"/>
                <a:ea typeface="Courier New" pitchFamily="34" charset="-122"/>
                <a:cs typeface="Courier New" pitchFamily="34" charset="-120"/>
              </a:rPr>
              <a:t>/usr/bin/python                       ← the system one</a:t>
            </a:r>
            <a:endParaRPr lang="en-US" sz="1000" dirty="0"/>
          </a:p>
          <a:p>
            <a:pPr marL="0" indent="0">
              <a:lnSpc>
                <a:spcPct val="118000"/>
              </a:lnSpc>
              <a:buNone/>
            </a:pPr>
            <a:r>
              <a:rPr lang="en-US" sz="1000" dirty="0">
                <a:solidFill>
                  <a:srgbClr val="DCE6EA"/>
                </a:solidFill>
                <a:latin typeface="Courier New" pitchFamily="34" charset="0"/>
                <a:ea typeface="Courier New" pitchFamily="34" charset="-122"/>
                <a:cs typeface="Courier New" pitchFamily="34" charset="-120"/>
              </a:rPr>
              <a:t>$ source .venv/bin/activate           ← THIS shell only</a:t>
            </a:r>
            <a:endParaRPr lang="en-US" sz="1000" dirty="0"/>
          </a:p>
          <a:p>
            <a:pPr marL="0" indent="0">
              <a:lnSpc>
                <a:spcPct val="118000"/>
              </a:lnSpc>
              <a:buNone/>
            </a:pPr>
            <a:r>
              <a:rPr lang="en-US" sz="1000" dirty="0">
                <a:solidFill>
                  <a:srgbClr val="DCE6EA"/>
                </a:solidFill>
                <a:latin typeface="Courier New" pitchFamily="34" charset="0"/>
                <a:ea typeface="Courier New" pitchFamily="34" charset="-122"/>
                <a:cs typeface="Courier New" pitchFamily="34" charset="-120"/>
              </a:rPr>
              <a:t>(.venv) $ which python</a:t>
            </a:r>
            <a:endParaRPr lang="en-US" sz="1000" dirty="0"/>
          </a:p>
          <a:p>
            <a:pPr marL="0" indent="0">
              <a:lnSpc>
                <a:spcPct val="118000"/>
              </a:lnSpc>
              <a:buNone/>
            </a:pPr>
            <a:r>
              <a:rPr lang="en-US" sz="1000" dirty="0">
                <a:solidFill>
                  <a:srgbClr val="DCE6EA"/>
                </a:solidFill>
                <a:latin typeface="Courier New" pitchFamily="34" charset="0"/>
                <a:ea typeface="Courier New" pitchFamily="34" charset="-122"/>
                <a:cs typeface="Courier New" pitchFamily="34" charset="-120"/>
              </a:rPr>
              <a:t>/home/you/my-project/.venv/bin/python ← yours</a:t>
            </a:r>
            <a:endParaRPr lang="en-US" sz="1000" dirty="0"/>
          </a:p>
          <a:p>
            <a:pPr marL="0" indent="0">
              <a:lnSpc>
                <a:spcPct val="118000"/>
              </a:lnSpc>
              <a:buNone/>
            </a:pPr>
            <a:r>
              <a:rPr lang="en-US" sz="1000" dirty="0">
                <a:solidFill>
                  <a:srgbClr val="DCE6EA"/>
                </a:solidFill>
                <a:latin typeface="Courier New" pitchFamily="34" charset="0"/>
                <a:ea typeface="Courier New" pitchFamily="34" charset="-122"/>
                <a:cs typeface="Courier New" pitchFamily="34" charset="-120"/>
              </a:rPr>
              <a:t>(.venv) $ deactivate</a:t>
            </a:r>
            <a:endParaRPr lang="en-US" sz="1000" dirty="0"/>
          </a:p>
          <a:p>
            <a:pPr marL="0" indent="0">
              <a:lnSpc>
                <a:spcPct val="118000"/>
              </a:lnSpc>
              <a:buNone/>
            </a:pPr>
            <a:r>
              <a:rPr lang="en-US" sz="1000" dirty="0">
                <a:solidFill>
                  <a:srgbClr val="DCE6EA"/>
                </a:solidFill>
                <a:latin typeface="Courier New" pitchFamily="34" charset="0"/>
                <a:ea typeface="Courier New" pitchFamily="34" charset="-122"/>
                <a:cs typeface="Courier New" pitchFamily="34" charset="-120"/>
              </a:rPr>
              <a:t>$ which python</a:t>
            </a:r>
            <a:endParaRPr lang="en-US" sz="1000" dirty="0"/>
          </a:p>
          <a:p>
            <a:pPr marL="0" indent="0">
              <a:lnSpc>
                <a:spcPct val="118000"/>
              </a:lnSpc>
              <a:buNone/>
            </a:pPr>
            <a:r>
              <a:rPr lang="en-US" sz="1000" dirty="0">
                <a:solidFill>
                  <a:srgbClr val="DCE6EA"/>
                </a:solidFill>
                <a:latin typeface="Courier New" pitchFamily="34" charset="0"/>
                <a:ea typeface="Courier New" pitchFamily="34" charset="-122"/>
                <a:cs typeface="Courier New" pitchFamily="34" charset="-120"/>
              </a:rPr>
              <a:t>/usr/bin/python                       ← back to the system one</a:t>
            </a:r>
            <a:endParaRPr lang="en-US" sz="1000" dirty="0"/>
          </a:p>
        </p:txBody>
      </p:sp>
      <p:sp>
        <p:nvSpPr>
          <p:cNvPr id="10" name="Shape 8"/>
          <p:cNvSpPr/>
          <p:nvPr/>
        </p:nvSpPr>
        <p:spPr>
          <a:xfrm>
            <a:off x="6492240" y="1737360"/>
            <a:ext cx="0" cy="4023360"/>
          </a:xfrm>
          <a:prstGeom prst="line">
            <a:avLst/>
          </a:prstGeom>
          <a:noFill/>
          <a:ln w="9525">
            <a:solidFill>
              <a:srgbClr val="D0DAE0"/>
            </a:solidFill>
            <a:prstDash val="solid"/>
          </a:ln>
        </p:spPr>
        <p:txBody>
          <a:bodyPr/>
          <a:lstStyle/>
          <a:p>
            <a:endParaRPr lang="en-US"/>
          </a:p>
        </p:txBody>
      </p:sp>
      <p:sp>
        <p:nvSpPr>
          <p:cNvPr id="11" name="Text 9"/>
          <p:cNvSpPr/>
          <p:nvPr/>
        </p:nvSpPr>
        <p:spPr>
          <a:xfrm>
            <a:off x="6903720" y="1783080"/>
            <a:ext cx="4663440"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Mini FAQ</a:t>
            </a:r>
            <a:endParaRPr lang="en-US" sz="950" dirty="0"/>
          </a:p>
        </p:txBody>
      </p:sp>
      <p:sp>
        <p:nvSpPr>
          <p:cNvPr id="12" name="Shape 10"/>
          <p:cNvSpPr/>
          <p:nvPr/>
        </p:nvSpPr>
        <p:spPr>
          <a:xfrm>
            <a:off x="6903720" y="2057400"/>
            <a:ext cx="4663440" cy="0"/>
          </a:xfrm>
          <a:prstGeom prst="line">
            <a:avLst/>
          </a:prstGeom>
          <a:noFill/>
          <a:ln w="12700">
            <a:solidFill>
              <a:srgbClr val="9EAEB8"/>
            </a:solidFill>
            <a:prstDash val="solid"/>
          </a:ln>
        </p:spPr>
        <p:txBody>
          <a:bodyPr/>
          <a:lstStyle/>
          <a:p>
            <a:endParaRPr lang="en-US"/>
          </a:p>
        </p:txBody>
      </p:sp>
      <p:sp>
        <p:nvSpPr>
          <p:cNvPr id="13" name="Text 11"/>
          <p:cNvSpPr/>
          <p:nvPr/>
        </p:nvSpPr>
        <p:spPr>
          <a:xfrm>
            <a:off x="6903720" y="2057400"/>
            <a:ext cx="2020824" cy="713232"/>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What if I accidentally delete this folder?</a:t>
            </a:r>
            <a:endParaRPr lang="en-US" sz="1050" dirty="0"/>
          </a:p>
        </p:txBody>
      </p:sp>
      <p:sp>
        <p:nvSpPr>
          <p:cNvPr id="14" name="Text 12"/>
          <p:cNvSpPr/>
          <p:nvPr/>
        </p:nvSpPr>
        <p:spPr>
          <a:xfrm>
            <a:off x="9052560" y="2057400"/>
            <a:ext cx="2386584" cy="713232"/>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The environment is gone, but you can rebuild it!</a:t>
            </a:r>
            <a:endParaRPr lang="en-US" sz="1250" dirty="0"/>
          </a:p>
        </p:txBody>
      </p:sp>
      <p:sp>
        <p:nvSpPr>
          <p:cNvPr id="15" name="Shape 13"/>
          <p:cNvSpPr/>
          <p:nvPr/>
        </p:nvSpPr>
        <p:spPr>
          <a:xfrm>
            <a:off x="6903720" y="2770632"/>
            <a:ext cx="4663440" cy="0"/>
          </a:xfrm>
          <a:prstGeom prst="line">
            <a:avLst/>
          </a:prstGeom>
          <a:noFill/>
          <a:ln w="9525">
            <a:solidFill>
              <a:srgbClr val="D0DAE0"/>
            </a:solidFill>
            <a:prstDash val="solid"/>
          </a:ln>
        </p:spPr>
        <p:txBody>
          <a:bodyPr/>
          <a:lstStyle/>
          <a:p>
            <a:endParaRPr lang="en-US"/>
          </a:p>
        </p:txBody>
      </p:sp>
      <p:sp>
        <p:nvSpPr>
          <p:cNvPr id="18" name="Shape 16"/>
          <p:cNvSpPr/>
          <p:nvPr/>
        </p:nvSpPr>
        <p:spPr>
          <a:xfrm>
            <a:off x="6903720" y="3483864"/>
            <a:ext cx="4663440" cy="0"/>
          </a:xfrm>
          <a:prstGeom prst="line">
            <a:avLst/>
          </a:prstGeom>
          <a:noFill/>
          <a:ln w="9525">
            <a:solidFill>
              <a:srgbClr val="D0DAE0"/>
            </a:solidFill>
            <a:prstDash val="solid"/>
          </a:ln>
        </p:spPr>
        <p:txBody>
          <a:bodyPr/>
          <a:lstStyle/>
          <a:p>
            <a:endParaRPr lang="en-US"/>
          </a:p>
        </p:txBody>
      </p:sp>
      <p:sp>
        <p:nvSpPr>
          <p:cNvPr id="19" name="Text 17"/>
          <p:cNvSpPr/>
          <p:nvPr/>
        </p:nvSpPr>
        <p:spPr>
          <a:xfrm>
            <a:off x="6903720" y="2802636"/>
            <a:ext cx="2020824" cy="713232"/>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Does this break other versions of python on my computer</a:t>
            </a:r>
            <a:endParaRPr lang="en-US" sz="1050" dirty="0"/>
          </a:p>
        </p:txBody>
      </p:sp>
      <p:sp>
        <p:nvSpPr>
          <p:cNvPr id="20" name="Text 18"/>
          <p:cNvSpPr/>
          <p:nvPr/>
        </p:nvSpPr>
        <p:spPr>
          <a:xfrm>
            <a:off x="9052560" y="2802636"/>
            <a:ext cx="2386584" cy="713232"/>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No. This is a totally separate instance of python.</a:t>
            </a:r>
            <a:endParaRPr lang="en-US" sz="1250" dirty="0"/>
          </a:p>
        </p:txBody>
      </p:sp>
      <p:sp>
        <p:nvSpPr>
          <p:cNvPr id="21" name="Shape 19"/>
          <p:cNvSpPr/>
          <p:nvPr/>
        </p:nvSpPr>
        <p:spPr>
          <a:xfrm>
            <a:off x="6903720" y="4197096"/>
            <a:ext cx="4663440" cy="0"/>
          </a:xfrm>
          <a:prstGeom prst="line">
            <a:avLst/>
          </a:prstGeom>
          <a:noFill/>
          <a:ln w="9525">
            <a:solidFill>
              <a:srgbClr val="D0DAE0"/>
            </a:solidFill>
            <a:prstDash val="solid"/>
          </a:ln>
        </p:spPr>
        <p:txBody>
          <a:bodyPr/>
          <a:lstStyle/>
          <a:p>
            <a:endParaRPr lang="en-US"/>
          </a:p>
        </p:txBody>
      </p:sp>
      <p:sp>
        <p:nvSpPr>
          <p:cNvPr id="22" name="Text 20"/>
          <p:cNvSpPr/>
          <p:nvPr/>
        </p:nvSpPr>
        <p:spPr>
          <a:xfrm>
            <a:off x="6903720" y="3502705"/>
            <a:ext cx="2020824" cy="713232"/>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Should I commit this whole folder to git?</a:t>
            </a:r>
            <a:endParaRPr lang="en-US" sz="1050" dirty="0"/>
          </a:p>
        </p:txBody>
      </p:sp>
      <p:sp>
        <p:nvSpPr>
          <p:cNvPr id="23" name="Text 21"/>
          <p:cNvSpPr/>
          <p:nvPr/>
        </p:nvSpPr>
        <p:spPr>
          <a:xfrm>
            <a:off x="9052560" y="3502705"/>
            <a:ext cx="2386584" cy="713232"/>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Never. Share the defining files and have anyone else regenerate it for themselves.</a:t>
            </a:r>
            <a:endParaRPr lang="en-US" sz="1250" dirty="0"/>
          </a:p>
        </p:txBody>
      </p:sp>
      <p:sp>
        <p:nvSpPr>
          <p:cNvPr id="24" name="Shape 22"/>
          <p:cNvSpPr/>
          <p:nvPr/>
        </p:nvSpPr>
        <p:spPr>
          <a:xfrm>
            <a:off x="6903720" y="4910328"/>
            <a:ext cx="4663440" cy="0"/>
          </a:xfrm>
          <a:prstGeom prst="line">
            <a:avLst/>
          </a:prstGeom>
          <a:noFill/>
          <a:ln w="9525">
            <a:solidFill>
              <a:srgbClr val="D0DAE0"/>
            </a:solidFill>
            <a:prstDash val="solid"/>
          </a:ln>
        </p:spPr>
        <p:txBody>
          <a:bodyPr/>
          <a:lstStyle/>
          <a:p>
            <a:endParaRPr lang="en-US"/>
          </a:p>
        </p:txBody>
      </p:sp>
      <p:sp>
        <p:nvSpPr>
          <p:cNvPr id="25" name="Text 23"/>
          <p:cNvSpPr/>
          <p:nvPr/>
        </p:nvSpPr>
        <p:spPr>
          <a:xfrm>
            <a:off x="6903720" y="4215937"/>
            <a:ext cx="2020824" cy="713232"/>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What does activate actually do?</a:t>
            </a:r>
            <a:endParaRPr lang="en-US" sz="1050" dirty="0"/>
          </a:p>
        </p:txBody>
      </p:sp>
      <p:sp>
        <p:nvSpPr>
          <p:cNvPr id="26" name="Text 24"/>
          <p:cNvSpPr/>
          <p:nvPr/>
        </p:nvSpPr>
        <p:spPr>
          <a:xfrm>
            <a:off x="9052560" y="4215937"/>
            <a:ext cx="2386584" cy="713232"/>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Puts that folder's Python first in your PATH, for one shell.</a:t>
            </a:r>
            <a:endParaRPr lang="en-US" sz="1250" dirty="0"/>
          </a:p>
        </p:txBody>
      </p:sp>
      <p:sp>
        <p:nvSpPr>
          <p:cNvPr id="28" name="Text 26"/>
          <p:cNvSpPr/>
          <p:nvPr/>
        </p:nvSpPr>
        <p:spPr>
          <a:xfrm>
            <a:off x="594360" y="5870448"/>
            <a:ext cx="11002975" cy="402336"/>
          </a:xfrm>
          <a:prstGeom prst="rect">
            <a:avLst/>
          </a:prstGeom>
          <a:noFill/>
          <a:ln/>
        </p:spPr>
        <p:txBody>
          <a:bodyPr wrap="square" lIns="0" tIns="0" rIns="0" bIns="0" rtlCol="0" anchor="t"/>
          <a:lstStyle/>
          <a:p>
            <a:pPr marL="0" indent="0">
              <a:lnSpc>
                <a:spcPct val="120000"/>
              </a:lnSpc>
              <a:buNone/>
            </a:pPr>
            <a:r>
              <a:rPr lang="en-US" sz="1350" b="1" dirty="0">
                <a:solidFill>
                  <a:srgbClr val="121C22"/>
                </a:solidFill>
                <a:latin typeface="Calibri" pitchFamily="34" charset="0"/>
                <a:ea typeface="Calibri" pitchFamily="34" charset="-122"/>
                <a:cs typeface="Calibri" pitchFamily="34" charset="-120"/>
              </a:rPr>
              <a:t>It is a folder. It is not magic, just hidden for ease of use. </a:t>
            </a:r>
            <a:r>
              <a:rPr lang="en-US" sz="1350" dirty="0">
                <a:solidFill>
                  <a:srgbClr val="55656F"/>
                </a:solidFill>
                <a:latin typeface="Calibri" pitchFamily="34" charset="0"/>
                <a:ea typeface="Calibri" pitchFamily="34" charset="-122"/>
                <a:cs typeface="Calibri" pitchFamily="34" charset="-120"/>
              </a:rPr>
              <a:t>“Activating” only changes which python you get when you type `python`.</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731520"/>
            <a:ext cx="11002975" cy="676656"/>
          </a:xfrm>
          <a:prstGeom prst="rect">
            <a:avLst/>
          </a:prstGeom>
          <a:noFill/>
          <a:ln/>
        </p:spPr>
        <p:txBody>
          <a:bodyPr wrap="square" lIns="0" tIns="0" rIns="0" bIns="0" rtlCol="0" anchor="t"/>
          <a:lstStyle/>
          <a:p>
            <a:pPr marL="0" indent="0">
              <a:buNone/>
            </a:pPr>
            <a:r>
              <a:rPr lang="en-US" sz="3300" b="1" dirty="0">
                <a:solidFill>
                  <a:srgbClr val="121C22"/>
                </a:solidFill>
                <a:latin typeface="Calibri" pitchFamily="34" charset="0"/>
                <a:ea typeface="Calibri" pitchFamily="34" charset="-122"/>
                <a:cs typeface="Calibri" pitchFamily="34" charset="-120"/>
              </a:rPr>
              <a:t>How do I define the environment and share it?</a:t>
            </a:r>
            <a:endParaRPr lang="en-US" sz="3300" dirty="0"/>
          </a:p>
        </p:txBody>
      </p:sp>
      <p:sp>
        <p:nvSpPr>
          <p:cNvPr id="4" name="Shape 2"/>
          <p:cNvSpPr/>
          <p:nvPr/>
        </p:nvSpPr>
        <p:spPr>
          <a:xfrm>
            <a:off x="6199632" y="1645920"/>
            <a:ext cx="0" cy="4224528"/>
          </a:xfrm>
          <a:prstGeom prst="line">
            <a:avLst/>
          </a:prstGeom>
          <a:noFill/>
          <a:ln w="9525">
            <a:solidFill>
              <a:srgbClr val="D0DAE0"/>
            </a:solidFill>
            <a:prstDash val="solid"/>
          </a:ln>
        </p:spPr>
        <p:txBody>
          <a:bodyPr/>
          <a:lstStyle/>
          <a:p>
            <a:endParaRPr lang="en-US"/>
          </a:p>
        </p:txBody>
      </p:sp>
      <p:sp>
        <p:nvSpPr>
          <p:cNvPr id="5" name="Text 3"/>
          <p:cNvSpPr/>
          <p:nvPr/>
        </p:nvSpPr>
        <p:spPr>
          <a:xfrm>
            <a:off x="594360" y="1645920"/>
            <a:ext cx="5074920" cy="228600"/>
          </a:xfrm>
          <a:prstGeom prst="rect">
            <a:avLst/>
          </a:prstGeom>
          <a:noFill/>
          <a:ln/>
        </p:spPr>
        <p:txBody>
          <a:bodyPr wrap="square" lIns="0" tIns="0" rIns="0" bIns="0" rtlCol="0" anchor="ctr"/>
          <a:lstStyle/>
          <a:p>
            <a:pPr marL="0" indent="0" algn="l">
              <a:buNone/>
            </a:pPr>
            <a:r>
              <a:rPr lang="en-US" sz="950" b="1" kern="0" spc="110" dirty="0">
                <a:solidFill>
                  <a:srgbClr val="1F6B65"/>
                </a:solidFill>
                <a:latin typeface="Courier New" pitchFamily="34" charset="0"/>
                <a:ea typeface="Courier New" pitchFamily="34" charset="-122"/>
                <a:cs typeface="Courier New" pitchFamily="34" charset="-120"/>
              </a:rPr>
              <a:t>THE RECIPE</a:t>
            </a:r>
            <a:endParaRPr lang="en-US" sz="950" dirty="0"/>
          </a:p>
        </p:txBody>
      </p:sp>
      <p:sp>
        <p:nvSpPr>
          <p:cNvPr id="6" name="Text 4"/>
          <p:cNvSpPr/>
          <p:nvPr/>
        </p:nvSpPr>
        <p:spPr>
          <a:xfrm>
            <a:off x="594360" y="1901952"/>
            <a:ext cx="5074920" cy="320040"/>
          </a:xfrm>
          <a:prstGeom prst="rect">
            <a:avLst/>
          </a:prstGeom>
          <a:noFill/>
          <a:ln/>
        </p:spPr>
        <p:txBody>
          <a:bodyPr wrap="square" lIns="0" tIns="0" rIns="0" bIns="0" rtlCol="0" anchor="ctr"/>
          <a:lstStyle/>
          <a:p>
            <a:pPr marL="0" indent="0">
              <a:buNone/>
            </a:pPr>
            <a:r>
              <a:rPr lang="en-US" sz="1900" b="1" dirty="0" err="1">
                <a:solidFill>
                  <a:srgbClr val="121C22"/>
                </a:solidFill>
                <a:latin typeface="Courier New" pitchFamily="34" charset="0"/>
                <a:ea typeface="Courier New" pitchFamily="34" charset="-122"/>
                <a:cs typeface="Courier New" pitchFamily="34" charset="-120"/>
              </a:rPr>
              <a:t>pyproject.toml</a:t>
            </a:r>
            <a:endParaRPr lang="en-US" sz="1900" dirty="0"/>
          </a:p>
        </p:txBody>
      </p:sp>
      <p:sp>
        <p:nvSpPr>
          <p:cNvPr id="7" name="Text 5"/>
          <p:cNvSpPr/>
          <p:nvPr/>
        </p:nvSpPr>
        <p:spPr>
          <a:xfrm>
            <a:off x="594360" y="2249424"/>
            <a:ext cx="5074920" cy="228600"/>
          </a:xfrm>
          <a:prstGeom prst="rect">
            <a:avLst/>
          </a:prstGeom>
          <a:noFill/>
          <a:ln/>
        </p:spPr>
        <p:txBody>
          <a:bodyPr wrap="square" lIns="0" tIns="0" rIns="0" bIns="0" rtlCol="0" anchor="ctr"/>
          <a:lstStyle/>
          <a:p>
            <a:pPr marL="0" indent="0">
              <a:buNone/>
            </a:pPr>
            <a:r>
              <a:rPr lang="en-US" sz="1400" b="1" i="1" dirty="0">
                <a:solidFill>
                  <a:srgbClr val="55656F"/>
                </a:solidFill>
                <a:latin typeface="Calibri" pitchFamily="34" charset="0"/>
                <a:ea typeface="Calibri" pitchFamily="34" charset="-122"/>
                <a:cs typeface="Calibri" pitchFamily="34" charset="-120"/>
              </a:rPr>
              <a:t>or</a:t>
            </a:r>
            <a:r>
              <a:rPr lang="en-US" sz="1400" i="1" dirty="0">
                <a:solidFill>
                  <a:srgbClr val="55656F"/>
                </a:solidFill>
                <a:latin typeface="Calibri" pitchFamily="34" charset="0"/>
                <a:ea typeface="Calibri" pitchFamily="34" charset="-122"/>
                <a:cs typeface="Calibri" pitchFamily="34" charset="-120"/>
              </a:rPr>
              <a:t> </a:t>
            </a:r>
            <a:r>
              <a:rPr lang="en-US" sz="1400" i="1" dirty="0" err="1">
                <a:solidFill>
                  <a:srgbClr val="55656F"/>
                </a:solidFill>
                <a:latin typeface="Calibri" pitchFamily="34" charset="0"/>
                <a:ea typeface="Calibri" pitchFamily="34" charset="-122"/>
                <a:cs typeface="Calibri" pitchFamily="34" charset="-120"/>
              </a:rPr>
              <a:t>requirements.txt</a:t>
            </a:r>
            <a:r>
              <a:rPr lang="en-US" sz="1400" i="1" dirty="0">
                <a:solidFill>
                  <a:srgbClr val="55656F"/>
                </a:solidFill>
                <a:latin typeface="Calibri" pitchFamily="34" charset="0"/>
                <a:ea typeface="Calibri" pitchFamily="34" charset="-122"/>
                <a:cs typeface="Calibri" pitchFamily="34" charset="-120"/>
              </a:rPr>
              <a:t> </a:t>
            </a:r>
            <a:r>
              <a:rPr lang="en-US" sz="1400" b="1" i="1" dirty="0">
                <a:solidFill>
                  <a:srgbClr val="55656F"/>
                </a:solidFill>
                <a:latin typeface="Calibri" pitchFamily="34" charset="0"/>
                <a:ea typeface="Calibri" pitchFamily="34" charset="-122"/>
                <a:cs typeface="Calibri" pitchFamily="34" charset="-120"/>
              </a:rPr>
              <a:t>or </a:t>
            </a:r>
            <a:r>
              <a:rPr lang="en-US" sz="1400" i="1" dirty="0" err="1">
                <a:solidFill>
                  <a:srgbClr val="55656F"/>
                </a:solidFill>
                <a:latin typeface="Calibri" pitchFamily="34" charset="0"/>
                <a:ea typeface="Calibri" pitchFamily="34" charset="-122"/>
                <a:cs typeface="Calibri" pitchFamily="34" charset="-120"/>
              </a:rPr>
              <a:t>my_env.yml</a:t>
            </a:r>
            <a:endParaRPr lang="en-US" sz="1400" b="1" dirty="0"/>
          </a:p>
        </p:txBody>
      </p:sp>
      <p:sp>
        <p:nvSpPr>
          <p:cNvPr id="8" name="Text 6"/>
          <p:cNvSpPr/>
          <p:nvPr/>
        </p:nvSpPr>
        <p:spPr>
          <a:xfrm>
            <a:off x="6446520" y="1645920"/>
            <a:ext cx="5074920" cy="228600"/>
          </a:xfrm>
          <a:prstGeom prst="rect">
            <a:avLst/>
          </a:prstGeom>
          <a:noFill/>
          <a:ln/>
        </p:spPr>
        <p:txBody>
          <a:bodyPr wrap="square" lIns="0" tIns="0" rIns="0" bIns="0" rtlCol="0" anchor="ctr"/>
          <a:lstStyle/>
          <a:p>
            <a:pPr marL="0" indent="0" algn="l">
              <a:buNone/>
            </a:pPr>
            <a:r>
              <a:rPr lang="en-US" sz="950" b="1" kern="0" spc="110" dirty="0">
                <a:solidFill>
                  <a:srgbClr val="C07A10"/>
                </a:solidFill>
                <a:latin typeface="Courier New" pitchFamily="34" charset="0"/>
                <a:ea typeface="Courier New" pitchFamily="34" charset="-122"/>
                <a:cs typeface="Courier New" pitchFamily="34" charset="-120"/>
              </a:rPr>
              <a:t>THE RECEIPT</a:t>
            </a:r>
            <a:endParaRPr lang="en-US" sz="950" dirty="0"/>
          </a:p>
        </p:txBody>
      </p:sp>
      <p:sp>
        <p:nvSpPr>
          <p:cNvPr id="9" name="Text 7"/>
          <p:cNvSpPr/>
          <p:nvPr/>
        </p:nvSpPr>
        <p:spPr>
          <a:xfrm>
            <a:off x="6446520" y="1901952"/>
            <a:ext cx="5074920" cy="320040"/>
          </a:xfrm>
          <a:prstGeom prst="rect">
            <a:avLst/>
          </a:prstGeom>
          <a:noFill/>
          <a:ln/>
        </p:spPr>
        <p:txBody>
          <a:bodyPr wrap="square" lIns="0" tIns="0" rIns="0" bIns="0" rtlCol="0" anchor="ctr"/>
          <a:lstStyle/>
          <a:p>
            <a:pPr marL="0" indent="0">
              <a:buNone/>
            </a:pPr>
            <a:r>
              <a:rPr lang="en-US" sz="1900" b="1" dirty="0" err="1">
                <a:solidFill>
                  <a:srgbClr val="121C22"/>
                </a:solidFill>
                <a:latin typeface="Courier New" pitchFamily="34" charset="0"/>
                <a:ea typeface="Courier New" pitchFamily="34" charset="-122"/>
                <a:cs typeface="Courier New" pitchFamily="34" charset="-120"/>
              </a:rPr>
              <a:t>uv.lock</a:t>
            </a:r>
            <a:r>
              <a:rPr lang="en-US" sz="1900" b="1" dirty="0">
                <a:solidFill>
                  <a:srgbClr val="121C22"/>
                </a:solidFill>
                <a:latin typeface="Courier New" pitchFamily="34" charset="0"/>
                <a:ea typeface="Courier New" pitchFamily="34" charset="-122"/>
                <a:cs typeface="Courier New" pitchFamily="34" charset="-120"/>
              </a:rPr>
              <a:t> or </a:t>
            </a:r>
            <a:r>
              <a:rPr lang="en-US" sz="1900" b="1" dirty="0" err="1">
                <a:solidFill>
                  <a:srgbClr val="121C22"/>
                </a:solidFill>
                <a:latin typeface="Courier New" pitchFamily="34" charset="0"/>
                <a:ea typeface="Courier New" pitchFamily="34" charset="-122"/>
                <a:cs typeface="Courier New" pitchFamily="34" charset="-120"/>
              </a:rPr>
              <a:t>poetry.lock</a:t>
            </a:r>
            <a:r>
              <a:rPr lang="en-US" sz="1900" b="1" dirty="0">
                <a:solidFill>
                  <a:srgbClr val="121C22"/>
                </a:solidFill>
                <a:latin typeface="Courier New" pitchFamily="34" charset="0"/>
                <a:ea typeface="Courier New" pitchFamily="34" charset="-122"/>
                <a:cs typeface="Courier New" pitchFamily="34" charset="-120"/>
              </a:rPr>
              <a:t> </a:t>
            </a:r>
            <a:endParaRPr lang="en-US" sz="1900" dirty="0"/>
          </a:p>
        </p:txBody>
      </p:sp>
      <p:sp>
        <p:nvSpPr>
          <p:cNvPr id="10" name="Text 8"/>
          <p:cNvSpPr/>
          <p:nvPr/>
        </p:nvSpPr>
        <p:spPr>
          <a:xfrm>
            <a:off x="6446520" y="2249424"/>
            <a:ext cx="5074920" cy="228600"/>
          </a:xfrm>
          <a:prstGeom prst="rect">
            <a:avLst/>
          </a:prstGeom>
          <a:noFill/>
          <a:ln/>
        </p:spPr>
        <p:txBody>
          <a:bodyPr wrap="square" lIns="0" tIns="0" rIns="0" bIns="0" rtlCol="0" anchor="ctr"/>
          <a:lstStyle/>
          <a:p>
            <a:pPr marL="0" indent="0">
              <a:buNone/>
            </a:pPr>
            <a:r>
              <a:rPr lang="en-US" sz="1150" i="1" dirty="0">
                <a:solidFill>
                  <a:srgbClr val="55656F"/>
                </a:solidFill>
                <a:latin typeface="Calibri" pitchFamily="34" charset="0"/>
                <a:ea typeface="Calibri" pitchFamily="34" charset="-122"/>
                <a:cs typeface="Calibri" pitchFamily="34" charset="-120"/>
              </a:rPr>
              <a:t>generated, never edited</a:t>
            </a:r>
            <a:endParaRPr lang="en-US" sz="1150" dirty="0"/>
          </a:p>
        </p:txBody>
      </p:sp>
      <p:sp>
        <p:nvSpPr>
          <p:cNvPr id="11" name="Shape 9"/>
          <p:cNvSpPr/>
          <p:nvPr/>
        </p:nvSpPr>
        <p:spPr>
          <a:xfrm>
            <a:off x="594360" y="2606040"/>
            <a:ext cx="5074920" cy="1234440"/>
          </a:xfrm>
          <a:prstGeom prst="rect">
            <a:avLst/>
          </a:prstGeom>
          <a:solidFill>
            <a:srgbClr val="121C22"/>
          </a:solidFill>
          <a:ln/>
        </p:spPr>
        <p:txBody>
          <a:bodyPr/>
          <a:lstStyle/>
          <a:p>
            <a:endParaRPr lang="en-US"/>
          </a:p>
        </p:txBody>
      </p:sp>
      <p:sp>
        <p:nvSpPr>
          <p:cNvPr id="12" name="Text 10"/>
          <p:cNvSpPr/>
          <p:nvPr/>
        </p:nvSpPr>
        <p:spPr>
          <a:xfrm>
            <a:off x="749808" y="2724912"/>
            <a:ext cx="4764024" cy="996696"/>
          </a:xfrm>
          <a:prstGeom prst="rect">
            <a:avLst/>
          </a:prstGeom>
          <a:noFill/>
          <a:ln/>
        </p:spPr>
        <p:txBody>
          <a:bodyPr wrap="square" lIns="0" tIns="0" rIns="0" bIns="0" rtlCol="0" anchor="t"/>
          <a:lstStyle/>
          <a:p>
            <a:pPr marL="0" indent="0">
              <a:lnSpc>
                <a:spcPct val="118000"/>
              </a:lnSpc>
              <a:buNone/>
            </a:pPr>
            <a:r>
              <a:rPr lang="en-US" sz="1300" dirty="0">
                <a:solidFill>
                  <a:srgbClr val="DCE6EA"/>
                </a:solidFill>
                <a:latin typeface="Courier New" pitchFamily="34" charset="0"/>
                <a:ea typeface="Courier New" pitchFamily="34" charset="-122"/>
                <a:cs typeface="Courier New" pitchFamily="34" charset="-120"/>
              </a:rPr>
              <a:t>dependencies = [</a:t>
            </a:r>
            <a:endParaRPr lang="en-US" sz="1300" dirty="0"/>
          </a:p>
          <a:p>
            <a:pPr marL="0" indent="0">
              <a:lnSpc>
                <a:spcPct val="118000"/>
              </a:lnSpc>
              <a:buNone/>
            </a:pPr>
            <a:r>
              <a:rPr lang="en-US" sz="1300" dirty="0">
                <a:solidFill>
                  <a:srgbClr val="DCE6EA"/>
                </a:solidFill>
                <a:latin typeface="Courier New" pitchFamily="34" charset="0"/>
                <a:ea typeface="Courier New" pitchFamily="34" charset="-122"/>
                <a:cs typeface="Courier New" pitchFamily="34" charset="-120"/>
              </a:rPr>
              <a:t>  "pandas&gt;=2.0",</a:t>
            </a:r>
            <a:endParaRPr lang="en-US" sz="1300" dirty="0"/>
          </a:p>
          <a:p>
            <a:pPr marL="0" indent="0">
              <a:lnSpc>
                <a:spcPct val="118000"/>
              </a:lnSpc>
              <a:buNone/>
            </a:pPr>
            <a:r>
              <a:rPr lang="en-US" sz="1300" dirty="0">
                <a:solidFill>
                  <a:srgbClr val="DCE6EA"/>
                </a:solidFill>
                <a:latin typeface="Courier New" pitchFamily="34" charset="0"/>
                <a:ea typeface="Courier New" pitchFamily="34" charset="-122"/>
                <a:cs typeface="Courier New" pitchFamily="34" charset="-120"/>
              </a:rPr>
              <a:t>  "requests",</a:t>
            </a:r>
            <a:endParaRPr lang="en-US" sz="1300" dirty="0"/>
          </a:p>
          <a:p>
            <a:pPr marL="0" indent="0">
              <a:lnSpc>
                <a:spcPct val="118000"/>
              </a:lnSpc>
              <a:buNone/>
            </a:pPr>
            <a:r>
              <a:rPr lang="en-US" sz="1300" dirty="0">
                <a:solidFill>
                  <a:srgbClr val="DCE6EA"/>
                </a:solidFill>
                <a:latin typeface="Courier New" pitchFamily="34" charset="0"/>
                <a:ea typeface="Courier New" pitchFamily="34" charset="-122"/>
                <a:cs typeface="Courier New" pitchFamily="34" charset="-120"/>
              </a:rPr>
              <a:t>]</a:t>
            </a:r>
            <a:endParaRPr lang="en-US" sz="1300" dirty="0"/>
          </a:p>
        </p:txBody>
      </p:sp>
      <p:sp>
        <p:nvSpPr>
          <p:cNvPr id="13" name="Shape 11"/>
          <p:cNvSpPr/>
          <p:nvPr/>
        </p:nvSpPr>
        <p:spPr>
          <a:xfrm>
            <a:off x="6446520" y="2606040"/>
            <a:ext cx="5074920" cy="1234440"/>
          </a:xfrm>
          <a:prstGeom prst="rect">
            <a:avLst/>
          </a:prstGeom>
          <a:solidFill>
            <a:srgbClr val="121C22"/>
          </a:solidFill>
          <a:ln/>
        </p:spPr>
        <p:txBody>
          <a:bodyPr/>
          <a:lstStyle/>
          <a:p>
            <a:endParaRPr lang="en-US"/>
          </a:p>
        </p:txBody>
      </p:sp>
      <p:sp>
        <p:nvSpPr>
          <p:cNvPr id="14" name="Text 12"/>
          <p:cNvSpPr/>
          <p:nvPr/>
        </p:nvSpPr>
        <p:spPr>
          <a:xfrm>
            <a:off x="6601968" y="2724912"/>
            <a:ext cx="4764024" cy="996696"/>
          </a:xfrm>
          <a:prstGeom prst="rect">
            <a:avLst/>
          </a:prstGeom>
          <a:noFill/>
          <a:ln/>
        </p:spPr>
        <p:txBody>
          <a:bodyPr wrap="square" lIns="0" tIns="0" rIns="0" bIns="0" rtlCol="0" anchor="t"/>
          <a:lstStyle/>
          <a:p>
            <a:pPr marL="0" indent="0">
              <a:lnSpc>
                <a:spcPct val="118000"/>
              </a:lnSpc>
              <a:buNone/>
            </a:pPr>
            <a:r>
              <a:rPr lang="en-US" sz="1300" dirty="0">
                <a:solidFill>
                  <a:srgbClr val="DCE6EA"/>
                </a:solidFill>
                <a:latin typeface="Courier New" pitchFamily="34" charset="0"/>
                <a:ea typeface="Courier New" pitchFamily="34" charset="-122"/>
                <a:cs typeface="Courier New" pitchFamily="34" charset="-120"/>
              </a:rPr>
              <a:t>pandas==2.2.3</a:t>
            </a:r>
            <a:endParaRPr lang="en-US" sz="1300" dirty="0"/>
          </a:p>
          <a:p>
            <a:pPr marL="0" indent="0">
              <a:lnSpc>
                <a:spcPct val="118000"/>
              </a:lnSpc>
              <a:buNone/>
            </a:pPr>
            <a:r>
              <a:rPr lang="en-US" sz="1300" dirty="0">
                <a:solidFill>
                  <a:srgbClr val="DCE6EA"/>
                </a:solidFill>
                <a:latin typeface="Courier New" pitchFamily="34" charset="0"/>
                <a:ea typeface="Courier New" pitchFamily="34" charset="-122"/>
                <a:cs typeface="Courier New" pitchFamily="34" charset="-120"/>
              </a:rPr>
              <a:t>numpy==2.1.3</a:t>
            </a:r>
            <a:endParaRPr lang="en-US" sz="1300" dirty="0"/>
          </a:p>
          <a:p>
            <a:pPr marL="0" indent="0">
              <a:lnSpc>
                <a:spcPct val="118000"/>
              </a:lnSpc>
              <a:buNone/>
            </a:pPr>
            <a:r>
              <a:rPr lang="en-US" sz="1300" dirty="0">
                <a:solidFill>
                  <a:srgbClr val="DCE6EA"/>
                </a:solidFill>
                <a:latin typeface="Courier New" pitchFamily="34" charset="0"/>
                <a:ea typeface="Courier New" pitchFamily="34" charset="-122"/>
                <a:cs typeface="Courier New" pitchFamily="34" charset="-120"/>
              </a:rPr>
              <a:t>python-dateutil==2.9.0</a:t>
            </a:r>
            <a:endParaRPr lang="en-US" sz="1300" dirty="0"/>
          </a:p>
          <a:p>
            <a:pPr marL="0" indent="0">
              <a:lnSpc>
                <a:spcPct val="118000"/>
              </a:lnSpc>
              <a:buNone/>
            </a:pPr>
            <a:r>
              <a:rPr lang="en-US" sz="1300" dirty="0">
                <a:solidFill>
                  <a:srgbClr val="DCE6EA"/>
                </a:solidFill>
                <a:latin typeface="Courier New" pitchFamily="34" charset="0"/>
                <a:ea typeface="Courier New" pitchFamily="34" charset="-122"/>
                <a:cs typeface="Courier New" pitchFamily="34" charset="-120"/>
              </a:rPr>
              <a:t>…and 44 more, pinned exactly</a:t>
            </a:r>
            <a:endParaRPr lang="en-US" sz="1300" dirty="0"/>
          </a:p>
        </p:txBody>
      </p:sp>
      <p:sp>
        <p:nvSpPr>
          <p:cNvPr id="15" name="Shape 13"/>
          <p:cNvSpPr/>
          <p:nvPr/>
        </p:nvSpPr>
        <p:spPr>
          <a:xfrm>
            <a:off x="594360" y="4041648"/>
            <a:ext cx="11002975" cy="0"/>
          </a:xfrm>
          <a:prstGeom prst="line">
            <a:avLst/>
          </a:prstGeom>
          <a:noFill/>
          <a:ln w="12700">
            <a:solidFill>
              <a:srgbClr val="9EAEB8"/>
            </a:solidFill>
            <a:prstDash val="solid"/>
          </a:ln>
        </p:spPr>
        <p:txBody>
          <a:bodyPr/>
          <a:lstStyle/>
          <a:p>
            <a:endParaRPr lang="en-US"/>
          </a:p>
        </p:txBody>
      </p:sp>
      <p:sp>
        <p:nvSpPr>
          <p:cNvPr id="16" name="Text 14"/>
          <p:cNvSpPr/>
          <p:nvPr/>
        </p:nvSpPr>
        <p:spPr>
          <a:xfrm>
            <a:off x="594360" y="4123944"/>
            <a:ext cx="1371600" cy="256032"/>
          </a:xfrm>
          <a:prstGeom prst="rect">
            <a:avLst/>
          </a:prstGeom>
          <a:noFill/>
          <a:ln/>
        </p:spPr>
        <p:txBody>
          <a:bodyPr wrap="square" lIns="0" tIns="0" rIns="0" bIns="0" rtlCol="0" anchor="ctr"/>
          <a:lstStyle/>
          <a:p>
            <a:pPr marL="0" indent="0">
              <a:buNone/>
            </a:pPr>
            <a:r>
              <a:rPr lang="en-US" sz="900" b="1" kern="0" spc="60" dirty="0">
                <a:solidFill>
                  <a:srgbClr val="8A9AA4"/>
                </a:solidFill>
                <a:latin typeface="Courier New" pitchFamily="34" charset="0"/>
                <a:ea typeface="Courier New" pitchFamily="34" charset="-122"/>
                <a:cs typeface="Courier New" pitchFamily="34" charset="-120"/>
              </a:rPr>
              <a:t>WRITTEN BY</a:t>
            </a:r>
            <a:endParaRPr lang="en-US" sz="900" dirty="0"/>
          </a:p>
        </p:txBody>
      </p:sp>
      <p:sp>
        <p:nvSpPr>
          <p:cNvPr id="17" name="Text 15"/>
          <p:cNvSpPr/>
          <p:nvPr/>
        </p:nvSpPr>
        <p:spPr>
          <a:xfrm>
            <a:off x="2011680" y="4096512"/>
            <a:ext cx="4023360" cy="274320"/>
          </a:xfrm>
          <a:prstGeom prst="rect">
            <a:avLst/>
          </a:prstGeom>
          <a:noFill/>
          <a:ln/>
        </p:spPr>
        <p:txBody>
          <a:bodyPr wrap="square" lIns="0" tIns="0" rIns="0" bIns="0" rtlCol="0" anchor="ctr"/>
          <a:lstStyle/>
          <a:p>
            <a:pPr marL="0" indent="0">
              <a:buNone/>
            </a:pPr>
            <a:r>
              <a:rPr lang="en-US" sz="1250" dirty="0">
                <a:solidFill>
                  <a:srgbClr val="55656F"/>
                </a:solidFill>
                <a:latin typeface="Calibri" pitchFamily="34" charset="0"/>
                <a:ea typeface="Calibri" pitchFamily="34" charset="-122"/>
                <a:cs typeface="Calibri" pitchFamily="34" charset="-120"/>
              </a:rPr>
              <a:t>you, by hand</a:t>
            </a:r>
            <a:endParaRPr lang="en-US" sz="1250" dirty="0"/>
          </a:p>
        </p:txBody>
      </p:sp>
      <p:sp>
        <p:nvSpPr>
          <p:cNvPr id="18" name="Text 16"/>
          <p:cNvSpPr/>
          <p:nvPr/>
        </p:nvSpPr>
        <p:spPr>
          <a:xfrm>
            <a:off x="6446520" y="4096512"/>
            <a:ext cx="5074920" cy="274320"/>
          </a:xfrm>
          <a:prstGeom prst="rect">
            <a:avLst/>
          </a:prstGeom>
          <a:noFill/>
          <a:ln/>
        </p:spPr>
        <p:txBody>
          <a:bodyPr wrap="square" lIns="0" tIns="0" rIns="0" bIns="0" rtlCol="0" anchor="ctr"/>
          <a:lstStyle/>
          <a:p>
            <a:pPr marL="0" indent="0">
              <a:buNone/>
            </a:pPr>
            <a:r>
              <a:rPr lang="en-US" sz="1250" dirty="0">
                <a:solidFill>
                  <a:srgbClr val="55656F"/>
                </a:solidFill>
                <a:latin typeface="Calibri" pitchFamily="34" charset="0"/>
                <a:ea typeface="Calibri" pitchFamily="34" charset="-122"/>
                <a:cs typeface="Calibri" pitchFamily="34" charset="-120"/>
              </a:rPr>
              <a:t>the tool, you can view but shouldn’t edit</a:t>
            </a:r>
            <a:endParaRPr lang="en-US" sz="1250" dirty="0"/>
          </a:p>
        </p:txBody>
      </p:sp>
      <p:sp>
        <p:nvSpPr>
          <p:cNvPr id="19" name="Shape 17"/>
          <p:cNvSpPr/>
          <p:nvPr/>
        </p:nvSpPr>
        <p:spPr>
          <a:xfrm>
            <a:off x="594360" y="4407408"/>
            <a:ext cx="11002975" cy="0"/>
          </a:xfrm>
          <a:prstGeom prst="line">
            <a:avLst/>
          </a:prstGeom>
          <a:noFill/>
          <a:ln w="9525">
            <a:solidFill>
              <a:srgbClr val="D0DAE0"/>
            </a:solidFill>
            <a:prstDash val="solid"/>
          </a:ln>
        </p:spPr>
        <p:txBody>
          <a:bodyPr/>
          <a:lstStyle/>
          <a:p>
            <a:endParaRPr lang="en-US"/>
          </a:p>
        </p:txBody>
      </p:sp>
      <p:sp>
        <p:nvSpPr>
          <p:cNvPr id="20" name="Text 18"/>
          <p:cNvSpPr/>
          <p:nvPr/>
        </p:nvSpPr>
        <p:spPr>
          <a:xfrm>
            <a:off x="594360" y="4489704"/>
            <a:ext cx="1371600" cy="256032"/>
          </a:xfrm>
          <a:prstGeom prst="rect">
            <a:avLst/>
          </a:prstGeom>
          <a:noFill/>
          <a:ln/>
        </p:spPr>
        <p:txBody>
          <a:bodyPr wrap="square" lIns="0" tIns="0" rIns="0" bIns="0" rtlCol="0" anchor="ctr"/>
          <a:lstStyle/>
          <a:p>
            <a:pPr marL="0" indent="0">
              <a:buNone/>
            </a:pPr>
            <a:r>
              <a:rPr lang="en-US" sz="900" b="1" kern="0" spc="60" dirty="0">
                <a:solidFill>
                  <a:srgbClr val="8A9AA4"/>
                </a:solidFill>
                <a:latin typeface="Courier New" pitchFamily="34" charset="0"/>
                <a:ea typeface="Courier New" pitchFamily="34" charset="-122"/>
                <a:cs typeface="Courier New" pitchFamily="34" charset="-120"/>
              </a:rPr>
              <a:t>ANSWERS</a:t>
            </a:r>
            <a:endParaRPr lang="en-US" sz="900" dirty="0"/>
          </a:p>
        </p:txBody>
      </p:sp>
      <p:sp>
        <p:nvSpPr>
          <p:cNvPr id="21" name="Text 19"/>
          <p:cNvSpPr/>
          <p:nvPr/>
        </p:nvSpPr>
        <p:spPr>
          <a:xfrm>
            <a:off x="2011680" y="4462272"/>
            <a:ext cx="4023360" cy="274320"/>
          </a:xfrm>
          <a:prstGeom prst="rect">
            <a:avLst/>
          </a:prstGeom>
          <a:noFill/>
          <a:ln/>
        </p:spPr>
        <p:txBody>
          <a:bodyPr wrap="square" lIns="0" tIns="0" rIns="0" bIns="0" rtlCol="0" anchor="ctr"/>
          <a:lstStyle/>
          <a:p>
            <a:pPr marL="0" indent="0">
              <a:buNone/>
            </a:pPr>
            <a:r>
              <a:rPr lang="en-US" sz="1250" dirty="0">
                <a:solidFill>
                  <a:srgbClr val="55656F"/>
                </a:solidFill>
                <a:latin typeface="Calibri" pitchFamily="34" charset="0"/>
                <a:ea typeface="Calibri" pitchFamily="34" charset="-122"/>
                <a:cs typeface="Calibri" pitchFamily="34" charset="-120"/>
              </a:rPr>
              <a:t>what you asked for</a:t>
            </a:r>
            <a:endParaRPr lang="en-US" sz="1250" dirty="0"/>
          </a:p>
        </p:txBody>
      </p:sp>
      <p:sp>
        <p:nvSpPr>
          <p:cNvPr id="22" name="Text 20"/>
          <p:cNvSpPr/>
          <p:nvPr/>
        </p:nvSpPr>
        <p:spPr>
          <a:xfrm>
            <a:off x="6446520" y="4462272"/>
            <a:ext cx="5074920" cy="274320"/>
          </a:xfrm>
          <a:prstGeom prst="rect">
            <a:avLst/>
          </a:prstGeom>
          <a:noFill/>
          <a:ln/>
        </p:spPr>
        <p:txBody>
          <a:bodyPr wrap="square" lIns="0" tIns="0" rIns="0" bIns="0" rtlCol="0" anchor="ctr"/>
          <a:lstStyle/>
          <a:p>
            <a:pPr marL="0" indent="0">
              <a:buNone/>
            </a:pPr>
            <a:r>
              <a:rPr lang="en-US" sz="1250" dirty="0">
                <a:solidFill>
                  <a:srgbClr val="55656F"/>
                </a:solidFill>
                <a:latin typeface="Calibri" pitchFamily="34" charset="0"/>
                <a:ea typeface="Calibri" pitchFamily="34" charset="-122"/>
                <a:cs typeface="Calibri" pitchFamily="34" charset="-120"/>
              </a:rPr>
              <a:t>what you actually got</a:t>
            </a:r>
            <a:endParaRPr lang="en-US" sz="1250" dirty="0"/>
          </a:p>
        </p:txBody>
      </p:sp>
      <p:sp>
        <p:nvSpPr>
          <p:cNvPr id="23" name="Shape 21"/>
          <p:cNvSpPr/>
          <p:nvPr/>
        </p:nvSpPr>
        <p:spPr>
          <a:xfrm>
            <a:off x="594360" y="4773168"/>
            <a:ext cx="11002975" cy="0"/>
          </a:xfrm>
          <a:prstGeom prst="line">
            <a:avLst/>
          </a:prstGeom>
          <a:noFill/>
          <a:ln w="9525">
            <a:solidFill>
              <a:srgbClr val="D0DAE0"/>
            </a:solidFill>
            <a:prstDash val="solid"/>
          </a:ln>
        </p:spPr>
        <p:txBody>
          <a:bodyPr/>
          <a:lstStyle/>
          <a:p>
            <a:endParaRPr lang="en-US"/>
          </a:p>
        </p:txBody>
      </p:sp>
      <p:sp>
        <p:nvSpPr>
          <p:cNvPr id="24" name="Text 22"/>
          <p:cNvSpPr/>
          <p:nvPr/>
        </p:nvSpPr>
        <p:spPr>
          <a:xfrm>
            <a:off x="594360" y="4855464"/>
            <a:ext cx="1371600" cy="256032"/>
          </a:xfrm>
          <a:prstGeom prst="rect">
            <a:avLst/>
          </a:prstGeom>
          <a:noFill/>
          <a:ln/>
        </p:spPr>
        <p:txBody>
          <a:bodyPr wrap="square" lIns="0" tIns="0" rIns="0" bIns="0" rtlCol="0" anchor="ctr"/>
          <a:lstStyle/>
          <a:p>
            <a:pPr marL="0" indent="0">
              <a:buNone/>
            </a:pPr>
            <a:r>
              <a:rPr lang="en-US" sz="900" b="1" kern="0" spc="60" dirty="0">
                <a:solidFill>
                  <a:srgbClr val="8A9AA4"/>
                </a:solidFill>
                <a:latin typeface="Courier New" pitchFamily="34" charset="0"/>
                <a:ea typeface="Courier New" pitchFamily="34" charset="-122"/>
                <a:cs typeface="Courier New" pitchFamily="34" charset="-120"/>
              </a:rPr>
              <a:t>PRECISION</a:t>
            </a:r>
            <a:endParaRPr lang="en-US" sz="900" dirty="0"/>
          </a:p>
        </p:txBody>
      </p:sp>
      <p:sp>
        <p:nvSpPr>
          <p:cNvPr id="25" name="Text 23"/>
          <p:cNvSpPr/>
          <p:nvPr/>
        </p:nvSpPr>
        <p:spPr>
          <a:xfrm>
            <a:off x="2011680" y="4828032"/>
            <a:ext cx="4023360" cy="274320"/>
          </a:xfrm>
          <a:prstGeom prst="rect">
            <a:avLst/>
          </a:prstGeom>
          <a:noFill/>
          <a:ln/>
        </p:spPr>
        <p:txBody>
          <a:bodyPr wrap="square" lIns="0" tIns="0" rIns="0" bIns="0" rtlCol="0" anchor="ctr"/>
          <a:lstStyle/>
          <a:p>
            <a:pPr marL="0" indent="0">
              <a:buNone/>
            </a:pPr>
            <a:r>
              <a:rPr lang="en-US" sz="1250" dirty="0">
                <a:solidFill>
                  <a:srgbClr val="55656F"/>
                </a:solidFill>
                <a:latin typeface="Calibri" pitchFamily="34" charset="0"/>
                <a:ea typeface="Calibri" pitchFamily="34" charset="-122"/>
                <a:cs typeface="Calibri" pitchFamily="34" charset="-120"/>
              </a:rPr>
              <a:t>a range — vague on purpose</a:t>
            </a:r>
            <a:endParaRPr lang="en-US" sz="1250" dirty="0"/>
          </a:p>
        </p:txBody>
      </p:sp>
      <p:sp>
        <p:nvSpPr>
          <p:cNvPr id="26" name="Text 24"/>
          <p:cNvSpPr/>
          <p:nvPr/>
        </p:nvSpPr>
        <p:spPr>
          <a:xfrm>
            <a:off x="6446520" y="4828032"/>
            <a:ext cx="5074920" cy="274320"/>
          </a:xfrm>
          <a:prstGeom prst="rect">
            <a:avLst/>
          </a:prstGeom>
          <a:noFill/>
          <a:ln/>
        </p:spPr>
        <p:txBody>
          <a:bodyPr wrap="square" lIns="0" tIns="0" rIns="0" bIns="0" rtlCol="0" anchor="ctr"/>
          <a:lstStyle/>
          <a:p>
            <a:pPr marL="0" indent="0">
              <a:buNone/>
            </a:pPr>
            <a:r>
              <a:rPr lang="en-US" sz="1250" dirty="0">
                <a:solidFill>
                  <a:srgbClr val="55656F"/>
                </a:solidFill>
                <a:latin typeface="Calibri" pitchFamily="34" charset="0"/>
                <a:ea typeface="Calibri" pitchFamily="34" charset="-122"/>
                <a:cs typeface="Calibri" pitchFamily="34" charset="-120"/>
              </a:rPr>
              <a:t>one exact version, plus versions of the dependencies it has</a:t>
            </a:r>
            <a:endParaRPr lang="en-US" sz="1250" dirty="0"/>
          </a:p>
        </p:txBody>
      </p:sp>
      <p:sp>
        <p:nvSpPr>
          <p:cNvPr id="27" name="Shape 25"/>
          <p:cNvSpPr/>
          <p:nvPr/>
        </p:nvSpPr>
        <p:spPr>
          <a:xfrm>
            <a:off x="594360" y="5138928"/>
            <a:ext cx="11002975" cy="0"/>
          </a:xfrm>
          <a:prstGeom prst="line">
            <a:avLst/>
          </a:prstGeom>
          <a:noFill/>
          <a:ln w="9525">
            <a:solidFill>
              <a:srgbClr val="D0DAE0"/>
            </a:solidFill>
            <a:prstDash val="solid"/>
          </a:ln>
        </p:spPr>
        <p:txBody>
          <a:bodyPr/>
          <a:lstStyle/>
          <a:p>
            <a:endParaRPr lang="en-US"/>
          </a:p>
        </p:txBody>
      </p:sp>
      <p:sp>
        <p:nvSpPr>
          <p:cNvPr id="28" name="Text 26"/>
          <p:cNvSpPr/>
          <p:nvPr/>
        </p:nvSpPr>
        <p:spPr>
          <a:xfrm>
            <a:off x="594360" y="5221224"/>
            <a:ext cx="1371600" cy="256032"/>
          </a:xfrm>
          <a:prstGeom prst="rect">
            <a:avLst/>
          </a:prstGeom>
          <a:noFill/>
          <a:ln/>
        </p:spPr>
        <p:txBody>
          <a:bodyPr wrap="square" lIns="0" tIns="0" rIns="0" bIns="0" rtlCol="0" anchor="ctr"/>
          <a:lstStyle/>
          <a:p>
            <a:pPr marL="0" indent="0">
              <a:buNone/>
            </a:pPr>
            <a:r>
              <a:rPr lang="en-US" sz="900" b="1" kern="0" spc="60" dirty="0">
                <a:solidFill>
                  <a:srgbClr val="8A9AA4"/>
                </a:solidFill>
                <a:latin typeface="Courier New" pitchFamily="34" charset="0"/>
                <a:ea typeface="Courier New" pitchFamily="34" charset="-122"/>
                <a:cs typeface="Courier New" pitchFamily="34" charset="-120"/>
              </a:rPr>
              <a:t>IN GIT</a:t>
            </a:r>
            <a:endParaRPr lang="en-US" sz="900" dirty="0"/>
          </a:p>
        </p:txBody>
      </p:sp>
      <p:sp>
        <p:nvSpPr>
          <p:cNvPr id="29" name="Text 27"/>
          <p:cNvSpPr/>
          <p:nvPr/>
        </p:nvSpPr>
        <p:spPr>
          <a:xfrm>
            <a:off x="2011680" y="5193792"/>
            <a:ext cx="4023360" cy="274320"/>
          </a:xfrm>
          <a:prstGeom prst="rect">
            <a:avLst/>
          </a:prstGeom>
          <a:noFill/>
          <a:ln/>
        </p:spPr>
        <p:txBody>
          <a:bodyPr wrap="square" lIns="0" tIns="0" rIns="0" bIns="0" rtlCol="0" anchor="ctr"/>
          <a:lstStyle/>
          <a:p>
            <a:pPr marL="0" indent="0">
              <a:buNone/>
            </a:pPr>
            <a:r>
              <a:rPr lang="en-US" sz="1250" dirty="0">
                <a:solidFill>
                  <a:srgbClr val="55656F"/>
                </a:solidFill>
                <a:latin typeface="Calibri" pitchFamily="34" charset="0"/>
                <a:ea typeface="Calibri" pitchFamily="34" charset="-122"/>
                <a:cs typeface="Calibri" pitchFamily="34" charset="-120"/>
              </a:rPr>
              <a:t>yes</a:t>
            </a:r>
            <a:endParaRPr lang="en-US" sz="1250" dirty="0"/>
          </a:p>
        </p:txBody>
      </p:sp>
      <p:sp>
        <p:nvSpPr>
          <p:cNvPr id="30" name="Text 28"/>
          <p:cNvSpPr/>
          <p:nvPr/>
        </p:nvSpPr>
        <p:spPr>
          <a:xfrm>
            <a:off x="6446520" y="5193792"/>
            <a:ext cx="5074920" cy="274320"/>
          </a:xfrm>
          <a:prstGeom prst="rect">
            <a:avLst/>
          </a:prstGeom>
          <a:noFill/>
          <a:ln/>
        </p:spPr>
        <p:txBody>
          <a:bodyPr wrap="square" lIns="0" tIns="0" rIns="0" bIns="0" rtlCol="0" anchor="ctr"/>
          <a:lstStyle/>
          <a:p>
            <a:pPr marL="0" indent="0">
              <a:buNone/>
            </a:pPr>
            <a:r>
              <a:rPr lang="en-US" sz="1250" dirty="0">
                <a:solidFill>
                  <a:srgbClr val="55656F"/>
                </a:solidFill>
                <a:latin typeface="Calibri" pitchFamily="34" charset="0"/>
                <a:ea typeface="Calibri" pitchFamily="34" charset="-122"/>
                <a:cs typeface="Calibri" pitchFamily="34" charset="-120"/>
              </a:rPr>
              <a:t>yes for scripts and informal, no for packages and formal sharing</a:t>
            </a:r>
            <a:endParaRPr lang="en-US" sz="1250" dirty="0"/>
          </a:p>
        </p:txBody>
      </p:sp>
      <p:sp>
        <p:nvSpPr>
          <p:cNvPr id="31" name="Shape 29"/>
          <p:cNvSpPr/>
          <p:nvPr/>
        </p:nvSpPr>
        <p:spPr>
          <a:xfrm>
            <a:off x="594360" y="5504688"/>
            <a:ext cx="11002975" cy="0"/>
          </a:xfrm>
          <a:prstGeom prst="line">
            <a:avLst/>
          </a:prstGeom>
          <a:noFill/>
          <a:ln w="9525">
            <a:solidFill>
              <a:srgbClr val="D0DAE0"/>
            </a:solidFill>
            <a:prstDash val="solid"/>
          </a:ln>
        </p:spPr>
        <p:txBody>
          <a:bodyPr/>
          <a:lstStyle/>
          <a:p>
            <a:endParaRPr lang="en-US"/>
          </a:p>
        </p:txBody>
      </p:sp>
      <p:sp>
        <p:nvSpPr>
          <p:cNvPr id="32" name="Text 30"/>
          <p:cNvSpPr/>
          <p:nvPr/>
        </p:nvSpPr>
        <p:spPr>
          <a:xfrm>
            <a:off x="594360" y="5586984"/>
            <a:ext cx="1371600" cy="256032"/>
          </a:xfrm>
          <a:prstGeom prst="rect">
            <a:avLst/>
          </a:prstGeom>
          <a:noFill/>
          <a:ln/>
        </p:spPr>
        <p:txBody>
          <a:bodyPr wrap="square" lIns="0" tIns="0" rIns="0" bIns="0" rtlCol="0" anchor="ctr"/>
          <a:lstStyle/>
          <a:p>
            <a:pPr marL="0" indent="0">
              <a:buNone/>
            </a:pPr>
            <a:r>
              <a:rPr lang="en-US" sz="900" b="1" kern="0" spc="60" dirty="0">
                <a:solidFill>
                  <a:srgbClr val="8A9AA4"/>
                </a:solidFill>
                <a:latin typeface="Courier New" pitchFamily="34" charset="0"/>
                <a:ea typeface="Courier New" pitchFamily="34" charset="-122"/>
                <a:cs typeface="Courier New" pitchFamily="34" charset="-120"/>
              </a:rPr>
              <a:t>EDIT BY HAND</a:t>
            </a:r>
            <a:endParaRPr lang="en-US" sz="900" dirty="0"/>
          </a:p>
        </p:txBody>
      </p:sp>
      <p:sp>
        <p:nvSpPr>
          <p:cNvPr id="33" name="Text 31"/>
          <p:cNvSpPr/>
          <p:nvPr/>
        </p:nvSpPr>
        <p:spPr>
          <a:xfrm>
            <a:off x="2011680" y="5559552"/>
            <a:ext cx="4023360" cy="274320"/>
          </a:xfrm>
          <a:prstGeom prst="rect">
            <a:avLst/>
          </a:prstGeom>
          <a:noFill/>
          <a:ln/>
        </p:spPr>
        <p:txBody>
          <a:bodyPr wrap="square" lIns="0" tIns="0" rIns="0" bIns="0" rtlCol="0" anchor="ctr"/>
          <a:lstStyle/>
          <a:p>
            <a:pPr marL="0" indent="0">
              <a:buNone/>
            </a:pPr>
            <a:r>
              <a:rPr lang="en-US" sz="1250" dirty="0">
                <a:solidFill>
                  <a:srgbClr val="55656F"/>
                </a:solidFill>
                <a:latin typeface="Calibri" pitchFamily="34" charset="0"/>
                <a:ea typeface="Calibri" pitchFamily="34" charset="-122"/>
                <a:cs typeface="Calibri" pitchFamily="34" charset="-120"/>
              </a:rPr>
              <a:t>yes, that's the point</a:t>
            </a:r>
            <a:endParaRPr lang="en-US" sz="1250" dirty="0"/>
          </a:p>
        </p:txBody>
      </p:sp>
      <p:sp>
        <p:nvSpPr>
          <p:cNvPr id="34" name="Text 32"/>
          <p:cNvSpPr/>
          <p:nvPr/>
        </p:nvSpPr>
        <p:spPr>
          <a:xfrm>
            <a:off x="6446520" y="5559552"/>
            <a:ext cx="5074920" cy="274320"/>
          </a:xfrm>
          <a:prstGeom prst="rect">
            <a:avLst/>
          </a:prstGeom>
          <a:noFill/>
          <a:ln/>
        </p:spPr>
        <p:txBody>
          <a:bodyPr wrap="square" lIns="0" tIns="0" rIns="0" bIns="0" rtlCol="0" anchor="ctr"/>
          <a:lstStyle/>
          <a:p>
            <a:pPr marL="0" indent="0">
              <a:buNone/>
            </a:pPr>
            <a:r>
              <a:rPr lang="en-US" sz="1250" dirty="0">
                <a:solidFill>
                  <a:srgbClr val="55656F"/>
                </a:solidFill>
                <a:latin typeface="Calibri" pitchFamily="34" charset="0"/>
                <a:ea typeface="Calibri" pitchFamily="34" charset="-122"/>
                <a:cs typeface="Calibri" pitchFamily="34" charset="-120"/>
              </a:rPr>
              <a:t>never — change the recipe, regenerate</a:t>
            </a:r>
            <a:endParaRPr lang="en-US" sz="1250" dirty="0"/>
          </a:p>
        </p:txBody>
      </p:sp>
      <p:sp>
        <p:nvSpPr>
          <p:cNvPr id="35" name="Shape 33"/>
          <p:cNvSpPr/>
          <p:nvPr/>
        </p:nvSpPr>
        <p:spPr>
          <a:xfrm>
            <a:off x="594360" y="5870448"/>
            <a:ext cx="11002975" cy="0"/>
          </a:xfrm>
          <a:prstGeom prst="line">
            <a:avLst/>
          </a:prstGeom>
          <a:noFill/>
          <a:ln w="9525">
            <a:solidFill>
              <a:srgbClr val="D0DAE0"/>
            </a:solidFill>
            <a:prstDash val="solid"/>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72122" y="225009"/>
            <a:ext cx="11002975" cy="676656"/>
          </a:xfrm>
          <a:prstGeom prst="rect">
            <a:avLst/>
          </a:prstGeom>
          <a:noFill/>
          <a:ln/>
        </p:spPr>
        <p:txBody>
          <a:bodyPr wrap="square" lIns="0" tIns="0" rIns="0" bIns="0" rtlCol="0" anchor="t"/>
          <a:lstStyle/>
          <a:p>
            <a:pPr marL="0" indent="0" algn="ctr">
              <a:buNone/>
            </a:pPr>
            <a:r>
              <a:rPr lang="en-US" sz="3300" b="1" dirty="0">
                <a:solidFill>
                  <a:srgbClr val="121C22"/>
                </a:solidFill>
                <a:latin typeface="Calibri" pitchFamily="34" charset="0"/>
                <a:ea typeface="Calibri" pitchFamily="34" charset="-122"/>
                <a:cs typeface="Calibri" pitchFamily="34" charset="-120"/>
              </a:rPr>
              <a:t>There are MANY tools to help manage python</a:t>
            </a:r>
            <a:endParaRPr lang="en-US" sz="3300" dirty="0"/>
          </a:p>
        </p:txBody>
      </p:sp>
      <p:pic>
        <p:nvPicPr>
          <p:cNvPr id="2" name="Picture 1">
            <a:extLst>
              <a:ext uri="{FF2B5EF4-FFF2-40B4-BE49-F238E27FC236}">
                <a16:creationId xmlns:a16="http://schemas.microsoft.com/office/drawing/2014/main" id="{6907809C-C7F0-7851-6B1F-74916584A3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4636" y="901666"/>
            <a:ext cx="7137949" cy="5956334"/>
          </a:xfrm>
          <a:prstGeom prst="rect">
            <a:avLst/>
          </a:prstGeom>
          <a:noFill/>
          <a:extLst>
            <a:ext uri="{909E8E84-426E-40DD-AFC4-6F175D3DCCD1}">
              <a14:hiddenFill xmlns:a14="http://schemas.microsoft.com/office/drawing/2010/main">
                <a:solidFill>
                  <a:srgbClr val="FFFFFF"/>
                </a:solidFill>
              </a14:hiddenFill>
            </a:ext>
          </a:extLst>
        </p:spPr>
      </p:pic>
      <p:sp>
        <p:nvSpPr>
          <p:cNvPr id="54" name="TextBox 6">
            <a:extLst>
              <a:ext uri="{FF2B5EF4-FFF2-40B4-BE49-F238E27FC236}">
                <a16:creationId xmlns:a16="http://schemas.microsoft.com/office/drawing/2014/main" id="{117D1CBB-36BE-74ED-1473-B56F765803EE}"/>
              </a:ext>
            </a:extLst>
          </p:cNvPr>
          <p:cNvSpPr txBox="1"/>
          <p:nvPr/>
        </p:nvSpPr>
        <p:spPr>
          <a:xfrm>
            <a:off x="8649740" y="2802233"/>
            <a:ext cx="2569304" cy="584775"/>
          </a:xfrm>
          <a:prstGeom prst="rect">
            <a:avLst/>
          </a:prstGeom>
          <a:noFill/>
        </p:spPr>
        <p:txBody>
          <a:bodyPr wrap="square" rtlCol="0">
            <a:spAutoFit/>
          </a:bodyPr>
          <a:lstStyle>
            <a:defPPr>
              <a:defRPr lang="en-US"/>
            </a:defPPr>
            <a:lvl1pPr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1pPr>
            <a:lvl2pPr marL="457200"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2pPr>
            <a:lvl3pPr marL="914400"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3pPr>
            <a:lvl4pPr marL="1371600"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4pPr>
            <a:lvl5pPr marL="1828800"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5pPr>
            <a:lvl6pPr marL="2286000" algn="l" defTabSz="914400" rtl="0" eaLnBrk="1" latinLnBrk="0" hangingPunct="1">
              <a:defRPr sz="2000" kern="1200">
                <a:solidFill>
                  <a:schemeClr val="accent1"/>
                </a:solidFill>
                <a:latin typeface="Times New Roman" pitchFamily="18" charset="0"/>
                <a:ea typeface="MS PGothic" pitchFamily="34" charset="-128"/>
                <a:cs typeface="+mn-cs"/>
              </a:defRPr>
            </a:lvl6pPr>
            <a:lvl7pPr marL="2743200" algn="l" defTabSz="914400" rtl="0" eaLnBrk="1" latinLnBrk="0" hangingPunct="1">
              <a:defRPr sz="2000" kern="1200">
                <a:solidFill>
                  <a:schemeClr val="accent1"/>
                </a:solidFill>
                <a:latin typeface="Times New Roman" pitchFamily="18" charset="0"/>
                <a:ea typeface="MS PGothic" pitchFamily="34" charset="-128"/>
                <a:cs typeface="+mn-cs"/>
              </a:defRPr>
            </a:lvl7pPr>
            <a:lvl8pPr marL="3200400" algn="l" defTabSz="914400" rtl="0" eaLnBrk="1" latinLnBrk="0" hangingPunct="1">
              <a:defRPr sz="2000" kern="1200">
                <a:solidFill>
                  <a:schemeClr val="accent1"/>
                </a:solidFill>
                <a:latin typeface="Times New Roman" pitchFamily="18" charset="0"/>
                <a:ea typeface="MS PGothic" pitchFamily="34" charset="-128"/>
                <a:cs typeface="+mn-cs"/>
              </a:defRPr>
            </a:lvl8pPr>
            <a:lvl9pPr marL="3657600" algn="l" defTabSz="914400" rtl="0" eaLnBrk="1" latinLnBrk="0" hangingPunct="1">
              <a:defRPr sz="2000" kern="1200">
                <a:solidFill>
                  <a:schemeClr val="accent1"/>
                </a:solidFill>
                <a:latin typeface="Times New Roman" pitchFamily="18" charset="0"/>
                <a:ea typeface="MS PGothic" pitchFamily="34" charset="-128"/>
                <a:cs typeface="+mn-cs"/>
              </a:defRPr>
            </a:lvl9pPr>
          </a:lstStyle>
          <a:p>
            <a:pPr algn="l"/>
            <a:r>
              <a:rPr lang="en-US" sz="1600">
                <a:solidFill>
                  <a:schemeClr val="accent5"/>
                </a:solidFill>
                <a:latin typeface="+mn-lt"/>
              </a:rPr>
              <a:t>Install Python versions and switch between them easily</a:t>
            </a:r>
          </a:p>
        </p:txBody>
      </p:sp>
      <p:sp>
        <p:nvSpPr>
          <p:cNvPr id="55" name="TextBox 7">
            <a:extLst>
              <a:ext uri="{FF2B5EF4-FFF2-40B4-BE49-F238E27FC236}">
                <a16:creationId xmlns:a16="http://schemas.microsoft.com/office/drawing/2014/main" id="{CE31E52E-4738-725D-B011-572E0E9E51AC}"/>
              </a:ext>
            </a:extLst>
          </p:cNvPr>
          <p:cNvSpPr txBox="1"/>
          <p:nvPr/>
        </p:nvSpPr>
        <p:spPr>
          <a:xfrm>
            <a:off x="1271872" y="2598003"/>
            <a:ext cx="2265529" cy="1077218"/>
          </a:xfrm>
          <a:prstGeom prst="rect">
            <a:avLst/>
          </a:prstGeom>
          <a:noFill/>
        </p:spPr>
        <p:txBody>
          <a:bodyPr wrap="square" rtlCol="0">
            <a:spAutoFit/>
          </a:bodyPr>
          <a:lstStyle>
            <a:defPPr>
              <a:defRPr lang="en-US"/>
            </a:defPPr>
            <a:lvl1pPr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1pPr>
            <a:lvl2pPr marL="457200"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2pPr>
            <a:lvl3pPr marL="914400"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3pPr>
            <a:lvl4pPr marL="1371600"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4pPr>
            <a:lvl5pPr marL="1828800"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5pPr>
            <a:lvl6pPr marL="2286000" algn="l" defTabSz="914400" rtl="0" eaLnBrk="1" latinLnBrk="0" hangingPunct="1">
              <a:defRPr sz="2000" kern="1200">
                <a:solidFill>
                  <a:schemeClr val="accent1"/>
                </a:solidFill>
                <a:latin typeface="Times New Roman" pitchFamily="18" charset="0"/>
                <a:ea typeface="MS PGothic" pitchFamily="34" charset="-128"/>
                <a:cs typeface="+mn-cs"/>
              </a:defRPr>
            </a:lvl6pPr>
            <a:lvl7pPr marL="2743200" algn="l" defTabSz="914400" rtl="0" eaLnBrk="1" latinLnBrk="0" hangingPunct="1">
              <a:defRPr sz="2000" kern="1200">
                <a:solidFill>
                  <a:schemeClr val="accent1"/>
                </a:solidFill>
                <a:latin typeface="Times New Roman" pitchFamily="18" charset="0"/>
                <a:ea typeface="MS PGothic" pitchFamily="34" charset="-128"/>
                <a:cs typeface="+mn-cs"/>
              </a:defRPr>
            </a:lvl7pPr>
            <a:lvl8pPr marL="3200400" algn="l" defTabSz="914400" rtl="0" eaLnBrk="1" latinLnBrk="0" hangingPunct="1">
              <a:defRPr sz="2000" kern="1200">
                <a:solidFill>
                  <a:schemeClr val="accent1"/>
                </a:solidFill>
                <a:latin typeface="Times New Roman" pitchFamily="18" charset="0"/>
                <a:ea typeface="MS PGothic" pitchFamily="34" charset="-128"/>
                <a:cs typeface="+mn-cs"/>
              </a:defRPr>
            </a:lvl8pPr>
            <a:lvl9pPr marL="3657600" algn="l" defTabSz="914400" rtl="0" eaLnBrk="1" latinLnBrk="0" hangingPunct="1">
              <a:defRPr sz="2000" kern="1200">
                <a:solidFill>
                  <a:schemeClr val="accent1"/>
                </a:solidFill>
                <a:latin typeface="Times New Roman" pitchFamily="18" charset="0"/>
                <a:ea typeface="MS PGothic" pitchFamily="34" charset="-128"/>
                <a:cs typeface="+mn-cs"/>
              </a:defRPr>
            </a:lvl9pPr>
          </a:lstStyle>
          <a:p>
            <a:pPr algn="l"/>
            <a:r>
              <a:rPr lang="en-US" sz="1600">
                <a:solidFill>
                  <a:schemeClr val="accent5"/>
                </a:solidFill>
                <a:latin typeface="+mn-lt"/>
              </a:rPr>
              <a:t>Create and manage (virtual) environments with different dependencies</a:t>
            </a:r>
          </a:p>
        </p:txBody>
      </p:sp>
      <p:sp>
        <p:nvSpPr>
          <p:cNvPr id="56" name="TextBox 8">
            <a:extLst>
              <a:ext uri="{FF2B5EF4-FFF2-40B4-BE49-F238E27FC236}">
                <a16:creationId xmlns:a16="http://schemas.microsoft.com/office/drawing/2014/main" id="{A1A36758-1D62-DE85-0395-24357859F709}"/>
              </a:ext>
            </a:extLst>
          </p:cNvPr>
          <p:cNvSpPr txBox="1"/>
          <p:nvPr/>
        </p:nvSpPr>
        <p:spPr>
          <a:xfrm>
            <a:off x="7214098" y="1002641"/>
            <a:ext cx="3192894" cy="584775"/>
          </a:xfrm>
          <a:prstGeom prst="rect">
            <a:avLst/>
          </a:prstGeom>
          <a:noFill/>
        </p:spPr>
        <p:txBody>
          <a:bodyPr wrap="square" rtlCol="0">
            <a:spAutoFit/>
          </a:bodyPr>
          <a:lstStyle>
            <a:defPPr>
              <a:defRPr lang="en-US"/>
            </a:defPPr>
            <a:lvl1pPr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1pPr>
            <a:lvl2pPr marL="457200"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2pPr>
            <a:lvl3pPr marL="914400"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3pPr>
            <a:lvl4pPr marL="1371600"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4pPr>
            <a:lvl5pPr marL="1828800"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5pPr>
            <a:lvl6pPr marL="2286000" algn="l" defTabSz="914400" rtl="0" eaLnBrk="1" latinLnBrk="0" hangingPunct="1">
              <a:defRPr sz="2000" kern="1200">
                <a:solidFill>
                  <a:schemeClr val="accent1"/>
                </a:solidFill>
                <a:latin typeface="Times New Roman" pitchFamily="18" charset="0"/>
                <a:ea typeface="MS PGothic" pitchFamily="34" charset="-128"/>
                <a:cs typeface="+mn-cs"/>
              </a:defRPr>
            </a:lvl6pPr>
            <a:lvl7pPr marL="2743200" algn="l" defTabSz="914400" rtl="0" eaLnBrk="1" latinLnBrk="0" hangingPunct="1">
              <a:defRPr sz="2000" kern="1200">
                <a:solidFill>
                  <a:schemeClr val="accent1"/>
                </a:solidFill>
                <a:latin typeface="Times New Roman" pitchFamily="18" charset="0"/>
                <a:ea typeface="MS PGothic" pitchFamily="34" charset="-128"/>
                <a:cs typeface="+mn-cs"/>
              </a:defRPr>
            </a:lvl7pPr>
            <a:lvl8pPr marL="3200400" algn="l" defTabSz="914400" rtl="0" eaLnBrk="1" latinLnBrk="0" hangingPunct="1">
              <a:defRPr sz="2000" kern="1200">
                <a:solidFill>
                  <a:schemeClr val="accent1"/>
                </a:solidFill>
                <a:latin typeface="Times New Roman" pitchFamily="18" charset="0"/>
                <a:ea typeface="MS PGothic" pitchFamily="34" charset="-128"/>
                <a:cs typeface="+mn-cs"/>
              </a:defRPr>
            </a:lvl8pPr>
            <a:lvl9pPr marL="3657600" algn="l" defTabSz="914400" rtl="0" eaLnBrk="1" latinLnBrk="0" hangingPunct="1">
              <a:defRPr sz="2000" kern="1200">
                <a:solidFill>
                  <a:schemeClr val="accent1"/>
                </a:solidFill>
                <a:latin typeface="Times New Roman" pitchFamily="18" charset="0"/>
                <a:ea typeface="MS PGothic" pitchFamily="34" charset="-128"/>
                <a:cs typeface="+mn-cs"/>
              </a:defRPr>
            </a:lvl9pPr>
          </a:lstStyle>
          <a:p>
            <a:pPr algn="l"/>
            <a:r>
              <a:rPr lang="en-US" sz="1600">
                <a:solidFill>
                  <a:schemeClr val="accent5"/>
                </a:solidFill>
                <a:latin typeface="+mn-lt"/>
              </a:rPr>
              <a:t>Download and install libraries and packages (and their dependencies)</a:t>
            </a:r>
          </a:p>
        </p:txBody>
      </p:sp>
      <p:sp>
        <p:nvSpPr>
          <p:cNvPr id="57" name="TextBox 9">
            <a:extLst>
              <a:ext uri="{FF2B5EF4-FFF2-40B4-BE49-F238E27FC236}">
                <a16:creationId xmlns:a16="http://schemas.microsoft.com/office/drawing/2014/main" id="{A87AD11D-9291-5C6A-83D9-B9D0AA64767E}"/>
              </a:ext>
            </a:extLst>
          </p:cNvPr>
          <p:cNvSpPr txBox="1"/>
          <p:nvPr/>
        </p:nvSpPr>
        <p:spPr>
          <a:xfrm>
            <a:off x="972956" y="5371559"/>
            <a:ext cx="2265529" cy="584775"/>
          </a:xfrm>
          <a:prstGeom prst="rect">
            <a:avLst/>
          </a:prstGeom>
          <a:noFill/>
        </p:spPr>
        <p:txBody>
          <a:bodyPr wrap="square" rtlCol="0">
            <a:spAutoFit/>
          </a:bodyPr>
          <a:lstStyle>
            <a:defPPr>
              <a:defRPr lang="en-US"/>
            </a:defPPr>
            <a:lvl1pPr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1pPr>
            <a:lvl2pPr marL="457200"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2pPr>
            <a:lvl3pPr marL="914400"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3pPr>
            <a:lvl4pPr marL="1371600"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4pPr>
            <a:lvl5pPr marL="1828800"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5pPr>
            <a:lvl6pPr marL="2286000" algn="l" defTabSz="914400" rtl="0" eaLnBrk="1" latinLnBrk="0" hangingPunct="1">
              <a:defRPr sz="2000" kern="1200">
                <a:solidFill>
                  <a:schemeClr val="accent1"/>
                </a:solidFill>
                <a:latin typeface="Times New Roman" pitchFamily="18" charset="0"/>
                <a:ea typeface="MS PGothic" pitchFamily="34" charset="-128"/>
                <a:cs typeface="+mn-cs"/>
              </a:defRPr>
            </a:lvl6pPr>
            <a:lvl7pPr marL="2743200" algn="l" defTabSz="914400" rtl="0" eaLnBrk="1" latinLnBrk="0" hangingPunct="1">
              <a:defRPr sz="2000" kern="1200">
                <a:solidFill>
                  <a:schemeClr val="accent1"/>
                </a:solidFill>
                <a:latin typeface="Times New Roman" pitchFamily="18" charset="0"/>
                <a:ea typeface="MS PGothic" pitchFamily="34" charset="-128"/>
                <a:cs typeface="+mn-cs"/>
              </a:defRPr>
            </a:lvl7pPr>
            <a:lvl8pPr marL="3200400" algn="l" defTabSz="914400" rtl="0" eaLnBrk="1" latinLnBrk="0" hangingPunct="1">
              <a:defRPr sz="2000" kern="1200">
                <a:solidFill>
                  <a:schemeClr val="accent1"/>
                </a:solidFill>
                <a:latin typeface="Times New Roman" pitchFamily="18" charset="0"/>
                <a:ea typeface="MS PGothic" pitchFamily="34" charset="-128"/>
                <a:cs typeface="+mn-cs"/>
              </a:defRPr>
            </a:lvl8pPr>
            <a:lvl9pPr marL="3657600" algn="l" defTabSz="914400" rtl="0" eaLnBrk="1" latinLnBrk="0" hangingPunct="1">
              <a:defRPr sz="2000" kern="1200">
                <a:solidFill>
                  <a:schemeClr val="accent1"/>
                </a:solidFill>
                <a:latin typeface="Times New Roman" pitchFamily="18" charset="0"/>
                <a:ea typeface="MS PGothic" pitchFamily="34" charset="-128"/>
                <a:cs typeface="+mn-cs"/>
              </a:defRPr>
            </a:lvl9pPr>
          </a:lstStyle>
          <a:p>
            <a:pPr algn="l"/>
            <a:r>
              <a:rPr lang="en-US" sz="1600">
                <a:solidFill>
                  <a:schemeClr val="accent5"/>
                </a:solidFill>
                <a:latin typeface="+mn-lt"/>
              </a:rPr>
              <a:t>Share reusable code with others</a:t>
            </a:r>
          </a:p>
        </p:txBody>
      </p:sp>
      <p:sp>
        <p:nvSpPr>
          <p:cNvPr id="58" name="TextBox 10">
            <a:extLst>
              <a:ext uri="{FF2B5EF4-FFF2-40B4-BE49-F238E27FC236}">
                <a16:creationId xmlns:a16="http://schemas.microsoft.com/office/drawing/2014/main" id="{57074778-2F4B-375A-23B9-09F37F672C21}"/>
              </a:ext>
            </a:extLst>
          </p:cNvPr>
          <p:cNvSpPr txBox="1"/>
          <p:nvPr/>
        </p:nvSpPr>
        <p:spPr>
          <a:xfrm>
            <a:off x="8594125" y="5872352"/>
            <a:ext cx="2265529" cy="584775"/>
          </a:xfrm>
          <a:prstGeom prst="rect">
            <a:avLst/>
          </a:prstGeom>
          <a:noFill/>
        </p:spPr>
        <p:txBody>
          <a:bodyPr wrap="square" rtlCol="0">
            <a:spAutoFit/>
          </a:bodyPr>
          <a:lstStyle>
            <a:defPPr>
              <a:defRPr lang="en-US"/>
            </a:defPPr>
            <a:lvl1pPr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1pPr>
            <a:lvl2pPr marL="457200"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2pPr>
            <a:lvl3pPr marL="914400"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3pPr>
            <a:lvl4pPr marL="1371600"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4pPr>
            <a:lvl5pPr marL="1828800" algn="ctr" rtl="0" eaLnBrk="0" fontAlgn="base" hangingPunct="0">
              <a:spcBef>
                <a:spcPct val="0"/>
              </a:spcBef>
              <a:spcAft>
                <a:spcPct val="0"/>
              </a:spcAft>
              <a:defRPr sz="2000" kern="1200">
                <a:solidFill>
                  <a:schemeClr val="accent1"/>
                </a:solidFill>
                <a:latin typeface="Times New Roman" pitchFamily="18" charset="0"/>
                <a:ea typeface="MS PGothic" pitchFamily="34" charset="-128"/>
                <a:cs typeface="+mn-cs"/>
              </a:defRPr>
            </a:lvl5pPr>
            <a:lvl6pPr marL="2286000" algn="l" defTabSz="914400" rtl="0" eaLnBrk="1" latinLnBrk="0" hangingPunct="1">
              <a:defRPr sz="2000" kern="1200">
                <a:solidFill>
                  <a:schemeClr val="accent1"/>
                </a:solidFill>
                <a:latin typeface="Times New Roman" pitchFamily="18" charset="0"/>
                <a:ea typeface="MS PGothic" pitchFamily="34" charset="-128"/>
                <a:cs typeface="+mn-cs"/>
              </a:defRPr>
            </a:lvl6pPr>
            <a:lvl7pPr marL="2743200" algn="l" defTabSz="914400" rtl="0" eaLnBrk="1" latinLnBrk="0" hangingPunct="1">
              <a:defRPr sz="2000" kern="1200">
                <a:solidFill>
                  <a:schemeClr val="accent1"/>
                </a:solidFill>
                <a:latin typeface="Times New Roman" pitchFamily="18" charset="0"/>
                <a:ea typeface="MS PGothic" pitchFamily="34" charset="-128"/>
                <a:cs typeface="+mn-cs"/>
              </a:defRPr>
            </a:lvl7pPr>
            <a:lvl8pPr marL="3200400" algn="l" defTabSz="914400" rtl="0" eaLnBrk="1" latinLnBrk="0" hangingPunct="1">
              <a:defRPr sz="2000" kern="1200">
                <a:solidFill>
                  <a:schemeClr val="accent1"/>
                </a:solidFill>
                <a:latin typeface="Times New Roman" pitchFamily="18" charset="0"/>
                <a:ea typeface="MS PGothic" pitchFamily="34" charset="-128"/>
                <a:cs typeface="+mn-cs"/>
              </a:defRPr>
            </a:lvl8pPr>
            <a:lvl9pPr marL="3657600" algn="l" defTabSz="914400" rtl="0" eaLnBrk="1" latinLnBrk="0" hangingPunct="1">
              <a:defRPr sz="2000" kern="1200">
                <a:solidFill>
                  <a:schemeClr val="accent1"/>
                </a:solidFill>
                <a:latin typeface="Times New Roman" pitchFamily="18" charset="0"/>
                <a:ea typeface="MS PGothic" pitchFamily="34" charset="-128"/>
                <a:cs typeface="+mn-cs"/>
              </a:defRPr>
            </a:lvl9pPr>
          </a:lstStyle>
          <a:p>
            <a:pPr algn="l"/>
            <a:r>
              <a:rPr lang="en-US" sz="1600">
                <a:solidFill>
                  <a:schemeClr val="accent5"/>
                </a:solidFill>
                <a:latin typeface="+mn-lt"/>
              </a:rPr>
              <a:t>Organize code for reusability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731520"/>
            <a:ext cx="11002975" cy="676656"/>
          </a:xfrm>
          <a:prstGeom prst="rect">
            <a:avLst/>
          </a:prstGeom>
          <a:noFill/>
          <a:ln/>
        </p:spPr>
        <p:txBody>
          <a:bodyPr wrap="square" lIns="0" tIns="0" rIns="0" bIns="0" rtlCol="0" anchor="t"/>
          <a:lstStyle/>
          <a:p>
            <a:pPr marL="0" indent="0">
              <a:buNone/>
            </a:pPr>
            <a:r>
              <a:rPr lang="en-US" sz="3300" b="1" dirty="0">
                <a:solidFill>
                  <a:srgbClr val="121C22"/>
                </a:solidFill>
                <a:latin typeface="Calibri" pitchFamily="34" charset="0"/>
                <a:ea typeface="Calibri" pitchFamily="34" charset="-122"/>
                <a:cs typeface="Calibri" pitchFamily="34" charset="-120"/>
              </a:rPr>
              <a:t>uv against pip, same two tasks</a:t>
            </a:r>
            <a:endParaRPr lang="en-US" sz="3300" dirty="0"/>
          </a:p>
        </p:txBody>
      </p:sp>
      <p:sp>
        <p:nvSpPr>
          <p:cNvPr id="4" name="Text 2"/>
          <p:cNvSpPr/>
          <p:nvPr/>
        </p:nvSpPr>
        <p:spPr>
          <a:xfrm>
            <a:off x="594360" y="1645920"/>
            <a:ext cx="3840480"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TASK</a:t>
            </a:r>
            <a:endParaRPr lang="en-US" sz="950" dirty="0"/>
          </a:p>
        </p:txBody>
      </p:sp>
      <p:sp>
        <p:nvSpPr>
          <p:cNvPr id="5" name="Text 3"/>
          <p:cNvSpPr/>
          <p:nvPr/>
        </p:nvSpPr>
        <p:spPr>
          <a:xfrm>
            <a:off x="4572000" y="1645920"/>
            <a:ext cx="1554480" cy="228600"/>
          </a:xfrm>
          <a:prstGeom prst="rect">
            <a:avLst/>
          </a:prstGeom>
          <a:noFill/>
          <a:ln/>
        </p:spPr>
        <p:txBody>
          <a:bodyPr wrap="square" lIns="0" tIns="0" rIns="0" bIns="0" rtlCol="0" anchor="ctr"/>
          <a:lstStyle/>
          <a:p>
            <a:pPr marL="0" indent="0" algn="r">
              <a:buNone/>
            </a:pPr>
            <a:r>
              <a:rPr lang="en-US" sz="950" b="1" kern="0" spc="110" dirty="0">
                <a:solidFill>
                  <a:srgbClr val="55656F"/>
                </a:solidFill>
                <a:latin typeface="Courier New" pitchFamily="34" charset="0"/>
                <a:ea typeface="Courier New" pitchFamily="34" charset="-122"/>
                <a:cs typeface="Courier New" pitchFamily="34" charset="-120"/>
              </a:rPr>
              <a:t>pip + venv</a:t>
            </a:r>
            <a:endParaRPr lang="en-US" sz="950" dirty="0"/>
          </a:p>
        </p:txBody>
      </p:sp>
      <p:sp>
        <p:nvSpPr>
          <p:cNvPr id="6" name="Text 4"/>
          <p:cNvSpPr/>
          <p:nvPr/>
        </p:nvSpPr>
        <p:spPr>
          <a:xfrm>
            <a:off x="6309360" y="1645920"/>
            <a:ext cx="1554480" cy="228600"/>
          </a:xfrm>
          <a:prstGeom prst="rect">
            <a:avLst/>
          </a:prstGeom>
          <a:noFill/>
          <a:ln/>
        </p:spPr>
        <p:txBody>
          <a:bodyPr wrap="square" lIns="0" tIns="0" rIns="0" bIns="0" rtlCol="0" anchor="ctr"/>
          <a:lstStyle/>
          <a:p>
            <a:pPr marL="0" indent="0" algn="r">
              <a:buNone/>
            </a:pPr>
            <a:r>
              <a:rPr lang="en-US" sz="950" b="1" kern="0" spc="110" dirty="0">
                <a:solidFill>
                  <a:srgbClr val="55656F"/>
                </a:solidFill>
                <a:latin typeface="Courier New" pitchFamily="34" charset="0"/>
                <a:ea typeface="Courier New" pitchFamily="34" charset="-122"/>
                <a:cs typeface="Courier New" pitchFamily="34" charset="-120"/>
              </a:rPr>
              <a:t>uv, first run</a:t>
            </a:r>
            <a:endParaRPr lang="en-US" sz="950" dirty="0"/>
          </a:p>
        </p:txBody>
      </p:sp>
      <p:sp>
        <p:nvSpPr>
          <p:cNvPr id="7" name="Text 5"/>
          <p:cNvSpPr/>
          <p:nvPr/>
        </p:nvSpPr>
        <p:spPr>
          <a:xfrm>
            <a:off x="8046720" y="1645920"/>
            <a:ext cx="1554480" cy="228600"/>
          </a:xfrm>
          <a:prstGeom prst="rect">
            <a:avLst/>
          </a:prstGeom>
          <a:noFill/>
          <a:ln/>
        </p:spPr>
        <p:txBody>
          <a:bodyPr wrap="square" lIns="0" tIns="0" rIns="0" bIns="0" rtlCol="0" anchor="ctr"/>
          <a:lstStyle/>
          <a:p>
            <a:pPr marL="0" indent="0" algn="r">
              <a:buNone/>
            </a:pPr>
            <a:r>
              <a:rPr lang="en-US" sz="950" b="1" kern="0" spc="110" dirty="0">
                <a:solidFill>
                  <a:srgbClr val="55656F"/>
                </a:solidFill>
                <a:latin typeface="Courier New" pitchFamily="34" charset="0"/>
                <a:ea typeface="Courier New" pitchFamily="34" charset="-122"/>
                <a:cs typeface="Courier New" pitchFamily="34" charset="-120"/>
              </a:rPr>
              <a:t>uv, cached</a:t>
            </a:r>
            <a:endParaRPr lang="en-US" sz="950" dirty="0"/>
          </a:p>
        </p:txBody>
      </p:sp>
      <p:sp>
        <p:nvSpPr>
          <p:cNvPr id="9" name="Shape 7"/>
          <p:cNvSpPr/>
          <p:nvPr/>
        </p:nvSpPr>
        <p:spPr>
          <a:xfrm>
            <a:off x="594360" y="1920240"/>
            <a:ext cx="11002975" cy="0"/>
          </a:xfrm>
          <a:prstGeom prst="line">
            <a:avLst/>
          </a:prstGeom>
          <a:noFill/>
          <a:ln w="12700">
            <a:solidFill>
              <a:srgbClr val="9EAEB8"/>
            </a:solidFill>
            <a:prstDash val="solid"/>
          </a:ln>
        </p:spPr>
        <p:txBody>
          <a:bodyPr/>
          <a:lstStyle/>
          <a:p>
            <a:endParaRPr lang="en-US"/>
          </a:p>
        </p:txBody>
      </p:sp>
      <p:sp>
        <p:nvSpPr>
          <p:cNvPr id="10" name="Text 8"/>
          <p:cNvSpPr/>
          <p:nvPr/>
        </p:nvSpPr>
        <p:spPr>
          <a:xfrm>
            <a:off x="594360" y="1920240"/>
            <a:ext cx="3840480" cy="658368"/>
          </a:xfrm>
          <a:prstGeom prst="rect">
            <a:avLst/>
          </a:prstGeom>
          <a:noFill/>
          <a:ln/>
        </p:spPr>
        <p:txBody>
          <a:bodyPr wrap="square" lIns="0" tIns="0" rIns="0" bIns="0" rtlCol="0" anchor="ctr"/>
          <a:lstStyle/>
          <a:p>
            <a:pPr marL="0" indent="0">
              <a:buNone/>
            </a:pPr>
            <a:r>
              <a:rPr lang="en-US" sz="1400" dirty="0">
                <a:solidFill>
                  <a:srgbClr val="121C22"/>
                </a:solidFill>
                <a:latin typeface="Calibri" pitchFamily="34" charset="0"/>
                <a:ea typeface="Calibri" pitchFamily="34" charset="-122"/>
                <a:cs typeface="Calibri" pitchFamily="34" charset="-120"/>
              </a:rPr>
              <a:t>Create an environment</a:t>
            </a:r>
            <a:endParaRPr lang="en-US" sz="1400" dirty="0"/>
          </a:p>
        </p:txBody>
      </p:sp>
      <p:sp>
        <p:nvSpPr>
          <p:cNvPr id="11" name="Text 9"/>
          <p:cNvSpPr/>
          <p:nvPr/>
        </p:nvSpPr>
        <p:spPr>
          <a:xfrm>
            <a:off x="4572000" y="1920240"/>
            <a:ext cx="1554480" cy="658368"/>
          </a:xfrm>
          <a:prstGeom prst="rect">
            <a:avLst/>
          </a:prstGeom>
          <a:noFill/>
          <a:ln/>
        </p:spPr>
        <p:txBody>
          <a:bodyPr wrap="square" lIns="0" tIns="0" rIns="0" bIns="0" rtlCol="0" anchor="ctr"/>
          <a:lstStyle/>
          <a:p>
            <a:pPr marL="0" indent="0" algn="r">
              <a:buNone/>
            </a:pPr>
            <a:r>
              <a:rPr lang="en-US" sz="1400" dirty="0">
                <a:solidFill>
                  <a:srgbClr val="55656F"/>
                </a:solidFill>
                <a:latin typeface="Courier New" pitchFamily="34" charset="0"/>
                <a:ea typeface="Courier New" pitchFamily="34" charset="-122"/>
                <a:cs typeface="Courier New" pitchFamily="34" charset="-120"/>
              </a:rPr>
              <a:t>3.8 s</a:t>
            </a:r>
            <a:endParaRPr lang="en-US" sz="1400" dirty="0"/>
          </a:p>
        </p:txBody>
      </p:sp>
      <p:sp>
        <p:nvSpPr>
          <p:cNvPr id="12" name="Text 10"/>
          <p:cNvSpPr/>
          <p:nvPr/>
        </p:nvSpPr>
        <p:spPr>
          <a:xfrm>
            <a:off x="6309360" y="1920240"/>
            <a:ext cx="1554480" cy="658368"/>
          </a:xfrm>
          <a:prstGeom prst="rect">
            <a:avLst/>
          </a:prstGeom>
          <a:noFill/>
          <a:ln/>
        </p:spPr>
        <p:txBody>
          <a:bodyPr wrap="square" lIns="0" tIns="0" rIns="0" bIns="0" rtlCol="0" anchor="ctr"/>
          <a:lstStyle/>
          <a:p>
            <a:pPr marL="0" indent="0" algn="r">
              <a:buNone/>
            </a:pPr>
            <a:r>
              <a:rPr lang="en-US" sz="1400" dirty="0">
                <a:solidFill>
                  <a:srgbClr val="55656F"/>
                </a:solidFill>
                <a:latin typeface="Courier New" pitchFamily="34" charset="0"/>
                <a:ea typeface="Courier New" pitchFamily="34" charset="-122"/>
                <a:cs typeface="Courier New" pitchFamily="34" charset="-120"/>
              </a:rPr>
              <a:t>0.02 s</a:t>
            </a:r>
            <a:endParaRPr lang="en-US" sz="1400" dirty="0"/>
          </a:p>
        </p:txBody>
      </p:sp>
      <p:sp>
        <p:nvSpPr>
          <p:cNvPr id="13" name="Text 11"/>
          <p:cNvSpPr/>
          <p:nvPr/>
        </p:nvSpPr>
        <p:spPr>
          <a:xfrm>
            <a:off x="8046720" y="1920240"/>
            <a:ext cx="1554480" cy="658368"/>
          </a:xfrm>
          <a:prstGeom prst="rect">
            <a:avLst/>
          </a:prstGeom>
          <a:noFill/>
          <a:ln/>
        </p:spPr>
        <p:txBody>
          <a:bodyPr wrap="square" lIns="0" tIns="0" rIns="0" bIns="0" rtlCol="0" anchor="ctr"/>
          <a:lstStyle/>
          <a:p>
            <a:pPr marL="0" indent="0" algn="r">
              <a:buNone/>
            </a:pPr>
            <a:r>
              <a:rPr lang="en-US" sz="1400" b="1" dirty="0">
                <a:solidFill>
                  <a:srgbClr val="121C22"/>
                </a:solidFill>
                <a:latin typeface="Courier New" pitchFamily="34" charset="0"/>
                <a:ea typeface="Courier New" pitchFamily="34" charset="-122"/>
                <a:cs typeface="Courier New" pitchFamily="34" charset="-120"/>
              </a:rPr>
              <a:t>0.02 s</a:t>
            </a:r>
            <a:endParaRPr lang="en-US" sz="1400" dirty="0"/>
          </a:p>
        </p:txBody>
      </p:sp>
      <p:sp>
        <p:nvSpPr>
          <p:cNvPr id="15" name="Shape 13"/>
          <p:cNvSpPr/>
          <p:nvPr/>
        </p:nvSpPr>
        <p:spPr>
          <a:xfrm>
            <a:off x="594360" y="2578608"/>
            <a:ext cx="11002975" cy="0"/>
          </a:xfrm>
          <a:prstGeom prst="line">
            <a:avLst/>
          </a:prstGeom>
          <a:noFill/>
          <a:ln w="9525">
            <a:solidFill>
              <a:srgbClr val="D0DAE0"/>
            </a:solidFill>
            <a:prstDash val="solid"/>
          </a:ln>
        </p:spPr>
        <p:txBody>
          <a:bodyPr/>
          <a:lstStyle/>
          <a:p>
            <a:endParaRPr lang="en-US"/>
          </a:p>
        </p:txBody>
      </p:sp>
      <p:sp>
        <p:nvSpPr>
          <p:cNvPr id="16" name="Text 14"/>
          <p:cNvSpPr/>
          <p:nvPr/>
        </p:nvSpPr>
        <p:spPr>
          <a:xfrm>
            <a:off x="594360" y="2578608"/>
            <a:ext cx="3840480" cy="658368"/>
          </a:xfrm>
          <a:prstGeom prst="rect">
            <a:avLst/>
          </a:prstGeom>
          <a:noFill/>
          <a:ln/>
        </p:spPr>
        <p:txBody>
          <a:bodyPr wrap="square" lIns="0" tIns="0" rIns="0" bIns="0" rtlCol="0" anchor="ctr"/>
          <a:lstStyle/>
          <a:p>
            <a:pPr marL="0" indent="0">
              <a:buNone/>
            </a:pPr>
            <a:r>
              <a:rPr lang="en-US" sz="1400" dirty="0">
                <a:solidFill>
                  <a:srgbClr val="121C22"/>
                </a:solidFill>
                <a:latin typeface="Calibri" pitchFamily="34" charset="0"/>
                <a:ea typeface="Calibri" pitchFamily="34" charset="-122"/>
                <a:cs typeface="Calibri" pitchFamily="34" charset="-120"/>
              </a:rPr>
              <a:t>Install pandas + requests</a:t>
            </a:r>
            <a:endParaRPr lang="en-US" sz="1400" dirty="0"/>
          </a:p>
        </p:txBody>
      </p:sp>
      <p:sp>
        <p:nvSpPr>
          <p:cNvPr id="17" name="Text 15"/>
          <p:cNvSpPr/>
          <p:nvPr/>
        </p:nvSpPr>
        <p:spPr>
          <a:xfrm>
            <a:off x="4572000" y="2578608"/>
            <a:ext cx="1554480" cy="658368"/>
          </a:xfrm>
          <a:prstGeom prst="rect">
            <a:avLst/>
          </a:prstGeom>
          <a:noFill/>
          <a:ln/>
        </p:spPr>
        <p:txBody>
          <a:bodyPr wrap="square" lIns="0" tIns="0" rIns="0" bIns="0" rtlCol="0" anchor="ctr"/>
          <a:lstStyle/>
          <a:p>
            <a:pPr marL="0" indent="0" algn="r">
              <a:buNone/>
            </a:pPr>
            <a:r>
              <a:rPr lang="en-US" sz="1400" dirty="0">
                <a:solidFill>
                  <a:srgbClr val="55656F"/>
                </a:solidFill>
                <a:latin typeface="Courier New" pitchFamily="34" charset="0"/>
                <a:ea typeface="Courier New" pitchFamily="34" charset="-122"/>
                <a:cs typeface="Courier New" pitchFamily="34" charset="-120"/>
              </a:rPr>
              <a:t>10.8 s</a:t>
            </a:r>
            <a:endParaRPr lang="en-US" sz="1400" dirty="0"/>
          </a:p>
        </p:txBody>
      </p:sp>
      <p:sp>
        <p:nvSpPr>
          <p:cNvPr id="18" name="Text 16"/>
          <p:cNvSpPr/>
          <p:nvPr/>
        </p:nvSpPr>
        <p:spPr>
          <a:xfrm>
            <a:off x="6309360" y="2578608"/>
            <a:ext cx="1554480" cy="658368"/>
          </a:xfrm>
          <a:prstGeom prst="rect">
            <a:avLst/>
          </a:prstGeom>
          <a:noFill/>
          <a:ln/>
        </p:spPr>
        <p:txBody>
          <a:bodyPr wrap="square" lIns="0" tIns="0" rIns="0" bIns="0" rtlCol="0" anchor="ctr"/>
          <a:lstStyle/>
          <a:p>
            <a:pPr marL="0" indent="0" algn="r">
              <a:buNone/>
            </a:pPr>
            <a:r>
              <a:rPr lang="en-US" sz="1400" dirty="0">
                <a:solidFill>
                  <a:srgbClr val="55656F"/>
                </a:solidFill>
                <a:latin typeface="Courier New" pitchFamily="34" charset="0"/>
                <a:ea typeface="Courier New" pitchFamily="34" charset="-122"/>
                <a:cs typeface="Courier New" pitchFamily="34" charset="-120"/>
              </a:rPr>
              <a:t>2.7 s</a:t>
            </a:r>
            <a:endParaRPr lang="en-US" sz="1400" dirty="0"/>
          </a:p>
        </p:txBody>
      </p:sp>
      <p:sp>
        <p:nvSpPr>
          <p:cNvPr id="19" name="Text 17"/>
          <p:cNvSpPr/>
          <p:nvPr/>
        </p:nvSpPr>
        <p:spPr>
          <a:xfrm>
            <a:off x="8046720" y="2578608"/>
            <a:ext cx="1554480" cy="658368"/>
          </a:xfrm>
          <a:prstGeom prst="rect">
            <a:avLst/>
          </a:prstGeom>
          <a:noFill/>
          <a:ln/>
        </p:spPr>
        <p:txBody>
          <a:bodyPr wrap="square" lIns="0" tIns="0" rIns="0" bIns="0" rtlCol="0" anchor="ctr"/>
          <a:lstStyle/>
          <a:p>
            <a:pPr marL="0" indent="0" algn="r">
              <a:buNone/>
            </a:pPr>
            <a:r>
              <a:rPr lang="en-US" sz="1400" b="1" dirty="0">
                <a:solidFill>
                  <a:srgbClr val="121C22"/>
                </a:solidFill>
                <a:latin typeface="Courier New" pitchFamily="34" charset="0"/>
                <a:ea typeface="Courier New" pitchFamily="34" charset="-122"/>
                <a:cs typeface="Courier New" pitchFamily="34" charset="-120"/>
              </a:rPr>
              <a:t>0.10 s</a:t>
            </a:r>
            <a:endParaRPr lang="en-US" sz="1400" dirty="0"/>
          </a:p>
        </p:txBody>
      </p:sp>
      <p:sp>
        <p:nvSpPr>
          <p:cNvPr id="21" name="Shape 19"/>
          <p:cNvSpPr/>
          <p:nvPr/>
        </p:nvSpPr>
        <p:spPr>
          <a:xfrm>
            <a:off x="594360" y="3236976"/>
            <a:ext cx="11002975" cy="0"/>
          </a:xfrm>
          <a:prstGeom prst="line">
            <a:avLst/>
          </a:prstGeom>
          <a:noFill/>
          <a:ln w="9525">
            <a:solidFill>
              <a:srgbClr val="D0DAE0"/>
            </a:solidFill>
            <a:prstDash val="solid"/>
          </a:ln>
        </p:spPr>
        <p:txBody>
          <a:bodyPr/>
          <a:lstStyle/>
          <a:p>
            <a:endParaRPr lang="en-US"/>
          </a:p>
        </p:txBody>
      </p:sp>
      <p:sp>
        <p:nvSpPr>
          <p:cNvPr id="23" name="Shape 21"/>
          <p:cNvSpPr/>
          <p:nvPr/>
        </p:nvSpPr>
        <p:spPr>
          <a:xfrm>
            <a:off x="6199632" y="3794760"/>
            <a:ext cx="0" cy="2011680"/>
          </a:xfrm>
          <a:prstGeom prst="line">
            <a:avLst/>
          </a:prstGeom>
          <a:noFill/>
          <a:ln w="9525">
            <a:solidFill>
              <a:srgbClr val="D0DAE0"/>
            </a:solidFill>
            <a:prstDash val="solid"/>
          </a:ln>
        </p:spPr>
        <p:txBody>
          <a:bodyPr/>
          <a:lstStyle/>
          <a:p>
            <a:endParaRPr lang="en-US"/>
          </a:p>
        </p:txBody>
      </p:sp>
      <p:sp>
        <p:nvSpPr>
          <p:cNvPr id="24" name="Text 22"/>
          <p:cNvSpPr/>
          <p:nvPr/>
        </p:nvSpPr>
        <p:spPr>
          <a:xfrm>
            <a:off x="594360" y="3794760"/>
            <a:ext cx="5029200" cy="228600"/>
          </a:xfrm>
          <a:prstGeom prst="rect">
            <a:avLst/>
          </a:prstGeom>
          <a:noFill/>
          <a:ln/>
        </p:spPr>
        <p:txBody>
          <a:bodyPr wrap="square" lIns="0" tIns="0" rIns="0" bIns="0" rtlCol="0" anchor="ctr"/>
          <a:lstStyle/>
          <a:p>
            <a:pPr marL="0" indent="0" algn="l">
              <a:buNone/>
            </a:pPr>
            <a:r>
              <a:rPr lang="en-US" sz="950" b="1" kern="0" spc="110" dirty="0">
                <a:solidFill>
                  <a:srgbClr val="1F6B65"/>
                </a:solidFill>
                <a:latin typeface="Courier New" pitchFamily="34" charset="0"/>
                <a:ea typeface="Courier New" pitchFamily="34" charset="-122"/>
                <a:cs typeface="Courier New" pitchFamily="34" charset="-120"/>
              </a:rPr>
              <a:t>WHAT THIS BUYS</a:t>
            </a:r>
            <a:endParaRPr lang="en-US" sz="950" dirty="0"/>
          </a:p>
        </p:txBody>
      </p:sp>
      <p:sp>
        <p:nvSpPr>
          <p:cNvPr id="26" name="Text 24"/>
          <p:cNvSpPr/>
          <p:nvPr/>
        </p:nvSpPr>
        <p:spPr>
          <a:xfrm>
            <a:off x="594360" y="4096462"/>
            <a:ext cx="5029200" cy="420624"/>
          </a:xfrm>
          <a:prstGeom prst="rect">
            <a:avLst/>
          </a:prstGeom>
          <a:noFill/>
          <a:ln/>
        </p:spPr>
        <p:txBody>
          <a:bodyPr wrap="square" lIns="0" tIns="0" rIns="0" bIns="0" rtlCol="0" anchor="t"/>
          <a:lstStyle/>
          <a:p>
            <a:pPr marL="0" indent="0">
              <a:lnSpc>
                <a:spcPct val="115000"/>
              </a:lnSpc>
              <a:buNone/>
            </a:pPr>
            <a:r>
              <a:rPr lang="en-US" sz="1250" dirty="0">
                <a:solidFill>
                  <a:srgbClr val="55656F"/>
                </a:solidFill>
                <a:latin typeface="Calibri" pitchFamily="34" charset="0"/>
                <a:ea typeface="Calibri" pitchFamily="34" charset="-122"/>
                <a:cs typeface="Calibri" pitchFamily="34" charset="-120"/>
              </a:rPr>
              <a:t>One tool replaces many</a:t>
            </a:r>
            <a:endParaRPr lang="en-US" sz="1250" dirty="0"/>
          </a:p>
        </p:txBody>
      </p:sp>
      <p:sp>
        <p:nvSpPr>
          <p:cNvPr id="27" name="Text 25"/>
          <p:cNvSpPr/>
          <p:nvPr/>
        </p:nvSpPr>
        <p:spPr>
          <a:xfrm>
            <a:off x="594360" y="4453077"/>
            <a:ext cx="5029200" cy="420624"/>
          </a:xfrm>
          <a:prstGeom prst="rect">
            <a:avLst/>
          </a:prstGeom>
          <a:noFill/>
          <a:ln/>
        </p:spPr>
        <p:txBody>
          <a:bodyPr wrap="square" lIns="0" tIns="0" rIns="0" bIns="0" rtlCol="0" anchor="t"/>
          <a:lstStyle/>
          <a:p>
            <a:pPr marL="0" indent="0">
              <a:lnSpc>
                <a:spcPct val="115000"/>
              </a:lnSpc>
              <a:buNone/>
            </a:pPr>
            <a:r>
              <a:rPr lang="en-US" sz="1250" dirty="0">
                <a:solidFill>
                  <a:srgbClr val="55656F"/>
                </a:solidFill>
                <a:latin typeface="Calibri" pitchFamily="34" charset="0"/>
                <a:ea typeface="Calibri" pitchFamily="34" charset="-122"/>
                <a:cs typeface="Calibri" pitchFamily="34" charset="-120"/>
              </a:rPr>
              <a:t>It installs Python itself, the job conda did in most setups.</a:t>
            </a:r>
            <a:endParaRPr lang="en-US" sz="1250" dirty="0"/>
          </a:p>
        </p:txBody>
      </p:sp>
      <p:sp>
        <p:nvSpPr>
          <p:cNvPr id="28" name="Text 26"/>
          <p:cNvSpPr/>
          <p:nvPr/>
        </p:nvSpPr>
        <p:spPr>
          <a:xfrm>
            <a:off x="594360" y="4853480"/>
            <a:ext cx="5029200" cy="420624"/>
          </a:xfrm>
          <a:prstGeom prst="rect">
            <a:avLst/>
          </a:prstGeom>
          <a:noFill/>
          <a:ln/>
        </p:spPr>
        <p:txBody>
          <a:bodyPr wrap="square" lIns="0" tIns="0" rIns="0" bIns="0" rtlCol="0" anchor="t"/>
          <a:lstStyle/>
          <a:p>
            <a:pPr marL="0" indent="0">
              <a:lnSpc>
                <a:spcPct val="115000"/>
              </a:lnSpc>
              <a:buNone/>
            </a:pPr>
            <a:r>
              <a:rPr lang="en-US" sz="1250" dirty="0">
                <a:solidFill>
                  <a:srgbClr val="55656F"/>
                </a:solidFill>
                <a:latin typeface="Calibri" pitchFamily="34" charset="0"/>
                <a:ea typeface="Calibri" pitchFamily="34" charset="-122"/>
                <a:cs typeface="Calibri" pitchFamily="34" charset="-120"/>
              </a:rPr>
              <a:t>Standard </a:t>
            </a:r>
            <a:r>
              <a:rPr lang="en-US" sz="1250" dirty="0" err="1">
                <a:solidFill>
                  <a:srgbClr val="55656F"/>
                </a:solidFill>
                <a:latin typeface="Calibri" pitchFamily="34" charset="0"/>
                <a:ea typeface="Calibri" pitchFamily="34" charset="-122"/>
                <a:cs typeface="Calibri" pitchFamily="34" charset="-120"/>
              </a:rPr>
              <a:t>pyproject.toml</a:t>
            </a:r>
            <a:r>
              <a:rPr lang="en-US" sz="1250" dirty="0">
                <a:solidFill>
                  <a:srgbClr val="55656F"/>
                </a:solidFill>
                <a:latin typeface="Calibri" pitchFamily="34" charset="0"/>
                <a:ea typeface="Calibri" pitchFamily="34" charset="-122"/>
                <a:cs typeface="Calibri" pitchFamily="34" charset="-120"/>
              </a:rPr>
              <a:t>.</a:t>
            </a:r>
            <a:endParaRPr lang="en-US" sz="1250" dirty="0"/>
          </a:p>
        </p:txBody>
      </p:sp>
      <p:sp>
        <p:nvSpPr>
          <p:cNvPr id="29" name="Text 27"/>
          <p:cNvSpPr/>
          <p:nvPr/>
        </p:nvSpPr>
        <p:spPr>
          <a:xfrm>
            <a:off x="6446520" y="3794760"/>
            <a:ext cx="5029200" cy="228600"/>
          </a:xfrm>
          <a:prstGeom prst="rect">
            <a:avLst/>
          </a:prstGeom>
          <a:noFill/>
          <a:ln/>
        </p:spPr>
        <p:txBody>
          <a:bodyPr wrap="square" lIns="0" tIns="0" rIns="0" bIns="0" rtlCol="0" anchor="ctr"/>
          <a:lstStyle/>
          <a:p>
            <a:pPr marL="0" indent="0" algn="l">
              <a:buNone/>
            </a:pPr>
            <a:r>
              <a:rPr lang="en-US" sz="950" b="1" kern="0" spc="110" dirty="0">
                <a:solidFill>
                  <a:srgbClr val="C07A10"/>
                </a:solidFill>
                <a:latin typeface="Courier New" pitchFamily="34" charset="0"/>
                <a:ea typeface="Courier New" pitchFamily="34" charset="-122"/>
                <a:cs typeface="Courier New" pitchFamily="34" charset="-120"/>
              </a:rPr>
              <a:t>WHAT IT DOESN'T FIX</a:t>
            </a:r>
            <a:endParaRPr lang="en-US" sz="950" dirty="0"/>
          </a:p>
        </p:txBody>
      </p:sp>
      <p:sp>
        <p:nvSpPr>
          <p:cNvPr id="30" name="Text 28"/>
          <p:cNvSpPr/>
          <p:nvPr/>
        </p:nvSpPr>
        <p:spPr>
          <a:xfrm>
            <a:off x="6446520" y="4123944"/>
            <a:ext cx="5029200" cy="420624"/>
          </a:xfrm>
          <a:prstGeom prst="rect">
            <a:avLst/>
          </a:prstGeom>
          <a:noFill/>
          <a:ln/>
        </p:spPr>
        <p:txBody>
          <a:bodyPr wrap="square" lIns="0" tIns="0" rIns="0" bIns="0" rtlCol="0" anchor="t"/>
          <a:lstStyle/>
          <a:p>
            <a:pPr marL="0" indent="0">
              <a:lnSpc>
                <a:spcPct val="115000"/>
              </a:lnSpc>
              <a:buNone/>
            </a:pPr>
            <a:r>
              <a:rPr lang="en-US" sz="1250" dirty="0">
                <a:solidFill>
                  <a:srgbClr val="55656F"/>
                </a:solidFill>
                <a:latin typeface="Calibri" pitchFamily="34" charset="0"/>
                <a:ea typeface="Calibri" pitchFamily="34" charset="-122"/>
                <a:cs typeface="Calibri" pitchFamily="34" charset="-120"/>
              </a:rPr>
              <a:t>Fast moving tools — tutorials can go stale in months.</a:t>
            </a:r>
            <a:endParaRPr lang="en-US" sz="1250" dirty="0"/>
          </a:p>
        </p:txBody>
      </p:sp>
      <p:sp>
        <p:nvSpPr>
          <p:cNvPr id="31" name="Text 29"/>
          <p:cNvSpPr/>
          <p:nvPr/>
        </p:nvSpPr>
        <p:spPr>
          <a:xfrm>
            <a:off x="6446520" y="4544568"/>
            <a:ext cx="5029200" cy="420624"/>
          </a:xfrm>
          <a:prstGeom prst="rect">
            <a:avLst/>
          </a:prstGeom>
          <a:noFill/>
          <a:ln/>
        </p:spPr>
        <p:txBody>
          <a:bodyPr wrap="square" lIns="0" tIns="0" rIns="0" bIns="0" rtlCol="0" anchor="t"/>
          <a:lstStyle/>
          <a:p>
            <a:pPr marL="0" indent="0">
              <a:lnSpc>
                <a:spcPct val="115000"/>
              </a:lnSpc>
              <a:buNone/>
            </a:pPr>
            <a:r>
              <a:rPr lang="en-US" sz="1250" dirty="0">
                <a:solidFill>
                  <a:srgbClr val="55656F"/>
                </a:solidFill>
                <a:latin typeface="Calibri" pitchFamily="34" charset="0"/>
                <a:ea typeface="Calibri" pitchFamily="34" charset="-122"/>
                <a:cs typeface="Calibri" pitchFamily="34" charset="-120"/>
              </a:rPr>
              <a:t>Most docs, and most AI assistants, still answer in pip.</a:t>
            </a:r>
            <a:endParaRPr lang="en-US" sz="1250" dirty="0"/>
          </a:p>
        </p:txBody>
      </p:sp>
      <p:sp>
        <p:nvSpPr>
          <p:cNvPr id="32" name="Text 30"/>
          <p:cNvSpPr/>
          <p:nvPr/>
        </p:nvSpPr>
        <p:spPr>
          <a:xfrm>
            <a:off x="6446520" y="4965192"/>
            <a:ext cx="5029200" cy="420624"/>
          </a:xfrm>
          <a:prstGeom prst="rect">
            <a:avLst/>
          </a:prstGeom>
          <a:noFill/>
          <a:ln/>
        </p:spPr>
        <p:txBody>
          <a:bodyPr wrap="square" lIns="0" tIns="0" rIns="0" bIns="0" rtlCol="0" anchor="t"/>
          <a:lstStyle/>
          <a:p>
            <a:pPr marL="0" indent="0">
              <a:lnSpc>
                <a:spcPct val="115000"/>
              </a:lnSpc>
              <a:buNone/>
            </a:pPr>
            <a:r>
              <a:rPr lang="en-US" sz="1250" dirty="0">
                <a:solidFill>
                  <a:srgbClr val="55656F"/>
                </a:solidFill>
                <a:latin typeface="Calibri" pitchFamily="34" charset="0"/>
                <a:ea typeface="Calibri" pitchFamily="34" charset="-122"/>
                <a:cs typeface="Calibri" pitchFamily="34" charset="-120"/>
              </a:rPr>
              <a:t>Non-Python dependencies still need conda.</a:t>
            </a:r>
            <a:endParaRPr lang="en-US" sz="1250" dirty="0"/>
          </a:p>
        </p:txBody>
      </p:sp>
      <p:sp>
        <p:nvSpPr>
          <p:cNvPr id="33" name="Text 31"/>
          <p:cNvSpPr/>
          <p:nvPr/>
        </p:nvSpPr>
        <p:spPr>
          <a:xfrm>
            <a:off x="6446520" y="5385816"/>
            <a:ext cx="5029200" cy="420624"/>
          </a:xfrm>
          <a:prstGeom prst="rect">
            <a:avLst/>
          </a:prstGeom>
          <a:noFill/>
          <a:ln/>
        </p:spPr>
        <p:txBody>
          <a:bodyPr wrap="square" lIns="0" tIns="0" rIns="0" bIns="0" rtlCol="0" anchor="t"/>
          <a:lstStyle/>
          <a:p>
            <a:pPr marL="0" indent="0">
              <a:lnSpc>
                <a:spcPct val="115000"/>
              </a:lnSpc>
              <a:buNone/>
            </a:pPr>
            <a:r>
              <a:rPr lang="en-US" sz="1250" dirty="0">
                <a:solidFill>
                  <a:srgbClr val="55656F"/>
                </a:solidFill>
                <a:latin typeface="Calibri" pitchFamily="34" charset="0"/>
                <a:ea typeface="Calibri" pitchFamily="34" charset="-122"/>
                <a:cs typeface="Calibri" pitchFamily="34" charset="-120"/>
              </a:rPr>
              <a:t>You still have to learn pip. It is everywhere.</a:t>
            </a:r>
            <a:endParaRPr lang="en-US" sz="1250" dirty="0"/>
          </a:p>
        </p:txBody>
      </p:sp>
      <p:sp>
        <p:nvSpPr>
          <p:cNvPr id="34" name="Shape 32"/>
          <p:cNvSpPr/>
          <p:nvPr/>
        </p:nvSpPr>
        <p:spPr>
          <a:xfrm>
            <a:off x="594360" y="5907024"/>
            <a:ext cx="11002975" cy="0"/>
          </a:xfrm>
          <a:prstGeom prst="line">
            <a:avLst/>
          </a:prstGeom>
          <a:noFill/>
          <a:ln w="9525">
            <a:solidFill>
              <a:srgbClr val="D0DAE0"/>
            </a:solidFill>
            <a:prstDash val="solid"/>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731520"/>
            <a:ext cx="11002975" cy="676656"/>
          </a:xfrm>
          <a:prstGeom prst="rect">
            <a:avLst/>
          </a:prstGeom>
          <a:noFill/>
          <a:ln/>
        </p:spPr>
        <p:txBody>
          <a:bodyPr wrap="square" lIns="0" tIns="0" rIns="0" bIns="0" rtlCol="0" anchor="t"/>
          <a:lstStyle/>
          <a:p>
            <a:pPr marL="0" indent="0">
              <a:buNone/>
            </a:pPr>
            <a:r>
              <a:rPr lang="en-US" sz="3300" b="1" dirty="0">
                <a:solidFill>
                  <a:srgbClr val="121C22"/>
                </a:solidFill>
                <a:latin typeface="Calibri" pitchFamily="34" charset="0"/>
                <a:ea typeface="Calibri" pitchFamily="34" charset="-122"/>
                <a:cs typeface="Calibri" pitchFamily="34" charset="-120"/>
              </a:rPr>
              <a:t>You will likely inherit somebody else's choice</a:t>
            </a:r>
            <a:endParaRPr lang="en-US" sz="3300" dirty="0"/>
          </a:p>
        </p:txBody>
      </p:sp>
      <p:sp>
        <p:nvSpPr>
          <p:cNvPr id="5" name="Text 3"/>
          <p:cNvSpPr/>
          <p:nvPr/>
        </p:nvSpPr>
        <p:spPr>
          <a:xfrm>
            <a:off x="594360" y="2057400"/>
            <a:ext cx="2176272"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FILE IN THE REPO</a:t>
            </a:r>
            <a:endParaRPr lang="en-US" sz="950" dirty="0"/>
          </a:p>
        </p:txBody>
      </p:sp>
      <p:sp>
        <p:nvSpPr>
          <p:cNvPr id="6" name="Text 4"/>
          <p:cNvSpPr/>
          <p:nvPr/>
        </p:nvSpPr>
        <p:spPr>
          <a:xfrm>
            <a:off x="2880360" y="2057400"/>
            <a:ext cx="1078992"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THEY USE</a:t>
            </a:r>
            <a:endParaRPr lang="en-US" sz="950" dirty="0"/>
          </a:p>
        </p:txBody>
      </p:sp>
      <p:sp>
        <p:nvSpPr>
          <p:cNvPr id="7" name="Text 5"/>
          <p:cNvSpPr/>
          <p:nvPr/>
        </p:nvSpPr>
        <p:spPr>
          <a:xfrm>
            <a:off x="4069080" y="2057400"/>
            <a:ext cx="2221992"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YOU RUN</a:t>
            </a:r>
            <a:endParaRPr lang="en-US" sz="950" dirty="0"/>
          </a:p>
        </p:txBody>
      </p:sp>
      <p:sp>
        <p:nvSpPr>
          <p:cNvPr id="8" name="Shape 6"/>
          <p:cNvSpPr/>
          <p:nvPr/>
        </p:nvSpPr>
        <p:spPr>
          <a:xfrm>
            <a:off x="594360" y="2331720"/>
            <a:ext cx="5806440" cy="0"/>
          </a:xfrm>
          <a:prstGeom prst="line">
            <a:avLst/>
          </a:prstGeom>
          <a:noFill/>
          <a:ln w="12700">
            <a:solidFill>
              <a:srgbClr val="9EAEB8"/>
            </a:solidFill>
            <a:prstDash val="solid"/>
          </a:ln>
        </p:spPr>
        <p:txBody>
          <a:bodyPr/>
          <a:lstStyle/>
          <a:p>
            <a:endParaRPr lang="en-US"/>
          </a:p>
        </p:txBody>
      </p:sp>
      <p:sp>
        <p:nvSpPr>
          <p:cNvPr id="9" name="Text 7"/>
          <p:cNvSpPr/>
          <p:nvPr/>
        </p:nvSpPr>
        <p:spPr>
          <a:xfrm>
            <a:off x="594360" y="2331720"/>
            <a:ext cx="2157984" cy="576072"/>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uv.lock</a:t>
            </a:r>
            <a:endParaRPr lang="en-US" sz="1200" dirty="0"/>
          </a:p>
        </p:txBody>
      </p:sp>
      <p:sp>
        <p:nvSpPr>
          <p:cNvPr id="10" name="Text 8"/>
          <p:cNvSpPr/>
          <p:nvPr/>
        </p:nvSpPr>
        <p:spPr>
          <a:xfrm>
            <a:off x="2880360" y="2331720"/>
            <a:ext cx="1060704" cy="576072"/>
          </a:xfrm>
          <a:prstGeom prst="rect">
            <a:avLst/>
          </a:prstGeom>
          <a:noFill/>
          <a:ln/>
        </p:spPr>
        <p:txBody>
          <a:bodyPr wrap="square" lIns="0" tIns="0" rIns="0" bIns="0" rtlCol="0" anchor="ctr"/>
          <a:lstStyle/>
          <a:p>
            <a:pPr marL="0" indent="0" algn="l">
              <a:lnSpc>
                <a:spcPct val="115000"/>
              </a:lnSpc>
              <a:buNone/>
            </a:pPr>
            <a:r>
              <a:rPr lang="en-US" sz="1300" b="1" dirty="0">
                <a:solidFill>
                  <a:srgbClr val="121C22"/>
                </a:solidFill>
                <a:latin typeface="Calibri" pitchFamily="34" charset="0"/>
                <a:ea typeface="Calibri" pitchFamily="34" charset="-122"/>
                <a:cs typeface="Calibri" pitchFamily="34" charset="-120"/>
              </a:rPr>
              <a:t>uv</a:t>
            </a:r>
            <a:endParaRPr lang="en-US" sz="1300" dirty="0"/>
          </a:p>
        </p:txBody>
      </p:sp>
      <p:sp>
        <p:nvSpPr>
          <p:cNvPr id="11" name="Text 9"/>
          <p:cNvSpPr/>
          <p:nvPr/>
        </p:nvSpPr>
        <p:spPr>
          <a:xfrm>
            <a:off x="4069080" y="2331720"/>
            <a:ext cx="2203704" cy="576072"/>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uv sync</a:t>
            </a:r>
            <a:endParaRPr lang="en-US" sz="1050" dirty="0"/>
          </a:p>
        </p:txBody>
      </p:sp>
      <p:sp>
        <p:nvSpPr>
          <p:cNvPr id="12" name="Shape 10"/>
          <p:cNvSpPr/>
          <p:nvPr/>
        </p:nvSpPr>
        <p:spPr>
          <a:xfrm>
            <a:off x="594360" y="2907792"/>
            <a:ext cx="5806440" cy="0"/>
          </a:xfrm>
          <a:prstGeom prst="line">
            <a:avLst/>
          </a:prstGeom>
          <a:noFill/>
          <a:ln w="9525">
            <a:solidFill>
              <a:srgbClr val="D0DAE0"/>
            </a:solidFill>
            <a:prstDash val="solid"/>
          </a:ln>
        </p:spPr>
        <p:txBody>
          <a:bodyPr/>
          <a:lstStyle/>
          <a:p>
            <a:endParaRPr lang="en-US"/>
          </a:p>
        </p:txBody>
      </p:sp>
      <p:sp>
        <p:nvSpPr>
          <p:cNvPr id="13" name="Text 11"/>
          <p:cNvSpPr/>
          <p:nvPr/>
        </p:nvSpPr>
        <p:spPr>
          <a:xfrm>
            <a:off x="594360" y="2907792"/>
            <a:ext cx="2157984" cy="576072"/>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poetry.lock</a:t>
            </a:r>
            <a:endParaRPr lang="en-US" sz="1200" dirty="0"/>
          </a:p>
        </p:txBody>
      </p:sp>
      <p:sp>
        <p:nvSpPr>
          <p:cNvPr id="14" name="Text 12"/>
          <p:cNvSpPr/>
          <p:nvPr/>
        </p:nvSpPr>
        <p:spPr>
          <a:xfrm>
            <a:off x="2880360" y="2907792"/>
            <a:ext cx="1060704" cy="576072"/>
          </a:xfrm>
          <a:prstGeom prst="rect">
            <a:avLst/>
          </a:prstGeom>
          <a:noFill/>
          <a:ln/>
        </p:spPr>
        <p:txBody>
          <a:bodyPr wrap="square" lIns="0" tIns="0" rIns="0" bIns="0" rtlCol="0" anchor="ctr"/>
          <a:lstStyle/>
          <a:p>
            <a:pPr marL="0" indent="0" algn="l">
              <a:lnSpc>
                <a:spcPct val="115000"/>
              </a:lnSpc>
              <a:buNone/>
            </a:pPr>
            <a:r>
              <a:rPr lang="en-US" sz="1300" b="1" dirty="0">
                <a:solidFill>
                  <a:srgbClr val="121C22"/>
                </a:solidFill>
                <a:latin typeface="Calibri" pitchFamily="34" charset="0"/>
                <a:ea typeface="Calibri" pitchFamily="34" charset="-122"/>
                <a:cs typeface="Calibri" pitchFamily="34" charset="-120"/>
              </a:rPr>
              <a:t>Poetry</a:t>
            </a:r>
            <a:endParaRPr lang="en-US" sz="1300" dirty="0"/>
          </a:p>
        </p:txBody>
      </p:sp>
      <p:sp>
        <p:nvSpPr>
          <p:cNvPr id="15" name="Text 13"/>
          <p:cNvSpPr/>
          <p:nvPr/>
        </p:nvSpPr>
        <p:spPr>
          <a:xfrm>
            <a:off x="4069080" y="2907792"/>
            <a:ext cx="2203704" cy="576072"/>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poetry install</a:t>
            </a:r>
            <a:endParaRPr lang="en-US" sz="1050" dirty="0"/>
          </a:p>
        </p:txBody>
      </p:sp>
      <p:sp>
        <p:nvSpPr>
          <p:cNvPr id="16" name="Shape 14"/>
          <p:cNvSpPr/>
          <p:nvPr/>
        </p:nvSpPr>
        <p:spPr>
          <a:xfrm>
            <a:off x="594360" y="3483864"/>
            <a:ext cx="5806440" cy="0"/>
          </a:xfrm>
          <a:prstGeom prst="line">
            <a:avLst/>
          </a:prstGeom>
          <a:noFill/>
          <a:ln w="9525">
            <a:solidFill>
              <a:srgbClr val="D0DAE0"/>
            </a:solidFill>
            <a:prstDash val="solid"/>
          </a:ln>
        </p:spPr>
        <p:txBody>
          <a:bodyPr/>
          <a:lstStyle/>
          <a:p>
            <a:endParaRPr lang="en-US"/>
          </a:p>
        </p:txBody>
      </p:sp>
      <p:sp>
        <p:nvSpPr>
          <p:cNvPr id="17" name="Text 15"/>
          <p:cNvSpPr/>
          <p:nvPr/>
        </p:nvSpPr>
        <p:spPr>
          <a:xfrm>
            <a:off x="594360" y="3483864"/>
            <a:ext cx="2157984" cy="576072"/>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environment.yml</a:t>
            </a:r>
            <a:endParaRPr lang="en-US" sz="1200" dirty="0"/>
          </a:p>
        </p:txBody>
      </p:sp>
      <p:sp>
        <p:nvSpPr>
          <p:cNvPr id="18" name="Text 16"/>
          <p:cNvSpPr/>
          <p:nvPr/>
        </p:nvSpPr>
        <p:spPr>
          <a:xfrm>
            <a:off x="2880360" y="3483864"/>
            <a:ext cx="1060704" cy="576072"/>
          </a:xfrm>
          <a:prstGeom prst="rect">
            <a:avLst/>
          </a:prstGeom>
          <a:noFill/>
          <a:ln/>
        </p:spPr>
        <p:txBody>
          <a:bodyPr wrap="square" lIns="0" tIns="0" rIns="0" bIns="0" rtlCol="0" anchor="ctr"/>
          <a:lstStyle/>
          <a:p>
            <a:pPr marL="0" indent="0" algn="l">
              <a:lnSpc>
                <a:spcPct val="115000"/>
              </a:lnSpc>
              <a:buNone/>
            </a:pPr>
            <a:r>
              <a:rPr lang="en-US" sz="1300" b="1" dirty="0">
                <a:solidFill>
                  <a:srgbClr val="121C22"/>
                </a:solidFill>
                <a:latin typeface="Calibri" pitchFamily="34" charset="0"/>
                <a:ea typeface="Calibri" pitchFamily="34" charset="-122"/>
                <a:cs typeface="Calibri" pitchFamily="34" charset="-120"/>
              </a:rPr>
              <a:t>conda</a:t>
            </a:r>
            <a:endParaRPr lang="en-US" sz="1300" dirty="0"/>
          </a:p>
        </p:txBody>
      </p:sp>
      <p:sp>
        <p:nvSpPr>
          <p:cNvPr id="19" name="Text 17"/>
          <p:cNvSpPr/>
          <p:nvPr/>
        </p:nvSpPr>
        <p:spPr>
          <a:xfrm>
            <a:off x="4069080" y="3483864"/>
            <a:ext cx="2203704" cy="576072"/>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conda env create -f</a:t>
            </a:r>
            <a:endParaRPr lang="en-US" sz="1050" dirty="0"/>
          </a:p>
        </p:txBody>
      </p:sp>
      <p:sp>
        <p:nvSpPr>
          <p:cNvPr id="20" name="Shape 18"/>
          <p:cNvSpPr/>
          <p:nvPr/>
        </p:nvSpPr>
        <p:spPr>
          <a:xfrm>
            <a:off x="594360" y="4059936"/>
            <a:ext cx="5806440" cy="0"/>
          </a:xfrm>
          <a:prstGeom prst="line">
            <a:avLst/>
          </a:prstGeom>
          <a:noFill/>
          <a:ln w="9525">
            <a:solidFill>
              <a:srgbClr val="D0DAE0"/>
            </a:solidFill>
            <a:prstDash val="solid"/>
          </a:ln>
        </p:spPr>
        <p:txBody>
          <a:bodyPr/>
          <a:lstStyle/>
          <a:p>
            <a:endParaRPr lang="en-US"/>
          </a:p>
        </p:txBody>
      </p:sp>
      <p:sp>
        <p:nvSpPr>
          <p:cNvPr id="21" name="Text 19"/>
          <p:cNvSpPr/>
          <p:nvPr/>
        </p:nvSpPr>
        <p:spPr>
          <a:xfrm>
            <a:off x="594360" y="4059936"/>
            <a:ext cx="2157984" cy="576072"/>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requirements.txt</a:t>
            </a:r>
            <a:endParaRPr lang="en-US" sz="1200" dirty="0"/>
          </a:p>
        </p:txBody>
      </p:sp>
      <p:sp>
        <p:nvSpPr>
          <p:cNvPr id="22" name="Text 20"/>
          <p:cNvSpPr/>
          <p:nvPr/>
        </p:nvSpPr>
        <p:spPr>
          <a:xfrm>
            <a:off x="2880360" y="4059936"/>
            <a:ext cx="1060704" cy="576072"/>
          </a:xfrm>
          <a:prstGeom prst="rect">
            <a:avLst/>
          </a:prstGeom>
          <a:noFill/>
          <a:ln/>
        </p:spPr>
        <p:txBody>
          <a:bodyPr wrap="square" lIns="0" tIns="0" rIns="0" bIns="0" rtlCol="0" anchor="ctr"/>
          <a:lstStyle/>
          <a:p>
            <a:pPr marL="0" indent="0" algn="l">
              <a:lnSpc>
                <a:spcPct val="115000"/>
              </a:lnSpc>
              <a:buNone/>
            </a:pPr>
            <a:r>
              <a:rPr lang="en-US" sz="1300" b="1" dirty="0">
                <a:solidFill>
                  <a:srgbClr val="121C22"/>
                </a:solidFill>
                <a:latin typeface="Calibri" pitchFamily="34" charset="0"/>
                <a:ea typeface="Calibri" pitchFamily="34" charset="-122"/>
                <a:cs typeface="Calibri" pitchFamily="34" charset="-120"/>
              </a:rPr>
              <a:t>pip</a:t>
            </a:r>
            <a:endParaRPr lang="en-US" sz="1300" dirty="0"/>
          </a:p>
        </p:txBody>
      </p:sp>
      <p:sp>
        <p:nvSpPr>
          <p:cNvPr id="23" name="Text 21"/>
          <p:cNvSpPr/>
          <p:nvPr/>
        </p:nvSpPr>
        <p:spPr>
          <a:xfrm>
            <a:off x="4069080" y="4059936"/>
            <a:ext cx="2203704" cy="576072"/>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pip install -r … (read the README)</a:t>
            </a:r>
            <a:endParaRPr lang="en-US" sz="1050" dirty="0"/>
          </a:p>
        </p:txBody>
      </p:sp>
      <p:sp>
        <p:nvSpPr>
          <p:cNvPr id="24" name="Shape 22"/>
          <p:cNvSpPr/>
          <p:nvPr/>
        </p:nvSpPr>
        <p:spPr>
          <a:xfrm>
            <a:off x="594360" y="4636008"/>
            <a:ext cx="5806440" cy="0"/>
          </a:xfrm>
          <a:prstGeom prst="line">
            <a:avLst/>
          </a:prstGeom>
          <a:noFill/>
          <a:ln w="9525">
            <a:solidFill>
              <a:srgbClr val="D0DAE0"/>
            </a:solidFill>
            <a:prstDash val="solid"/>
          </a:ln>
        </p:spPr>
        <p:txBody>
          <a:bodyPr/>
          <a:lstStyle/>
          <a:p>
            <a:endParaRPr lang="en-US"/>
          </a:p>
        </p:txBody>
      </p:sp>
      <p:sp>
        <p:nvSpPr>
          <p:cNvPr id="25" name="Text 23"/>
          <p:cNvSpPr/>
          <p:nvPr/>
        </p:nvSpPr>
        <p:spPr>
          <a:xfrm>
            <a:off x="594360" y="4636008"/>
            <a:ext cx="2157984" cy="576072"/>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pixi.lock</a:t>
            </a:r>
            <a:endParaRPr lang="en-US" sz="1200" dirty="0"/>
          </a:p>
        </p:txBody>
      </p:sp>
      <p:sp>
        <p:nvSpPr>
          <p:cNvPr id="26" name="Text 24"/>
          <p:cNvSpPr/>
          <p:nvPr/>
        </p:nvSpPr>
        <p:spPr>
          <a:xfrm>
            <a:off x="2880360" y="4636008"/>
            <a:ext cx="1060704" cy="576072"/>
          </a:xfrm>
          <a:prstGeom prst="rect">
            <a:avLst/>
          </a:prstGeom>
          <a:noFill/>
          <a:ln/>
        </p:spPr>
        <p:txBody>
          <a:bodyPr wrap="square" lIns="0" tIns="0" rIns="0" bIns="0" rtlCol="0" anchor="ctr"/>
          <a:lstStyle/>
          <a:p>
            <a:pPr marL="0" indent="0" algn="l">
              <a:lnSpc>
                <a:spcPct val="115000"/>
              </a:lnSpc>
              <a:buNone/>
            </a:pPr>
            <a:r>
              <a:rPr lang="en-US" sz="1300" b="1" dirty="0">
                <a:solidFill>
                  <a:srgbClr val="121C22"/>
                </a:solidFill>
                <a:latin typeface="Calibri" pitchFamily="34" charset="0"/>
                <a:ea typeface="Calibri" pitchFamily="34" charset="-122"/>
                <a:cs typeface="Calibri" pitchFamily="34" charset="-120"/>
              </a:rPr>
              <a:t>pixi</a:t>
            </a:r>
            <a:endParaRPr lang="en-US" sz="1300" dirty="0"/>
          </a:p>
        </p:txBody>
      </p:sp>
      <p:sp>
        <p:nvSpPr>
          <p:cNvPr id="27" name="Text 25"/>
          <p:cNvSpPr/>
          <p:nvPr/>
        </p:nvSpPr>
        <p:spPr>
          <a:xfrm>
            <a:off x="4069080" y="4636008"/>
            <a:ext cx="2203704" cy="576072"/>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pixi install</a:t>
            </a:r>
            <a:endParaRPr lang="en-US" sz="1050" dirty="0"/>
          </a:p>
        </p:txBody>
      </p:sp>
      <p:sp>
        <p:nvSpPr>
          <p:cNvPr id="28" name="Shape 26"/>
          <p:cNvSpPr/>
          <p:nvPr/>
        </p:nvSpPr>
        <p:spPr>
          <a:xfrm>
            <a:off x="594360" y="5212080"/>
            <a:ext cx="5806440" cy="0"/>
          </a:xfrm>
          <a:prstGeom prst="line">
            <a:avLst/>
          </a:prstGeom>
          <a:noFill/>
          <a:ln w="9525">
            <a:solidFill>
              <a:srgbClr val="D0DAE0"/>
            </a:solidFill>
            <a:prstDash val="solid"/>
          </a:ln>
        </p:spPr>
        <p:txBody>
          <a:bodyPr/>
          <a:lstStyle/>
          <a:p>
            <a:endParaRPr lang="en-US"/>
          </a:p>
        </p:txBody>
      </p:sp>
      <p:sp>
        <p:nvSpPr>
          <p:cNvPr id="29" name="Shape 27"/>
          <p:cNvSpPr/>
          <p:nvPr/>
        </p:nvSpPr>
        <p:spPr>
          <a:xfrm>
            <a:off x="6583680" y="2011680"/>
            <a:ext cx="0" cy="3291840"/>
          </a:xfrm>
          <a:prstGeom prst="line">
            <a:avLst/>
          </a:prstGeom>
          <a:noFill/>
          <a:ln w="9525">
            <a:solidFill>
              <a:srgbClr val="D0DAE0"/>
            </a:solidFill>
            <a:prstDash val="solid"/>
          </a:ln>
        </p:spPr>
        <p:txBody>
          <a:bodyPr/>
          <a:lstStyle/>
          <a:p>
            <a:endParaRPr lang="en-US"/>
          </a:p>
        </p:txBody>
      </p:sp>
      <p:sp>
        <p:nvSpPr>
          <p:cNvPr id="30" name="Text 28"/>
          <p:cNvSpPr/>
          <p:nvPr/>
        </p:nvSpPr>
        <p:spPr>
          <a:xfrm>
            <a:off x="6995160" y="2011680"/>
            <a:ext cx="4572000" cy="228600"/>
          </a:xfrm>
          <a:prstGeom prst="rect">
            <a:avLst/>
          </a:prstGeom>
          <a:noFill/>
          <a:ln/>
        </p:spPr>
        <p:txBody>
          <a:bodyPr wrap="square" lIns="0" tIns="0" rIns="0" bIns="0" rtlCol="0" anchor="ctr"/>
          <a:lstStyle/>
          <a:p>
            <a:pPr marL="0" indent="0" algn="l">
              <a:buNone/>
            </a:pPr>
            <a:r>
              <a:rPr lang="en-US" sz="950" b="1" kern="0" spc="110" dirty="0">
                <a:solidFill>
                  <a:srgbClr val="C07A10"/>
                </a:solidFill>
                <a:latin typeface="Courier New" pitchFamily="34" charset="0"/>
                <a:ea typeface="Courier New" pitchFamily="34" charset="-122"/>
                <a:cs typeface="Courier New" pitchFamily="34" charset="-120"/>
              </a:rPr>
              <a:t>A REAL EXAMPLE — MY TEAM AT LASP</a:t>
            </a:r>
            <a:endParaRPr lang="en-US" sz="950" dirty="0"/>
          </a:p>
        </p:txBody>
      </p:sp>
      <p:sp>
        <p:nvSpPr>
          <p:cNvPr id="31" name="Shape 29"/>
          <p:cNvSpPr/>
          <p:nvPr/>
        </p:nvSpPr>
        <p:spPr>
          <a:xfrm>
            <a:off x="6995160" y="2331720"/>
            <a:ext cx="4572000" cy="0"/>
          </a:xfrm>
          <a:prstGeom prst="line">
            <a:avLst/>
          </a:prstGeom>
          <a:noFill/>
          <a:ln w="12700">
            <a:solidFill>
              <a:srgbClr val="9EAEB8"/>
            </a:solidFill>
            <a:prstDash val="solid"/>
          </a:ln>
        </p:spPr>
        <p:txBody>
          <a:bodyPr/>
          <a:lstStyle/>
          <a:p>
            <a:endParaRPr lang="en-US"/>
          </a:p>
        </p:txBody>
      </p:sp>
      <p:sp>
        <p:nvSpPr>
          <p:cNvPr id="32" name="Text 30"/>
          <p:cNvSpPr/>
          <p:nvPr/>
        </p:nvSpPr>
        <p:spPr>
          <a:xfrm>
            <a:off x="6995160" y="2331720"/>
            <a:ext cx="1014984" cy="777240"/>
          </a:xfrm>
          <a:prstGeom prst="rect">
            <a:avLst/>
          </a:prstGeom>
          <a:noFill/>
          <a:ln/>
        </p:spPr>
        <p:txBody>
          <a:bodyPr wrap="square" lIns="0" tIns="0" rIns="0" bIns="0" rtlCol="0" anchor="ctr"/>
          <a:lstStyle/>
          <a:p>
            <a:pPr marL="0" indent="0" algn="l">
              <a:lnSpc>
                <a:spcPct val="115000"/>
              </a:lnSpc>
              <a:buNone/>
            </a:pPr>
            <a:r>
              <a:rPr lang="en-US" sz="1200" b="1" dirty="0">
                <a:solidFill>
                  <a:srgbClr val="C07A10"/>
                </a:solidFill>
                <a:latin typeface="Courier New" pitchFamily="34" charset="0"/>
                <a:ea typeface="Courier New" pitchFamily="34" charset="-122"/>
                <a:cs typeface="Courier New" pitchFamily="34" charset="-120"/>
              </a:rPr>
              <a:t>conda</a:t>
            </a:r>
            <a:endParaRPr lang="en-US" sz="1200" dirty="0"/>
          </a:p>
        </p:txBody>
      </p:sp>
      <p:sp>
        <p:nvSpPr>
          <p:cNvPr id="33" name="Text 31"/>
          <p:cNvSpPr/>
          <p:nvPr/>
        </p:nvSpPr>
        <p:spPr>
          <a:xfrm>
            <a:off x="8138160" y="2331720"/>
            <a:ext cx="3300984" cy="77724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only to pin one identical Python version across the whole team</a:t>
            </a:r>
            <a:endParaRPr lang="en-US" sz="1250" dirty="0"/>
          </a:p>
        </p:txBody>
      </p:sp>
      <p:sp>
        <p:nvSpPr>
          <p:cNvPr id="34" name="Shape 32"/>
          <p:cNvSpPr/>
          <p:nvPr/>
        </p:nvSpPr>
        <p:spPr>
          <a:xfrm>
            <a:off x="6995160" y="3108960"/>
            <a:ext cx="4572000" cy="0"/>
          </a:xfrm>
          <a:prstGeom prst="line">
            <a:avLst/>
          </a:prstGeom>
          <a:noFill/>
          <a:ln w="9525">
            <a:solidFill>
              <a:srgbClr val="D0DAE0"/>
            </a:solidFill>
            <a:prstDash val="solid"/>
          </a:ln>
        </p:spPr>
        <p:txBody>
          <a:bodyPr/>
          <a:lstStyle/>
          <a:p>
            <a:endParaRPr lang="en-US"/>
          </a:p>
        </p:txBody>
      </p:sp>
      <p:sp>
        <p:nvSpPr>
          <p:cNvPr id="35" name="Text 33"/>
          <p:cNvSpPr/>
          <p:nvPr/>
        </p:nvSpPr>
        <p:spPr>
          <a:xfrm>
            <a:off x="6995160" y="3108960"/>
            <a:ext cx="1014984" cy="777240"/>
          </a:xfrm>
          <a:prstGeom prst="rect">
            <a:avLst/>
          </a:prstGeom>
          <a:noFill/>
          <a:ln/>
        </p:spPr>
        <p:txBody>
          <a:bodyPr wrap="square" lIns="0" tIns="0" rIns="0" bIns="0" rtlCol="0" anchor="ctr"/>
          <a:lstStyle/>
          <a:p>
            <a:pPr marL="0" indent="0" algn="l">
              <a:lnSpc>
                <a:spcPct val="115000"/>
              </a:lnSpc>
              <a:buNone/>
            </a:pPr>
            <a:r>
              <a:rPr lang="en-US" sz="1200" b="1" dirty="0">
                <a:solidFill>
                  <a:srgbClr val="C07A10"/>
                </a:solidFill>
                <a:latin typeface="Courier New" pitchFamily="34" charset="0"/>
                <a:ea typeface="Courier New" pitchFamily="34" charset="-122"/>
                <a:cs typeface="Courier New" pitchFamily="34" charset="-120"/>
              </a:rPr>
              <a:t>Poetry</a:t>
            </a:r>
            <a:endParaRPr lang="en-US" sz="1200" dirty="0"/>
          </a:p>
        </p:txBody>
      </p:sp>
      <p:sp>
        <p:nvSpPr>
          <p:cNvPr id="36" name="Text 34"/>
          <p:cNvSpPr/>
          <p:nvPr/>
        </p:nvSpPr>
        <p:spPr>
          <a:xfrm>
            <a:off x="8138160" y="3108960"/>
            <a:ext cx="3300984" cy="77724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dependencies and locking — its lockfile and its error messages are good</a:t>
            </a:r>
            <a:endParaRPr lang="en-US" sz="1250" dirty="0"/>
          </a:p>
        </p:txBody>
      </p:sp>
      <p:sp>
        <p:nvSpPr>
          <p:cNvPr id="37" name="Shape 35"/>
          <p:cNvSpPr/>
          <p:nvPr/>
        </p:nvSpPr>
        <p:spPr>
          <a:xfrm>
            <a:off x="6995160" y="3886200"/>
            <a:ext cx="4572000" cy="0"/>
          </a:xfrm>
          <a:prstGeom prst="line">
            <a:avLst/>
          </a:prstGeom>
          <a:noFill/>
          <a:ln w="9525">
            <a:solidFill>
              <a:srgbClr val="D0DAE0"/>
            </a:solidFill>
            <a:prstDash val="solid"/>
          </a:ln>
        </p:spPr>
        <p:txBody>
          <a:bodyPr/>
          <a:lstStyle/>
          <a:p>
            <a:endParaRPr lang="en-US"/>
          </a:p>
        </p:txBody>
      </p:sp>
      <p:sp>
        <p:nvSpPr>
          <p:cNvPr id="42" name="Text 40"/>
          <p:cNvSpPr/>
          <p:nvPr/>
        </p:nvSpPr>
        <p:spPr>
          <a:xfrm>
            <a:off x="594360" y="5623560"/>
            <a:ext cx="11002975" cy="402336"/>
          </a:xfrm>
          <a:prstGeom prst="rect">
            <a:avLst/>
          </a:prstGeom>
          <a:noFill/>
          <a:ln/>
        </p:spPr>
        <p:txBody>
          <a:bodyPr wrap="square" lIns="0" tIns="0" rIns="0" bIns="0" rtlCol="0" anchor="t"/>
          <a:lstStyle/>
          <a:p>
            <a:pPr marL="0" indent="0">
              <a:lnSpc>
                <a:spcPct val="120000"/>
              </a:lnSpc>
              <a:buNone/>
            </a:pPr>
            <a:r>
              <a:rPr lang="en-US" sz="1350" b="1" dirty="0">
                <a:solidFill>
                  <a:srgbClr val="121C22"/>
                </a:solidFill>
                <a:latin typeface="Calibri" pitchFamily="34" charset="0"/>
                <a:ea typeface="Calibri" pitchFamily="34" charset="-122"/>
                <a:cs typeface="Calibri" pitchFamily="34" charset="-120"/>
              </a:rPr>
              <a:t>None of these is wrong.</a:t>
            </a:r>
            <a:r>
              <a:rPr lang="en-US" sz="1350" dirty="0">
                <a:solidFill>
                  <a:srgbClr val="55656F"/>
                </a:solidFill>
                <a:latin typeface="Calibri" pitchFamily="34" charset="0"/>
                <a:ea typeface="Calibri" pitchFamily="34" charset="-122"/>
                <a:cs typeface="Calibri" pitchFamily="34" charset="-120"/>
              </a:rPr>
              <a:t>   Everyone was a reasonable decision by people solving the problem in front of them. Your job is to find out which one you have joined and then follow it.</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731520"/>
            <a:ext cx="11002975" cy="676656"/>
          </a:xfrm>
          <a:prstGeom prst="rect">
            <a:avLst/>
          </a:prstGeom>
          <a:noFill/>
          <a:ln/>
        </p:spPr>
        <p:txBody>
          <a:bodyPr wrap="square" lIns="0" tIns="0" rIns="0" bIns="0" rtlCol="0" anchor="t"/>
          <a:lstStyle/>
          <a:p>
            <a:pPr marL="0" indent="0">
              <a:buNone/>
            </a:pPr>
            <a:r>
              <a:rPr lang="en-US" sz="3300" b="1" dirty="0">
                <a:solidFill>
                  <a:srgbClr val="121C22"/>
                </a:solidFill>
                <a:latin typeface="Calibri" pitchFamily="34" charset="0"/>
                <a:ea typeface="Calibri" pitchFamily="34" charset="-122"/>
                <a:cs typeface="Calibri" pitchFamily="34" charset="-120"/>
              </a:rPr>
              <a:t>Option 1 with pip </a:t>
            </a:r>
          </a:p>
          <a:p>
            <a:pPr marL="0" indent="0">
              <a:buNone/>
            </a:pPr>
            <a:r>
              <a:rPr lang="en-US" sz="3300" b="1" dirty="0">
                <a:solidFill>
                  <a:srgbClr val="121C22"/>
                </a:solidFill>
                <a:latin typeface="Calibri" pitchFamily="34" charset="0"/>
                <a:ea typeface="Calibri" pitchFamily="34" charset="-122"/>
                <a:cs typeface="Calibri" pitchFamily="34" charset="-120"/>
              </a:rPr>
              <a:t>Let’s build an environment, then prove it works (not in </a:t>
            </a:r>
            <a:r>
              <a:rPr lang="en-US" sz="3300" b="1" dirty="0" err="1">
                <a:solidFill>
                  <a:srgbClr val="121C22"/>
                </a:solidFill>
                <a:latin typeface="Calibri" pitchFamily="34" charset="0"/>
                <a:ea typeface="Calibri" pitchFamily="34" charset="-122"/>
                <a:cs typeface="Calibri" pitchFamily="34" charset="-120"/>
              </a:rPr>
              <a:t>Colab</a:t>
            </a:r>
            <a:r>
              <a:rPr lang="en-US" sz="3300" b="1" dirty="0">
                <a:solidFill>
                  <a:srgbClr val="121C22"/>
                </a:solidFill>
                <a:latin typeface="Calibri" pitchFamily="34" charset="0"/>
                <a:ea typeface="Calibri" pitchFamily="34" charset="-122"/>
                <a:cs typeface="Calibri" pitchFamily="34" charset="-120"/>
              </a:rPr>
              <a:t>)</a:t>
            </a:r>
            <a:endParaRPr lang="en-US" sz="3300" dirty="0"/>
          </a:p>
        </p:txBody>
      </p:sp>
      <p:sp>
        <p:nvSpPr>
          <p:cNvPr id="5" name="Shape 3"/>
          <p:cNvSpPr/>
          <p:nvPr/>
        </p:nvSpPr>
        <p:spPr>
          <a:xfrm>
            <a:off x="594360" y="1965960"/>
            <a:ext cx="6812280" cy="3611880"/>
          </a:xfrm>
          <a:prstGeom prst="rect">
            <a:avLst/>
          </a:prstGeom>
          <a:solidFill>
            <a:srgbClr val="121C22"/>
          </a:solidFill>
          <a:ln/>
        </p:spPr>
        <p:txBody>
          <a:bodyPr/>
          <a:lstStyle/>
          <a:p>
            <a:endParaRPr lang="en-US"/>
          </a:p>
        </p:txBody>
      </p:sp>
      <p:sp>
        <p:nvSpPr>
          <p:cNvPr id="6" name="Text 4"/>
          <p:cNvSpPr/>
          <p:nvPr/>
        </p:nvSpPr>
        <p:spPr>
          <a:xfrm>
            <a:off x="749808" y="2084832"/>
            <a:ext cx="6501384" cy="3374136"/>
          </a:xfrm>
          <a:prstGeom prst="rect">
            <a:avLst/>
          </a:prstGeom>
          <a:noFill/>
          <a:ln/>
        </p:spPr>
        <p:txBody>
          <a:bodyPr wrap="square" lIns="0" tIns="0" rIns="0" bIns="0" rtlCol="0" anchor="t"/>
          <a:lstStyle/>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1. make an environment. it is a folder — watch the file browser.</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python -m venv .venv</a:t>
            </a:r>
            <a:endParaRPr lang="en-US" sz="1050" dirty="0"/>
          </a:p>
          <a:p>
            <a:pPr marL="0" indent="0">
              <a:lnSpc>
                <a:spcPct val="118000"/>
              </a:lnSpc>
              <a:buNone/>
            </a:pP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2. install into it — call the venv's OWN pip, by path</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.venv/bin/pip install pyfiglet</a:t>
            </a:r>
            <a:endParaRPr lang="en-US" sz="1050" dirty="0"/>
          </a:p>
          <a:p>
            <a:pPr marL="0" indent="0">
              <a:lnSpc>
                <a:spcPct val="118000"/>
              </a:lnSpc>
              <a:buNone/>
            </a:pP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3. Make a script that needs </a:t>
            </a:r>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echo “from pyfiglet import </a:t>
            </a:r>
            <a:r>
              <a:rPr lang="en-US" sz="1050" dirty="0" err="1">
                <a:solidFill>
                  <a:srgbClr val="DCE6EA"/>
                </a:solidFill>
                <a:latin typeface="Courier New" pitchFamily="34" charset="0"/>
                <a:ea typeface="Courier New" pitchFamily="34" charset="-122"/>
                <a:cs typeface="Courier New" pitchFamily="34" charset="-120"/>
              </a:rPr>
              <a:t>figlet_format</a:t>
            </a:r>
            <a:r>
              <a:rPr lang="en-US" sz="1050" dirty="0">
                <a:solidFill>
                  <a:srgbClr val="DCE6EA"/>
                </a:solidFill>
                <a:latin typeface="Courier New" pitchFamily="34" charset="0"/>
                <a:ea typeface="Courier New" pitchFamily="34" charset="-122"/>
                <a:cs typeface="Courier New" pitchFamily="34" charset="-120"/>
              </a:rPr>
              <a:t>” &gt; </a:t>
            </a:r>
            <a:r>
              <a:rPr lang="en-US" sz="1050" dirty="0" err="1">
                <a:solidFill>
                  <a:srgbClr val="DCE6EA"/>
                </a:solidFill>
                <a:latin typeface="Courier New" pitchFamily="34" charset="0"/>
                <a:ea typeface="Courier New" pitchFamily="34" charset="-122"/>
                <a:cs typeface="Courier New" pitchFamily="34" charset="-120"/>
              </a:rPr>
              <a:t>banner.py</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echo “print(figlet_format("it works"))” &gt; </a:t>
            </a:r>
            <a:r>
              <a:rPr lang="en-US" sz="1050" dirty="0" err="1">
                <a:solidFill>
                  <a:srgbClr val="DCE6EA"/>
                </a:solidFill>
                <a:latin typeface="Courier New" pitchFamily="34" charset="0"/>
                <a:ea typeface="Courier New" pitchFamily="34" charset="-122"/>
                <a:cs typeface="Courier New" pitchFamily="34" charset="-120"/>
              </a:rPr>
              <a:t>banner.py</a:t>
            </a:r>
            <a:endParaRPr lang="en-US" sz="1050" dirty="0"/>
          </a:p>
          <a:p>
            <a:pPr marL="0" indent="0">
              <a:lnSpc>
                <a:spcPct val="118000"/>
              </a:lnSpc>
              <a:buNone/>
            </a:pP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4. the system python cannot run it. yours can.</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python banner.py             # ModuleNotFoundError</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a:t>
            </a:r>
            <a:r>
              <a:rPr lang="en-US" sz="1050" dirty="0" err="1">
                <a:solidFill>
                  <a:srgbClr val="DCE6EA"/>
                </a:solidFill>
                <a:latin typeface="Courier New" pitchFamily="34" charset="0"/>
                <a:ea typeface="Courier New" pitchFamily="34" charset="-122"/>
                <a:cs typeface="Courier New" pitchFamily="34" charset="-120"/>
              </a:rPr>
              <a:t>venv</a:t>
            </a:r>
            <a:r>
              <a:rPr lang="en-US" sz="1050" dirty="0">
                <a:solidFill>
                  <a:srgbClr val="DCE6EA"/>
                </a:solidFill>
                <a:latin typeface="Courier New" pitchFamily="34" charset="0"/>
                <a:ea typeface="Courier New" pitchFamily="34" charset="-122"/>
                <a:cs typeface="Courier New" pitchFamily="34" charset="-120"/>
              </a:rPr>
              <a:t>/bin/python banner.py   # ascii art</a:t>
            </a:r>
            <a:endParaRPr lang="en-US" sz="1050" dirty="0"/>
          </a:p>
          <a:p>
            <a:pPr marL="0" indent="0">
              <a:lnSpc>
                <a:spcPct val="118000"/>
              </a:lnSpc>
              <a:buNone/>
            </a:pP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5. write it down so someone else can rebuild it</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.venv/bin/pip freeze &gt; requirements.txt &amp;&amp; cat requirements.txt</a:t>
            </a:r>
            <a:endParaRPr lang="en-US" sz="1050" dirty="0"/>
          </a:p>
        </p:txBody>
      </p:sp>
      <p:sp>
        <p:nvSpPr>
          <p:cNvPr id="7" name="Shape 5"/>
          <p:cNvSpPr/>
          <p:nvPr/>
        </p:nvSpPr>
        <p:spPr>
          <a:xfrm>
            <a:off x="7543800" y="1920240"/>
            <a:ext cx="0" cy="3703320"/>
          </a:xfrm>
          <a:prstGeom prst="line">
            <a:avLst/>
          </a:prstGeom>
          <a:noFill/>
          <a:ln w="9525">
            <a:solidFill>
              <a:srgbClr val="D0DAE0"/>
            </a:solidFill>
            <a:prstDash val="solid"/>
          </a:ln>
        </p:spPr>
        <p:txBody>
          <a:bodyPr/>
          <a:lstStyle/>
          <a:p>
            <a:endParaRPr lang="en-US"/>
          </a:p>
        </p:txBody>
      </p:sp>
      <p:sp>
        <p:nvSpPr>
          <p:cNvPr id="8" name="Text 6"/>
          <p:cNvSpPr/>
          <p:nvPr/>
        </p:nvSpPr>
        <p:spPr>
          <a:xfrm>
            <a:off x="7909560" y="1965960"/>
            <a:ext cx="3657600"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LOOK FOR</a:t>
            </a:r>
            <a:endParaRPr lang="en-US" sz="950" dirty="0"/>
          </a:p>
        </p:txBody>
      </p:sp>
      <p:sp>
        <p:nvSpPr>
          <p:cNvPr id="9" name="Text 7"/>
          <p:cNvSpPr/>
          <p:nvPr/>
        </p:nvSpPr>
        <p:spPr>
          <a:xfrm>
            <a:off x="7909560" y="2295144"/>
            <a:ext cx="3657600" cy="621792"/>
          </a:xfrm>
          <a:prstGeom prst="rect">
            <a:avLst/>
          </a:prstGeom>
          <a:noFill/>
          <a:ln/>
        </p:spPr>
        <p:txBody>
          <a:bodyPr wrap="square" lIns="0" tIns="0" rIns="0" bIns="0" rtlCol="0" anchor="t"/>
          <a:lstStyle/>
          <a:p>
            <a:pPr marL="285750" indent="-285750">
              <a:lnSpc>
                <a:spcPct val="115000"/>
              </a:lnSpc>
              <a:buFont typeface="Arial" panose="020B0604020202020204" pitchFamily="34" charset="0"/>
              <a:buChar char="•"/>
            </a:pPr>
            <a:r>
              <a:rPr lang="en-US" sz="1250" dirty="0">
                <a:solidFill>
                  <a:srgbClr val="55656F"/>
                </a:solidFill>
                <a:latin typeface="Calibri" pitchFamily="34" charset="0"/>
                <a:ea typeface="Calibri" pitchFamily="34" charset="-122"/>
                <a:cs typeface="Calibri" pitchFamily="34" charset="-120"/>
              </a:rPr>
              <a:t>.venv appearing in the file browser on the left — a folder, exactly as promised</a:t>
            </a:r>
            <a:endParaRPr lang="en-US" sz="1250" dirty="0"/>
          </a:p>
        </p:txBody>
      </p:sp>
      <p:sp>
        <p:nvSpPr>
          <p:cNvPr id="10" name="Text 8"/>
          <p:cNvSpPr/>
          <p:nvPr/>
        </p:nvSpPr>
        <p:spPr>
          <a:xfrm>
            <a:off x="7909560" y="2916936"/>
            <a:ext cx="3657600" cy="621792"/>
          </a:xfrm>
          <a:prstGeom prst="rect">
            <a:avLst/>
          </a:prstGeom>
          <a:noFill/>
          <a:ln/>
        </p:spPr>
        <p:txBody>
          <a:bodyPr wrap="square" lIns="0" tIns="0" rIns="0" bIns="0" rtlCol="0" anchor="t"/>
          <a:lstStyle/>
          <a:p>
            <a:pPr marL="285750" indent="-285750">
              <a:lnSpc>
                <a:spcPct val="115000"/>
              </a:lnSpc>
              <a:buFont typeface="Arial" panose="020B0604020202020204" pitchFamily="34" charset="0"/>
              <a:buChar char="•"/>
            </a:pPr>
            <a:r>
              <a:rPr lang="en-US" sz="1250" dirty="0">
                <a:solidFill>
                  <a:srgbClr val="55656F"/>
                </a:solidFill>
                <a:latin typeface="Calibri" pitchFamily="34" charset="0"/>
                <a:ea typeface="Calibri" pitchFamily="34" charset="-122"/>
                <a:cs typeface="Calibri" pitchFamily="34" charset="-120"/>
              </a:rPr>
              <a:t>Two Pythons on one machine, disagreeing with each other</a:t>
            </a:r>
            <a:endParaRPr lang="en-US" sz="1250" dirty="0"/>
          </a:p>
        </p:txBody>
      </p:sp>
      <p:sp>
        <p:nvSpPr>
          <p:cNvPr id="11" name="Text 9"/>
          <p:cNvSpPr/>
          <p:nvPr/>
        </p:nvSpPr>
        <p:spPr>
          <a:xfrm>
            <a:off x="7909560" y="3538728"/>
            <a:ext cx="3657600" cy="621792"/>
          </a:xfrm>
          <a:prstGeom prst="rect">
            <a:avLst/>
          </a:prstGeom>
          <a:noFill/>
          <a:ln/>
        </p:spPr>
        <p:txBody>
          <a:bodyPr wrap="square" lIns="0" tIns="0" rIns="0" bIns="0" rtlCol="0" anchor="t"/>
          <a:lstStyle/>
          <a:p>
            <a:pPr marL="285750" indent="-285750">
              <a:lnSpc>
                <a:spcPct val="115000"/>
              </a:lnSpc>
              <a:buFont typeface="Arial" panose="020B0604020202020204" pitchFamily="34" charset="0"/>
              <a:buChar char="•"/>
            </a:pPr>
            <a:r>
              <a:rPr lang="en-US" sz="1250" dirty="0">
                <a:solidFill>
                  <a:srgbClr val="55656F"/>
                </a:solidFill>
                <a:latin typeface="Calibri" pitchFamily="34" charset="0"/>
                <a:ea typeface="Calibri" pitchFamily="34" charset="-122"/>
                <a:cs typeface="Calibri" pitchFamily="34" charset="-120"/>
              </a:rPr>
              <a:t>The error in step 4. That is a layer 3 problem, and now you can name it</a:t>
            </a:r>
            <a:endParaRPr lang="en-US" sz="1250" dirty="0"/>
          </a:p>
        </p:txBody>
      </p:sp>
      <p:sp>
        <p:nvSpPr>
          <p:cNvPr id="12" name="Text 10"/>
          <p:cNvSpPr/>
          <p:nvPr/>
        </p:nvSpPr>
        <p:spPr>
          <a:xfrm>
            <a:off x="7909560" y="4160520"/>
            <a:ext cx="3657600" cy="621792"/>
          </a:xfrm>
          <a:prstGeom prst="rect">
            <a:avLst/>
          </a:prstGeom>
          <a:noFill/>
          <a:ln/>
        </p:spPr>
        <p:txBody>
          <a:bodyPr wrap="square" lIns="0" tIns="0" rIns="0" bIns="0" rtlCol="0" anchor="t"/>
          <a:lstStyle/>
          <a:p>
            <a:pPr marL="285750" indent="-285750">
              <a:lnSpc>
                <a:spcPct val="115000"/>
              </a:lnSpc>
              <a:buFont typeface="Arial" panose="020B0604020202020204" pitchFamily="34" charset="0"/>
              <a:buChar char="•"/>
            </a:pPr>
            <a:r>
              <a:rPr lang="en-US" sz="1250" dirty="0">
                <a:solidFill>
                  <a:srgbClr val="55656F"/>
                </a:solidFill>
                <a:latin typeface="Calibri" pitchFamily="34" charset="0"/>
                <a:ea typeface="Calibri" pitchFamily="34" charset="-122"/>
                <a:cs typeface="Calibri" pitchFamily="34" charset="-120"/>
              </a:rPr>
              <a:t>requirements.txt — five lines that make your work portable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731520"/>
            <a:ext cx="11002975" cy="676656"/>
          </a:xfrm>
          <a:prstGeom prst="rect">
            <a:avLst/>
          </a:prstGeom>
          <a:noFill/>
          <a:ln/>
        </p:spPr>
        <p:txBody>
          <a:bodyPr wrap="square" lIns="0" tIns="0" rIns="0" bIns="0" rtlCol="0" anchor="t"/>
          <a:lstStyle/>
          <a:p>
            <a:pPr marL="0" indent="0">
              <a:buNone/>
            </a:pPr>
            <a:r>
              <a:rPr lang="en-US" sz="3300" b="1" dirty="0">
                <a:solidFill>
                  <a:srgbClr val="121C22"/>
                </a:solidFill>
                <a:latin typeface="Calibri" pitchFamily="34" charset="0"/>
                <a:ea typeface="Calibri" pitchFamily="34" charset="-122"/>
                <a:cs typeface="Calibri" pitchFamily="34" charset="-120"/>
              </a:rPr>
              <a:t>Option 2 with </a:t>
            </a:r>
            <a:r>
              <a:rPr lang="en-US" sz="3300" b="1" dirty="0" err="1">
                <a:solidFill>
                  <a:srgbClr val="121C22"/>
                </a:solidFill>
                <a:latin typeface="Calibri" pitchFamily="34" charset="0"/>
                <a:ea typeface="Calibri" pitchFamily="34" charset="-122"/>
                <a:cs typeface="Calibri" pitchFamily="34" charset="-120"/>
              </a:rPr>
              <a:t>uv</a:t>
            </a:r>
            <a:endParaRPr lang="en-US" sz="3300" b="1" dirty="0">
              <a:solidFill>
                <a:srgbClr val="121C22"/>
              </a:solidFill>
              <a:latin typeface="Calibri" pitchFamily="34" charset="0"/>
              <a:ea typeface="Calibri" pitchFamily="34" charset="-122"/>
              <a:cs typeface="Calibri" pitchFamily="34" charset="-120"/>
            </a:endParaRPr>
          </a:p>
          <a:p>
            <a:pPr marL="0" indent="0">
              <a:buNone/>
            </a:pPr>
            <a:r>
              <a:rPr lang="en-US" sz="3300" b="1" dirty="0">
                <a:solidFill>
                  <a:srgbClr val="121C22"/>
                </a:solidFill>
                <a:latin typeface="Calibri" pitchFamily="34" charset="0"/>
                <a:ea typeface="Calibri" pitchFamily="34" charset="-122"/>
                <a:cs typeface="Calibri" pitchFamily="34" charset="-120"/>
              </a:rPr>
              <a:t>A single file can declare what it needs, then </a:t>
            </a:r>
            <a:r>
              <a:rPr lang="en-US" sz="3300" b="1" dirty="0" err="1">
                <a:solidFill>
                  <a:srgbClr val="121C22"/>
                </a:solidFill>
                <a:latin typeface="Calibri" pitchFamily="34" charset="0"/>
                <a:ea typeface="Calibri" pitchFamily="34" charset="-122"/>
                <a:cs typeface="Calibri" pitchFamily="34" charset="-120"/>
              </a:rPr>
              <a:t>uv</a:t>
            </a:r>
            <a:r>
              <a:rPr lang="en-US" sz="3300" b="1" dirty="0">
                <a:solidFill>
                  <a:srgbClr val="121C22"/>
                </a:solidFill>
                <a:latin typeface="Calibri" pitchFamily="34" charset="0"/>
                <a:ea typeface="Calibri" pitchFamily="34" charset="-122"/>
                <a:cs typeface="Calibri" pitchFamily="34" charset="-120"/>
              </a:rPr>
              <a:t> installs + runs </a:t>
            </a:r>
            <a:endParaRPr lang="en-US" sz="3300" dirty="0"/>
          </a:p>
        </p:txBody>
      </p:sp>
      <p:sp>
        <p:nvSpPr>
          <p:cNvPr id="4" name="Text 2"/>
          <p:cNvSpPr/>
          <p:nvPr/>
        </p:nvSpPr>
        <p:spPr>
          <a:xfrm>
            <a:off x="594360" y="1828800"/>
            <a:ext cx="2743200" cy="228600"/>
          </a:xfrm>
          <a:prstGeom prst="rect">
            <a:avLst/>
          </a:prstGeom>
          <a:noFill/>
          <a:ln/>
        </p:spPr>
        <p:txBody>
          <a:bodyPr wrap="square" lIns="0" tIns="0" rIns="0" bIns="0" rtlCol="0" anchor="ctr"/>
          <a:lstStyle/>
          <a:p>
            <a:pPr marL="0" indent="0" algn="l">
              <a:buNone/>
            </a:pPr>
            <a:r>
              <a:rPr lang="en-US" sz="950" b="1" kern="0" spc="110" dirty="0">
                <a:solidFill>
                  <a:srgbClr val="121C22"/>
                </a:solidFill>
                <a:latin typeface="Courier New" pitchFamily="34" charset="0"/>
                <a:ea typeface="Courier New" pitchFamily="34" charset="-122"/>
                <a:cs typeface="Courier New" pitchFamily="34" charset="-120"/>
              </a:rPr>
              <a:t>banner.py</a:t>
            </a:r>
            <a:endParaRPr lang="en-US" sz="950" dirty="0"/>
          </a:p>
        </p:txBody>
      </p:sp>
      <p:sp>
        <p:nvSpPr>
          <p:cNvPr id="5" name="Shape 3"/>
          <p:cNvSpPr/>
          <p:nvPr/>
        </p:nvSpPr>
        <p:spPr>
          <a:xfrm>
            <a:off x="594360" y="2103120"/>
            <a:ext cx="5276088" cy="1463040"/>
          </a:xfrm>
          <a:prstGeom prst="rect">
            <a:avLst/>
          </a:prstGeom>
          <a:solidFill>
            <a:srgbClr val="121C22"/>
          </a:solidFill>
          <a:ln/>
        </p:spPr>
        <p:txBody>
          <a:bodyPr/>
          <a:lstStyle/>
          <a:p>
            <a:endParaRPr lang="en-US"/>
          </a:p>
        </p:txBody>
      </p:sp>
      <p:sp>
        <p:nvSpPr>
          <p:cNvPr id="6" name="Text 4"/>
          <p:cNvSpPr/>
          <p:nvPr/>
        </p:nvSpPr>
        <p:spPr>
          <a:xfrm>
            <a:off x="749808" y="2221992"/>
            <a:ext cx="4965192" cy="1225296"/>
          </a:xfrm>
          <a:prstGeom prst="rect">
            <a:avLst/>
          </a:prstGeom>
          <a:noFill/>
          <a:ln/>
        </p:spPr>
        <p:txBody>
          <a:bodyPr wrap="square" lIns="0" tIns="0" rIns="0" bIns="0" rtlCol="0" anchor="t"/>
          <a:lstStyle/>
          <a:p>
            <a:pPr marL="0" indent="0">
              <a:lnSpc>
                <a:spcPct val="118000"/>
              </a:lnSpc>
              <a:buNone/>
            </a:pPr>
            <a:r>
              <a:rPr lang="en-US" sz="1250" dirty="0">
                <a:solidFill>
                  <a:srgbClr val="DCE6EA"/>
                </a:solidFill>
                <a:latin typeface="Courier New" pitchFamily="34" charset="0"/>
                <a:ea typeface="Courier New" pitchFamily="34" charset="-122"/>
                <a:cs typeface="Courier New" pitchFamily="34" charset="-120"/>
              </a:rPr>
              <a:t># /// script</a:t>
            </a:r>
          </a:p>
          <a:p>
            <a:pPr marL="0" indent="0">
              <a:lnSpc>
                <a:spcPct val="118000"/>
              </a:lnSpc>
              <a:buNone/>
            </a:pPr>
            <a:r>
              <a:rPr lang="en-US" sz="1250" dirty="0">
                <a:solidFill>
                  <a:srgbClr val="DCE6EA"/>
                </a:solidFill>
                <a:latin typeface="Courier New" pitchFamily="34" charset="0"/>
                <a:ea typeface="Courier New" pitchFamily="34" charset="-122"/>
                <a:cs typeface="Courier New" pitchFamily="34" charset="-120"/>
              </a:rPr>
              <a:t># dependencies = ["pyfiglet"]</a:t>
            </a:r>
            <a:endParaRPr lang="en-US" sz="1250" dirty="0"/>
          </a:p>
          <a:p>
            <a:pPr marL="0" indent="0">
              <a:lnSpc>
                <a:spcPct val="118000"/>
              </a:lnSpc>
              <a:buNone/>
            </a:pPr>
            <a:r>
              <a:rPr lang="en-US" sz="1250" dirty="0">
                <a:solidFill>
                  <a:srgbClr val="DCE6EA"/>
                </a:solidFill>
                <a:latin typeface="Courier New" pitchFamily="34" charset="0"/>
                <a:ea typeface="Courier New" pitchFamily="34" charset="-122"/>
                <a:cs typeface="Courier New" pitchFamily="34" charset="-120"/>
              </a:rPr>
              <a:t># ///</a:t>
            </a:r>
            <a:endParaRPr lang="en-US" sz="1250" dirty="0"/>
          </a:p>
          <a:p>
            <a:pPr marL="0" indent="0">
              <a:lnSpc>
                <a:spcPct val="118000"/>
              </a:lnSpc>
              <a:buNone/>
            </a:pPr>
            <a:r>
              <a:rPr lang="en-US" sz="1250" dirty="0">
                <a:solidFill>
                  <a:srgbClr val="DCE6EA"/>
                </a:solidFill>
                <a:latin typeface="Courier New" pitchFamily="34" charset="0"/>
                <a:ea typeface="Courier New" pitchFamily="34" charset="-122"/>
                <a:cs typeface="Courier New" pitchFamily="34" charset="-120"/>
              </a:rPr>
              <a:t>from pyfiglet import figlet_format</a:t>
            </a:r>
            <a:endParaRPr lang="en-US" sz="1250" dirty="0"/>
          </a:p>
          <a:p>
            <a:pPr marL="0" indent="0">
              <a:lnSpc>
                <a:spcPct val="118000"/>
              </a:lnSpc>
              <a:buNone/>
            </a:pPr>
            <a:r>
              <a:rPr lang="en-US" sz="1250" dirty="0">
                <a:solidFill>
                  <a:srgbClr val="DCE6EA"/>
                </a:solidFill>
                <a:latin typeface="Courier New" pitchFamily="34" charset="0"/>
                <a:ea typeface="Courier New" pitchFamily="34" charset="-122"/>
                <a:cs typeface="Courier New" pitchFamily="34" charset="-120"/>
              </a:rPr>
              <a:t>print(figlet_format("it works!"))</a:t>
            </a:r>
            <a:endParaRPr lang="en-US" sz="1250" dirty="0"/>
          </a:p>
        </p:txBody>
      </p:sp>
      <p:sp>
        <p:nvSpPr>
          <p:cNvPr id="7" name="Text 5"/>
          <p:cNvSpPr/>
          <p:nvPr/>
        </p:nvSpPr>
        <p:spPr>
          <a:xfrm>
            <a:off x="6318504" y="1828800"/>
            <a:ext cx="2743200"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TERMINAL</a:t>
            </a:r>
            <a:endParaRPr lang="en-US" sz="950" dirty="0"/>
          </a:p>
        </p:txBody>
      </p:sp>
      <p:sp>
        <p:nvSpPr>
          <p:cNvPr id="8" name="Shape 6"/>
          <p:cNvSpPr/>
          <p:nvPr/>
        </p:nvSpPr>
        <p:spPr>
          <a:xfrm>
            <a:off x="6318504" y="2103120"/>
            <a:ext cx="5276088" cy="2331720"/>
          </a:xfrm>
          <a:prstGeom prst="rect">
            <a:avLst/>
          </a:prstGeom>
          <a:solidFill>
            <a:srgbClr val="121C22"/>
          </a:solidFill>
          <a:ln/>
        </p:spPr>
        <p:txBody>
          <a:bodyPr/>
          <a:lstStyle/>
          <a:p>
            <a:endParaRPr lang="en-US"/>
          </a:p>
        </p:txBody>
      </p:sp>
      <p:sp>
        <p:nvSpPr>
          <p:cNvPr id="9" name="Text 7"/>
          <p:cNvSpPr/>
          <p:nvPr/>
        </p:nvSpPr>
        <p:spPr>
          <a:xfrm>
            <a:off x="6473952" y="2221992"/>
            <a:ext cx="4965192" cy="2093976"/>
          </a:xfrm>
          <a:prstGeom prst="rect">
            <a:avLst/>
          </a:prstGeom>
          <a:noFill/>
          <a:ln/>
        </p:spPr>
        <p:txBody>
          <a:bodyPr wrap="square" lIns="0" tIns="0" rIns="0" bIns="0" rtlCol="0" anchor="t"/>
          <a:lstStyle/>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python banner.py</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ModuleNotFoundError: No module named 'pyfiglet'</a:t>
            </a:r>
            <a:endParaRPr lang="en-US" sz="1050" dirty="0"/>
          </a:p>
          <a:p>
            <a:pPr marL="0" indent="0">
              <a:lnSpc>
                <a:spcPct val="118000"/>
              </a:lnSpc>
              <a:buNone/>
            </a:pP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uv run banner.py</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_ _                    _       _</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(_) |_  __ __ _____ _ _| |__ __| |</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  _| \ V  V / _ \ '_| / /(_-&lt;_|</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|_|\__|  \_/\_/\___/_| |_\_\/__(_)</a:t>
            </a:r>
            <a:endParaRPr lang="en-US" sz="1050" dirty="0"/>
          </a:p>
          <a:p>
            <a:pPr marL="0" indent="0">
              <a:lnSpc>
                <a:spcPct val="118000"/>
              </a:lnSpc>
              <a:buNone/>
            </a:pP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1.8 seconds, from nothing.</a:t>
            </a:r>
            <a:endParaRPr lang="en-US" sz="1050" dirty="0"/>
          </a:p>
        </p:txBody>
      </p:sp>
      <p:sp>
        <p:nvSpPr>
          <p:cNvPr id="10" name="Shape 8"/>
          <p:cNvSpPr/>
          <p:nvPr/>
        </p:nvSpPr>
        <p:spPr>
          <a:xfrm>
            <a:off x="594360" y="4114800"/>
            <a:ext cx="5276088" cy="0"/>
          </a:xfrm>
          <a:prstGeom prst="line">
            <a:avLst/>
          </a:prstGeom>
          <a:noFill/>
          <a:ln w="12700">
            <a:solidFill>
              <a:srgbClr val="9EAEB8"/>
            </a:solidFill>
            <a:prstDash val="solid"/>
          </a:ln>
        </p:spPr>
        <p:txBody>
          <a:bodyPr/>
          <a:lstStyle/>
          <a:p>
            <a:endParaRPr lang="en-US"/>
          </a:p>
        </p:txBody>
      </p:sp>
      <p:sp>
        <p:nvSpPr>
          <p:cNvPr id="11" name="Text 9"/>
          <p:cNvSpPr/>
          <p:nvPr/>
        </p:nvSpPr>
        <p:spPr>
          <a:xfrm>
            <a:off x="594360" y="4114800"/>
            <a:ext cx="1792224" cy="566928"/>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THOSE 3 LINES ARE</a:t>
            </a:r>
            <a:endParaRPr lang="en-US" sz="1050" dirty="0"/>
          </a:p>
        </p:txBody>
      </p:sp>
      <p:sp>
        <p:nvSpPr>
          <p:cNvPr id="12" name="Text 10"/>
          <p:cNvSpPr/>
          <p:nvPr/>
        </p:nvSpPr>
        <p:spPr>
          <a:xfrm>
            <a:off x="2514600" y="4114800"/>
            <a:ext cx="3227832" cy="566928"/>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a Python standard, not a uv invention</a:t>
            </a:r>
            <a:endParaRPr lang="en-US" sz="1250" dirty="0"/>
          </a:p>
        </p:txBody>
      </p:sp>
      <p:sp>
        <p:nvSpPr>
          <p:cNvPr id="13" name="Shape 11"/>
          <p:cNvSpPr/>
          <p:nvPr/>
        </p:nvSpPr>
        <p:spPr>
          <a:xfrm>
            <a:off x="594360" y="4681728"/>
            <a:ext cx="5276088" cy="0"/>
          </a:xfrm>
          <a:prstGeom prst="line">
            <a:avLst/>
          </a:prstGeom>
          <a:noFill/>
          <a:ln w="9525">
            <a:solidFill>
              <a:srgbClr val="D0DAE0"/>
            </a:solidFill>
            <a:prstDash val="solid"/>
          </a:ln>
        </p:spPr>
        <p:txBody>
          <a:bodyPr/>
          <a:lstStyle/>
          <a:p>
            <a:endParaRPr lang="en-US"/>
          </a:p>
        </p:txBody>
      </p:sp>
      <p:sp>
        <p:nvSpPr>
          <p:cNvPr id="14" name="Text 12"/>
          <p:cNvSpPr/>
          <p:nvPr/>
        </p:nvSpPr>
        <p:spPr>
          <a:xfrm>
            <a:off x="594360" y="4681728"/>
            <a:ext cx="1792224" cy="566928"/>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WHAT uv DOES</a:t>
            </a:r>
            <a:endParaRPr lang="en-US" sz="1050" dirty="0"/>
          </a:p>
        </p:txBody>
      </p:sp>
      <p:sp>
        <p:nvSpPr>
          <p:cNvPr id="15" name="Text 13"/>
          <p:cNvSpPr/>
          <p:nvPr/>
        </p:nvSpPr>
        <p:spPr>
          <a:xfrm>
            <a:off x="2514600" y="4681728"/>
            <a:ext cx="3227832" cy="566928"/>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reads them, builds a throwaway env, runs the file, cleans up</a:t>
            </a:r>
            <a:endParaRPr lang="en-US" sz="1250" dirty="0"/>
          </a:p>
        </p:txBody>
      </p:sp>
      <p:sp>
        <p:nvSpPr>
          <p:cNvPr id="16" name="Shape 14"/>
          <p:cNvSpPr/>
          <p:nvPr/>
        </p:nvSpPr>
        <p:spPr>
          <a:xfrm>
            <a:off x="594360" y="5248656"/>
            <a:ext cx="5276088" cy="0"/>
          </a:xfrm>
          <a:prstGeom prst="line">
            <a:avLst/>
          </a:prstGeom>
          <a:noFill/>
          <a:ln w="9525">
            <a:solidFill>
              <a:srgbClr val="D0DAE0"/>
            </a:solidFill>
            <a:prstDash val="solid"/>
          </a:ln>
        </p:spPr>
        <p:txBody>
          <a:bodyPr/>
          <a:lstStyle/>
          <a:p>
            <a:endParaRPr lang="en-US"/>
          </a:p>
        </p:txBody>
      </p:sp>
      <p:sp>
        <p:nvSpPr>
          <p:cNvPr id="17" name="Text 15"/>
          <p:cNvSpPr/>
          <p:nvPr/>
        </p:nvSpPr>
        <p:spPr>
          <a:xfrm>
            <a:off x="594360" y="5248656"/>
            <a:ext cx="1792224" cy="566928"/>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WHAT YOU GAINED</a:t>
            </a:r>
            <a:endParaRPr lang="en-US" sz="1050" dirty="0"/>
          </a:p>
        </p:txBody>
      </p:sp>
      <p:sp>
        <p:nvSpPr>
          <p:cNvPr id="18" name="Text 16"/>
          <p:cNvSpPr/>
          <p:nvPr/>
        </p:nvSpPr>
        <p:spPr>
          <a:xfrm>
            <a:off x="2514600" y="5248656"/>
            <a:ext cx="3227832" cy="566928"/>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you can email someone a script that installs itself</a:t>
            </a:r>
            <a:endParaRPr lang="en-US" sz="1250" dirty="0"/>
          </a:p>
        </p:txBody>
      </p:sp>
      <p:sp>
        <p:nvSpPr>
          <p:cNvPr id="19" name="Shape 17"/>
          <p:cNvSpPr/>
          <p:nvPr/>
        </p:nvSpPr>
        <p:spPr>
          <a:xfrm>
            <a:off x="594360" y="5815584"/>
            <a:ext cx="5276088" cy="0"/>
          </a:xfrm>
          <a:prstGeom prst="line">
            <a:avLst/>
          </a:prstGeom>
          <a:noFill/>
          <a:ln w="9525">
            <a:solidFill>
              <a:srgbClr val="D0DAE0"/>
            </a:solidFill>
            <a:prstDash val="solid"/>
          </a:ln>
        </p:spPr>
        <p:txBody>
          <a:bodyPr/>
          <a:lstStyle/>
          <a:p>
            <a:endParaRPr lang="en-US"/>
          </a:p>
        </p:txBody>
      </p:sp>
      <p:sp>
        <p:nvSpPr>
          <p:cNvPr id="20" name="Text 18"/>
          <p:cNvSpPr/>
          <p:nvPr/>
        </p:nvSpPr>
        <p:spPr>
          <a:xfrm>
            <a:off x="594360" y="5989320"/>
            <a:ext cx="11002975" cy="402336"/>
          </a:xfrm>
          <a:prstGeom prst="rect">
            <a:avLst/>
          </a:prstGeom>
          <a:noFill/>
          <a:ln/>
        </p:spPr>
        <p:txBody>
          <a:bodyPr wrap="square" lIns="0" tIns="0" rIns="0" bIns="0" rtlCol="0" anchor="t"/>
          <a:lstStyle/>
          <a:p>
            <a:pPr marL="0" indent="0">
              <a:lnSpc>
                <a:spcPct val="120000"/>
              </a:lnSpc>
              <a:buNone/>
            </a:pPr>
            <a:r>
              <a:rPr lang="en-US" sz="1350" b="1" dirty="0">
                <a:solidFill>
                  <a:srgbClr val="121C22"/>
                </a:solidFill>
                <a:latin typeface="Calibri" pitchFamily="34" charset="0"/>
                <a:ea typeface="Calibri" pitchFamily="34" charset="-122"/>
                <a:cs typeface="Calibri" pitchFamily="34" charset="-120"/>
              </a:rPr>
              <a:t>The closest thing to “Colab convenience, on a real computer” that exists right now.</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121C22"/>
        </a:solidFill>
        <a:effectLst/>
      </p:bgPr>
    </p:bg>
    <p:spTree>
      <p:nvGrpSpPr>
        <p:cNvPr id="1" name=""/>
        <p:cNvGrpSpPr/>
        <p:nvPr/>
      </p:nvGrpSpPr>
      <p:grpSpPr>
        <a:xfrm>
          <a:off x="0" y="0"/>
          <a:ext cx="0" cy="0"/>
          <a:chOff x="0" y="0"/>
          <a:chExt cx="0" cy="0"/>
        </a:xfrm>
      </p:grpSpPr>
      <p:sp>
        <p:nvSpPr>
          <p:cNvPr id="4" name="Text 2"/>
          <p:cNvSpPr/>
          <p:nvPr/>
        </p:nvSpPr>
        <p:spPr>
          <a:xfrm>
            <a:off x="594360" y="2103120"/>
            <a:ext cx="6217920" cy="822960"/>
          </a:xfrm>
          <a:prstGeom prst="rect">
            <a:avLst/>
          </a:prstGeom>
          <a:noFill/>
          <a:ln/>
        </p:spPr>
        <p:txBody>
          <a:bodyPr wrap="square" lIns="0" tIns="0" rIns="0" bIns="0"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From Notebook to Program</a:t>
            </a:r>
            <a:endParaRPr lang="en-US" sz="3800" dirty="0"/>
          </a:p>
        </p:txBody>
      </p:sp>
      <p:sp>
        <p:nvSpPr>
          <p:cNvPr id="5" name="Shape 3"/>
          <p:cNvSpPr/>
          <p:nvPr/>
        </p:nvSpPr>
        <p:spPr>
          <a:xfrm>
            <a:off x="594360" y="3401568"/>
            <a:ext cx="6035040" cy="0"/>
          </a:xfrm>
          <a:prstGeom prst="line">
            <a:avLst/>
          </a:prstGeom>
          <a:noFill/>
          <a:ln w="9525">
            <a:solidFill>
              <a:srgbClr val="2C4150"/>
            </a:solidFill>
            <a:prstDash val="solid"/>
          </a:ln>
        </p:spPr>
        <p:txBody>
          <a:bodyPr/>
          <a:lstStyle/>
          <a:p>
            <a:endParaRPr lang="en-US"/>
          </a:p>
        </p:txBody>
      </p:sp>
      <p:sp>
        <p:nvSpPr>
          <p:cNvPr id="6" name="Text 4"/>
          <p:cNvSpPr/>
          <p:nvPr/>
        </p:nvSpPr>
        <p:spPr>
          <a:xfrm>
            <a:off x="594360" y="3547872"/>
            <a:ext cx="5943600" cy="640080"/>
          </a:xfrm>
          <a:prstGeom prst="rect">
            <a:avLst/>
          </a:prstGeom>
          <a:noFill/>
          <a:ln/>
        </p:spPr>
        <p:txBody>
          <a:bodyPr wrap="square" lIns="0" tIns="0" rIns="0" bIns="0" rtlCol="0" anchor="t"/>
          <a:lstStyle/>
          <a:p>
            <a:pPr marL="0" indent="0">
              <a:lnSpc>
                <a:spcPct val="130000"/>
              </a:lnSpc>
              <a:buNone/>
            </a:pPr>
            <a:r>
              <a:rPr lang="en-US" sz="1400" dirty="0">
                <a:solidFill>
                  <a:srgbClr val="D7E0E5"/>
                </a:solidFill>
                <a:latin typeface="Calibri" pitchFamily="34" charset="0"/>
                <a:ea typeface="Calibri" pitchFamily="34" charset="-122"/>
                <a:cs typeface="Calibri" pitchFamily="34" charset="-120"/>
              </a:rPr>
              <a:t>The notebook on your screen is not the code that ran. What to do about that, and when to leave.</a:t>
            </a:r>
            <a:endParaRPr lang="en-US" sz="1400" dirty="0"/>
          </a:p>
        </p:txBody>
      </p:sp>
      <p:sp>
        <p:nvSpPr>
          <p:cNvPr id="7" name="Text 5"/>
          <p:cNvSpPr/>
          <p:nvPr/>
        </p:nvSpPr>
        <p:spPr>
          <a:xfrm>
            <a:off x="594360" y="4370832"/>
            <a:ext cx="3657600" cy="228600"/>
          </a:xfrm>
          <a:prstGeom prst="rect">
            <a:avLst/>
          </a:prstGeom>
          <a:noFill/>
          <a:ln/>
        </p:spPr>
        <p:txBody>
          <a:bodyPr wrap="square" lIns="0" tIns="0" rIns="0" bIns="0" rtlCol="0" anchor="ctr"/>
          <a:lstStyle/>
          <a:p>
            <a:pPr marL="0" indent="0">
              <a:buNone/>
            </a:pPr>
            <a:r>
              <a:rPr lang="en-US" sz="950" b="1" kern="0" spc="120" dirty="0">
                <a:solidFill>
                  <a:srgbClr val="8A9AA4"/>
                </a:solidFill>
                <a:latin typeface="Courier New" pitchFamily="34" charset="0"/>
                <a:ea typeface="Courier New" pitchFamily="34" charset="-122"/>
                <a:cs typeface="Courier New" pitchFamily="34" charset="-120"/>
              </a:rPr>
              <a:t>IN THIS SECTION</a:t>
            </a:r>
            <a:endParaRPr lang="en-US" sz="950" dirty="0"/>
          </a:p>
        </p:txBody>
      </p:sp>
      <p:sp>
        <p:nvSpPr>
          <p:cNvPr id="8" name="Shape 6"/>
          <p:cNvSpPr/>
          <p:nvPr/>
        </p:nvSpPr>
        <p:spPr>
          <a:xfrm>
            <a:off x="594360" y="4626864"/>
            <a:ext cx="6035040" cy="0"/>
          </a:xfrm>
          <a:prstGeom prst="line">
            <a:avLst/>
          </a:prstGeom>
          <a:noFill/>
          <a:ln w="9525">
            <a:solidFill>
              <a:srgbClr val="2C4150"/>
            </a:solidFill>
            <a:prstDash val="solid"/>
          </a:ln>
        </p:spPr>
        <p:txBody>
          <a:bodyPr/>
          <a:lstStyle/>
          <a:p>
            <a:endParaRPr lang="en-US"/>
          </a:p>
        </p:txBody>
      </p:sp>
      <p:sp>
        <p:nvSpPr>
          <p:cNvPr id="9" name="Text 7"/>
          <p:cNvSpPr/>
          <p:nvPr/>
        </p:nvSpPr>
        <p:spPr>
          <a:xfrm>
            <a:off x="594360" y="4718304"/>
            <a:ext cx="384048" cy="274320"/>
          </a:xfrm>
          <a:prstGeom prst="rect">
            <a:avLst/>
          </a:prstGeom>
          <a:noFill/>
          <a:ln/>
        </p:spPr>
        <p:txBody>
          <a:bodyPr wrap="square" lIns="0" tIns="0" rIns="0" bIns="0" rtlCol="0" anchor="ctr"/>
          <a:lstStyle/>
          <a:p>
            <a:pPr marL="0" indent="0">
              <a:buNone/>
            </a:pPr>
            <a:r>
              <a:rPr lang="en-US" sz="1050" b="1" dirty="0">
                <a:solidFill>
                  <a:srgbClr val="E8A33D"/>
                </a:solidFill>
                <a:latin typeface="Courier New" pitchFamily="34" charset="0"/>
                <a:ea typeface="Courier New" pitchFamily="34" charset="-122"/>
                <a:cs typeface="Courier New" pitchFamily="34" charset="-120"/>
              </a:rPr>
              <a:t>01</a:t>
            </a:r>
            <a:endParaRPr lang="en-US" sz="1050" dirty="0"/>
          </a:p>
        </p:txBody>
      </p:sp>
      <p:sp>
        <p:nvSpPr>
          <p:cNvPr id="10" name="Text 8"/>
          <p:cNvSpPr/>
          <p:nvPr/>
        </p:nvSpPr>
        <p:spPr>
          <a:xfrm>
            <a:off x="1033272" y="4700016"/>
            <a:ext cx="5486400" cy="292608"/>
          </a:xfrm>
          <a:prstGeom prst="rect">
            <a:avLst/>
          </a:prstGeom>
          <a:noFill/>
          <a:ln/>
        </p:spPr>
        <p:txBody>
          <a:bodyPr wrap="square" lIns="0" tIns="0" rIns="0" bIns="0" rtlCol="0" anchor="ctr"/>
          <a:lstStyle/>
          <a:p>
            <a:pPr marL="0" indent="0">
              <a:buNone/>
            </a:pPr>
            <a:r>
              <a:rPr lang="en-US" sz="1300" dirty="0">
                <a:solidFill>
                  <a:srgbClr val="D7E0E5"/>
                </a:solidFill>
                <a:latin typeface="Calibri" pitchFamily="34" charset="0"/>
                <a:cs typeface="Calibri" pitchFamily="34" charset="-120"/>
              </a:rPr>
              <a:t>Notebooks can lie</a:t>
            </a:r>
            <a:endParaRPr lang="en-US" sz="1300" dirty="0"/>
          </a:p>
        </p:txBody>
      </p:sp>
      <p:sp>
        <p:nvSpPr>
          <p:cNvPr id="11" name="Text 9"/>
          <p:cNvSpPr/>
          <p:nvPr/>
        </p:nvSpPr>
        <p:spPr>
          <a:xfrm>
            <a:off x="594360" y="5047488"/>
            <a:ext cx="384048" cy="274320"/>
          </a:xfrm>
          <a:prstGeom prst="rect">
            <a:avLst/>
          </a:prstGeom>
          <a:noFill/>
          <a:ln/>
        </p:spPr>
        <p:txBody>
          <a:bodyPr wrap="square" lIns="0" tIns="0" rIns="0" bIns="0" rtlCol="0" anchor="ctr"/>
          <a:lstStyle/>
          <a:p>
            <a:pPr marL="0" indent="0">
              <a:buNone/>
            </a:pPr>
            <a:r>
              <a:rPr lang="en-US" sz="1050" b="1" dirty="0">
                <a:solidFill>
                  <a:srgbClr val="E8A33D"/>
                </a:solidFill>
                <a:latin typeface="Courier New" pitchFamily="34" charset="0"/>
                <a:ea typeface="Courier New" pitchFamily="34" charset="-122"/>
                <a:cs typeface="Courier New" pitchFamily="34" charset="-120"/>
              </a:rPr>
              <a:t>02</a:t>
            </a:r>
            <a:endParaRPr lang="en-US" sz="1050" dirty="0"/>
          </a:p>
        </p:txBody>
      </p:sp>
      <p:sp>
        <p:nvSpPr>
          <p:cNvPr id="12" name="Text 10"/>
          <p:cNvSpPr/>
          <p:nvPr/>
        </p:nvSpPr>
        <p:spPr>
          <a:xfrm>
            <a:off x="1033272" y="5029200"/>
            <a:ext cx="5486400" cy="292608"/>
          </a:xfrm>
          <a:prstGeom prst="rect">
            <a:avLst/>
          </a:prstGeom>
          <a:noFill/>
          <a:ln/>
        </p:spPr>
        <p:txBody>
          <a:bodyPr wrap="square" lIns="0" tIns="0" rIns="0" bIns="0" rtlCol="0" anchor="ctr"/>
          <a:lstStyle/>
          <a:p>
            <a:pPr marL="0" indent="0">
              <a:buNone/>
            </a:pPr>
            <a:r>
              <a:rPr lang="en-US" sz="1300" dirty="0">
                <a:solidFill>
                  <a:srgbClr val="D7E0E5"/>
                </a:solidFill>
                <a:latin typeface="Calibri" pitchFamily="34" charset="0"/>
                <a:ea typeface="Calibri" pitchFamily="34" charset="-122"/>
                <a:cs typeface="Calibri" pitchFamily="34" charset="-120"/>
              </a:rPr>
              <a:t>Notebook hygiene, and when to leave</a:t>
            </a:r>
            <a:endParaRPr lang="en-US" sz="1300" dirty="0"/>
          </a:p>
        </p:txBody>
      </p:sp>
      <p:sp>
        <p:nvSpPr>
          <p:cNvPr id="13" name="Text 11"/>
          <p:cNvSpPr/>
          <p:nvPr/>
        </p:nvSpPr>
        <p:spPr>
          <a:xfrm>
            <a:off x="594360" y="5376672"/>
            <a:ext cx="384048" cy="274320"/>
          </a:xfrm>
          <a:prstGeom prst="rect">
            <a:avLst/>
          </a:prstGeom>
          <a:noFill/>
          <a:ln/>
        </p:spPr>
        <p:txBody>
          <a:bodyPr wrap="square" lIns="0" tIns="0" rIns="0" bIns="0" rtlCol="0" anchor="ctr"/>
          <a:lstStyle/>
          <a:p>
            <a:pPr marL="0" indent="0">
              <a:buNone/>
            </a:pPr>
            <a:r>
              <a:rPr lang="en-US" sz="1050" b="1" dirty="0">
                <a:solidFill>
                  <a:srgbClr val="E8A33D"/>
                </a:solidFill>
                <a:latin typeface="Courier New" pitchFamily="34" charset="0"/>
                <a:ea typeface="Courier New" pitchFamily="34" charset="-122"/>
                <a:cs typeface="Courier New" pitchFamily="34" charset="-120"/>
              </a:rPr>
              <a:t>03</a:t>
            </a:r>
            <a:endParaRPr lang="en-US" sz="1050" dirty="0"/>
          </a:p>
        </p:txBody>
      </p:sp>
      <p:sp>
        <p:nvSpPr>
          <p:cNvPr id="14" name="Text 12"/>
          <p:cNvSpPr/>
          <p:nvPr/>
        </p:nvSpPr>
        <p:spPr>
          <a:xfrm>
            <a:off x="1033272" y="5358384"/>
            <a:ext cx="5486400" cy="292608"/>
          </a:xfrm>
          <a:prstGeom prst="rect">
            <a:avLst/>
          </a:prstGeom>
          <a:noFill/>
          <a:ln/>
        </p:spPr>
        <p:txBody>
          <a:bodyPr wrap="square" lIns="0" tIns="0" rIns="0" bIns="0" rtlCol="0" anchor="ctr"/>
          <a:lstStyle/>
          <a:p>
            <a:pPr marL="0" indent="0">
              <a:buNone/>
            </a:pPr>
            <a:r>
              <a:rPr lang="en-US" sz="1300" dirty="0">
                <a:solidFill>
                  <a:srgbClr val="D7E0E5"/>
                </a:solidFill>
                <a:latin typeface="Calibri" pitchFamily="34" charset="0"/>
                <a:ea typeface="Calibri" pitchFamily="34" charset="-122"/>
                <a:cs typeface="Calibri" pitchFamily="34" charset="-120"/>
              </a:rPr>
              <a:t>Entry points, arguments, docstrings</a:t>
            </a:r>
            <a:endParaRPr lang="en-US" sz="1300" dirty="0"/>
          </a:p>
        </p:txBody>
      </p:sp>
      <p:sp>
        <p:nvSpPr>
          <p:cNvPr id="15" name="Text 13"/>
          <p:cNvSpPr/>
          <p:nvPr/>
        </p:nvSpPr>
        <p:spPr>
          <a:xfrm>
            <a:off x="7452360" y="1371600"/>
            <a:ext cx="4114800" cy="228600"/>
          </a:xfrm>
          <a:prstGeom prst="rect">
            <a:avLst/>
          </a:prstGeom>
          <a:noFill/>
          <a:ln/>
        </p:spPr>
        <p:txBody>
          <a:bodyPr wrap="square" lIns="0" tIns="0" rIns="0" bIns="0" rtlCol="0" anchor="ctr"/>
          <a:lstStyle/>
          <a:p>
            <a:pPr marL="0" indent="0">
              <a:buNone/>
            </a:pPr>
            <a:r>
              <a:rPr lang="en-US" sz="950" b="1" kern="0" spc="120" dirty="0">
                <a:solidFill>
                  <a:srgbClr val="8A9AA4"/>
                </a:solidFill>
                <a:latin typeface="Courier New" pitchFamily="34" charset="0"/>
                <a:ea typeface="Courier New" pitchFamily="34" charset="-122"/>
                <a:cs typeface="Courier New" pitchFamily="34" charset="-120"/>
              </a:rPr>
              <a:t>WHERE WE ARE</a:t>
            </a:r>
            <a:endParaRPr lang="en-US" sz="950" dirty="0"/>
          </a:p>
        </p:txBody>
      </p:sp>
      <p:sp>
        <p:nvSpPr>
          <p:cNvPr id="16" name="Shape 14"/>
          <p:cNvSpPr/>
          <p:nvPr/>
        </p:nvSpPr>
        <p:spPr>
          <a:xfrm>
            <a:off x="7452360" y="1645920"/>
            <a:ext cx="4114800" cy="0"/>
          </a:xfrm>
          <a:prstGeom prst="line">
            <a:avLst/>
          </a:prstGeom>
          <a:noFill/>
          <a:ln w="12700">
            <a:solidFill>
              <a:srgbClr val="4A5F6C"/>
            </a:solidFill>
            <a:prstDash val="solid"/>
          </a:ln>
        </p:spPr>
        <p:txBody>
          <a:bodyPr/>
          <a:lstStyle/>
          <a:p>
            <a:endParaRPr lang="en-US"/>
          </a:p>
        </p:txBody>
      </p:sp>
      <p:sp>
        <p:nvSpPr>
          <p:cNvPr id="18" name="Text 16"/>
          <p:cNvSpPr/>
          <p:nvPr/>
        </p:nvSpPr>
        <p:spPr>
          <a:xfrm>
            <a:off x="7452360" y="1815136"/>
            <a:ext cx="2606040" cy="365760"/>
          </a:xfrm>
          <a:prstGeom prst="rect">
            <a:avLst/>
          </a:prstGeom>
          <a:noFill/>
          <a:ln/>
        </p:spPr>
        <p:txBody>
          <a:bodyPr wrap="square" lIns="0" tIns="0" rIns="0" bIns="0" rtlCol="0" anchor="ctr"/>
          <a:lstStyle/>
          <a:p>
            <a:pPr marL="0" indent="0">
              <a:lnSpc>
                <a:spcPct val="105000"/>
              </a:lnSpc>
              <a:buNone/>
            </a:pPr>
            <a:r>
              <a:rPr lang="en-US" sz="1350" dirty="0">
                <a:solidFill>
                  <a:srgbClr val="6E7F8A"/>
                </a:solidFill>
                <a:latin typeface="Calibri" pitchFamily="34" charset="0"/>
                <a:ea typeface="Calibri" pitchFamily="34" charset="-122"/>
                <a:cs typeface="Calibri" pitchFamily="34" charset="-120"/>
              </a:rPr>
              <a:t>Behind the curtain of Colab</a:t>
            </a:r>
            <a:endParaRPr lang="en-US" sz="1350" dirty="0"/>
          </a:p>
        </p:txBody>
      </p:sp>
      <p:sp>
        <p:nvSpPr>
          <p:cNvPr id="20" name="Shape 18"/>
          <p:cNvSpPr/>
          <p:nvPr/>
        </p:nvSpPr>
        <p:spPr>
          <a:xfrm>
            <a:off x="7452360" y="2359152"/>
            <a:ext cx="4114800" cy="0"/>
          </a:xfrm>
          <a:prstGeom prst="line">
            <a:avLst/>
          </a:prstGeom>
          <a:noFill/>
          <a:ln w="9525">
            <a:solidFill>
              <a:srgbClr val="2C4150"/>
            </a:solidFill>
            <a:prstDash val="solid"/>
          </a:ln>
        </p:spPr>
        <p:txBody>
          <a:bodyPr/>
          <a:lstStyle/>
          <a:p>
            <a:endParaRPr lang="en-US"/>
          </a:p>
        </p:txBody>
      </p:sp>
      <p:sp>
        <p:nvSpPr>
          <p:cNvPr id="22" name="Text 20"/>
          <p:cNvSpPr/>
          <p:nvPr/>
        </p:nvSpPr>
        <p:spPr>
          <a:xfrm>
            <a:off x="7452360" y="2528368"/>
            <a:ext cx="2606040" cy="365760"/>
          </a:xfrm>
          <a:prstGeom prst="rect">
            <a:avLst/>
          </a:prstGeom>
          <a:noFill/>
          <a:ln/>
        </p:spPr>
        <p:txBody>
          <a:bodyPr wrap="square" lIns="0" tIns="0" rIns="0" bIns="0" rtlCol="0" anchor="ctr"/>
          <a:lstStyle/>
          <a:p>
            <a:pPr marL="0" indent="0">
              <a:lnSpc>
                <a:spcPct val="105000"/>
              </a:lnSpc>
              <a:buNone/>
            </a:pPr>
            <a:r>
              <a:rPr lang="en-US" sz="1350" dirty="0">
                <a:solidFill>
                  <a:srgbClr val="6E7F8A"/>
                </a:solidFill>
                <a:latin typeface="Calibri" pitchFamily="34" charset="0"/>
                <a:ea typeface="Calibri" pitchFamily="34" charset="-122"/>
                <a:cs typeface="Calibri" pitchFamily="34" charset="-120"/>
              </a:rPr>
              <a:t>Sharing Python code</a:t>
            </a:r>
            <a:endParaRPr lang="en-US" sz="1350" dirty="0"/>
          </a:p>
        </p:txBody>
      </p:sp>
      <p:sp>
        <p:nvSpPr>
          <p:cNvPr id="24" name="Shape 22"/>
          <p:cNvSpPr/>
          <p:nvPr/>
        </p:nvSpPr>
        <p:spPr>
          <a:xfrm>
            <a:off x="7452360" y="3072384"/>
            <a:ext cx="4114800" cy="0"/>
          </a:xfrm>
          <a:prstGeom prst="line">
            <a:avLst/>
          </a:prstGeom>
          <a:noFill/>
          <a:ln w="9525">
            <a:solidFill>
              <a:srgbClr val="2C4150"/>
            </a:solidFill>
            <a:prstDash val="solid"/>
          </a:ln>
        </p:spPr>
        <p:txBody>
          <a:bodyPr/>
          <a:lstStyle/>
          <a:p>
            <a:endParaRPr lang="en-US"/>
          </a:p>
        </p:txBody>
      </p:sp>
      <p:sp>
        <p:nvSpPr>
          <p:cNvPr id="26" name="Text 24"/>
          <p:cNvSpPr/>
          <p:nvPr/>
        </p:nvSpPr>
        <p:spPr>
          <a:xfrm>
            <a:off x="7452360" y="3241600"/>
            <a:ext cx="2606040" cy="365760"/>
          </a:xfrm>
          <a:prstGeom prst="rect">
            <a:avLst/>
          </a:prstGeom>
          <a:noFill/>
          <a:ln/>
        </p:spPr>
        <p:txBody>
          <a:bodyPr wrap="square" lIns="0" tIns="0" rIns="0" bIns="0" rtlCol="0" anchor="ctr"/>
          <a:lstStyle/>
          <a:p>
            <a:pPr marL="0" indent="0">
              <a:lnSpc>
                <a:spcPct val="105000"/>
              </a:lnSpc>
              <a:buNone/>
            </a:pPr>
            <a:r>
              <a:rPr lang="en-US" sz="1350" b="1" dirty="0">
                <a:solidFill>
                  <a:srgbClr val="FFFFFF"/>
                </a:solidFill>
                <a:latin typeface="Calibri" pitchFamily="34" charset="0"/>
                <a:ea typeface="Calibri" pitchFamily="34" charset="-122"/>
                <a:cs typeface="Calibri" pitchFamily="34" charset="-120"/>
              </a:rPr>
              <a:t>From notebook to program</a:t>
            </a:r>
            <a:endParaRPr lang="en-US" sz="1350" dirty="0"/>
          </a:p>
        </p:txBody>
      </p:sp>
      <p:sp>
        <p:nvSpPr>
          <p:cNvPr id="28" name="Shape 26"/>
          <p:cNvSpPr/>
          <p:nvPr/>
        </p:nvSpPr>
        <p:spPr>
          <a:xfrm>
            <a:off x="7452360" y="3785616"/>
            <a:ext cx="4114800" cy="0"/>
          </a:xfrm>
          <a:prstGeom prst="line">
            <a:avLst/>
          </a:prstGeom>
          <a:noFill/>
          <a:ln w="9525">
            <a:solidFill>
              <a:srgbClr val="2C4150"/>
            </a:solidFill>
            <a:prstDash val="solid"/>
          </a:ln>
        </p:spPr>
        <p:txBody>
          <a:bodyPr/>
          <a:lstStyle/>
          <a:p>
            <a:endParaRPr lang="en-US"/>
          </a:p>
        </p:txBody>
      </p:sp>
      <p:sp>
        <p:nvSpPr>
          <p:cNvPr id="31" name="Shape 29"/>
          <p:cNvSpPr/>
          <p:nvPr/>
        </p:nvSpPr>
        <p:spPr>
          <a:xfrm>
            <a:off x="7452360" y="4498848"/>
            <a:ext cx="4114800" cy="0"/>
          </a:xfrm>
          <a:prstGeom prst="line">
            <a:avLst/>
          </a:prstGeom>
          <a:noFill/>
          <a:ln w="9525">
            <a:solidFill>
              <a:srgbClr val="2C4150"/>
            </a:solidFill>
            <a:prstDash val="solid"/>
          </a:ln>
        </p:spPr>
        <p:txBody>
          <a:bodyPr/>
          <a:lstStyle/>
          <a:p>
            <a:endParaRPr lang="en-US"/>
          </a:p>
        </p:txBody>
      </p:sp>
      <p:sp>
        <p:nvSpPr>
          <p:cNvPr id="2" name="Text 20">
            <a:extLst>
              <a:ext uri="{FF2B5EF4-FFF2-40B4-BE49-F238E27FC236}">
                <a16:creationId xmlns:a16="http://schemas.microsoft.com/office/drawing/2014/main" id="{4EDE21A0-2AF2-E814-0285-82DBD5C6D8E9}"/>
              </a:ext>
            </a:extLst>
          </p:cNvPr>
          <p:cNvSpPr/>
          <p:nvPr/>
        </p:nvSpPr>
        <p:spPr>
          <a:xfrm>
            <a:off x="7452360" y="3954831"/>
            <a:ext cx="2606040" cy="365760"/>
          </a:xfrm>
          <a:prstGeom prst="rect">
            <a:avLst/>
          </a:prstGeom>
          <a:noFill/>
          <a:ln/>
        </p:spPr>
        <p:txBody>
          <a:bodyPr wrap="square" lIns="0" tIns="0" rIns="0" bIns="0" rtlCol="0" anchor="ctr"/>
          <a:lstStyle/>
          <a:p>
            <a:pPr marL="0" indent="0">
              <a:lnSpc>
                <a:spcPct val="105000"/>
              </a:lnSpc>
              <a:buNone/>
            </a:pPr>
            <a:r>
              <a:rPr lang="en-US" sz="1350" dirty="0">
                <a:solidFill>
                  <a:srgbClr val="6E7F8A"/>
                </a:solidFill>
                <a:latin typeface="Calibri" pitchFamily="34" charset="0"/>
                <a:ea typeface="Calibri" pitchFamily="34" charset="-122"/>
                <a:cs typeface="Calibri" pitchFamily="34" charset="-120"/>
              </a:rPr>
              <a:t>Software in the Real World</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1065277"/>
            <a:ext cx="11002975" cy="676656"/>
          </a:xfrm>
          <a:prstGeom prst="rect">
            <a:avLst/>
          </a:prstGeom>
          <a:noFill/>
          <a:ln/>
        </p:spPr>
        <p:txBody>
          <a:bodyPr wrap="square" lIns="0" tIns="0" rIns="0" bIns="0" rtlCol="0" anchor="t"/>
          <a:lstStyle/>
          <a:p>
            <a:pPr marL="0" indent="0">
              <a:buNone/>
            </a:pPr>
            <a:r>
              <a:rPr lang="en-US" sz="3300" b="1" dirty="0">
                <a:solidFill>
                  <a:srgbClr val="121C22"/>
                </a:solidFill>
                <a:latin typeface="Calibri" pitchFamily="34" charset="0"/>
                <a:ea typeface="Calibri" pitchFamily="34" charset="-122"/>
                <a:cs typeface="Calibri" pitchFamily="34" charset="-120"/>
              </a:rPr>
              <a:t>A notebook can lie to you</a:t>
            </a:r>
            <a:endParaRPr lang="en-US" sz="3300" dirty="0"/>
          </a:p>
        </p:txBody>
      </p:sp>
      <p:sp>
        <p:nvSpPr>
          <p:cNvPr id="5" name="Text 3"/>
          <p:cNvSpPr/>
          <p:nvPr/>
        </p:nvSpPr>
        <p:spPr>
          <a:xfrm>
            <a:off x="961126" y="2194560"/>
            <a:ext cx="3833005"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WHAT YOU DO</a:t>
            </a:r>
            <a:endParaRPr lang="en-US" sz="950" dirty="0"/>
          </a:p>
        </p:txBody>
      </p:sp>
      <p:sp>
        <p:nvSpPr>
          <p:cNvPr id="6" name="Text 4"/>
          <p:cNvSpPr/>
          <p:nvPr/>
        </p:nvSpPr>
        <p:spPr>
          <a:xfrm>
            <a:off x="4903859" y="2194560"/>
            <a:ext cx="1449027"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CELL 1 SHOWS</a:t>
            </a:r>
            <a:endParaRPr lang="en-US" sz="950" dirty="0"/>
          </a:p>
        </p:txBody>
      </p:sp>
      <p:sp>
        <p:nvSpPr>
          <p:cNvPr id="7" name="Text 5"/>
          <p:cNvSpPr/>
          <p:nvPr/>
        </p:nvSpPr>
        <p:spPr>
          <a:xfrm>
            <a:off x="6462613" y="2194560"/>
            <a:ext cx="1724101"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CELL 2 SHOWS</a:t>
            </a:r>
            <a:endParaRPr lang="en-US" sz="950" dirty="0"/>
          </a:p>
        </p:txBody>
      </p:sp>
      <p:sp>
        <p:nvSpPr>
          <p:cNvPr id="8" name="Text 6"/>
          <p:cNvSpPr/>
          <p:nvPr/>
        </p:nvSpPr>
        <p:spPr>
          <a:xfrm>
            <a:off x="8296443" y="2194560"/>
            <a:ext cx="1449027" cy="228600"/>
          </a:xfrm>
          <a:prstGeom prst="rect">
            <a:avLst/>
          </a:prstGeom>
          <a:noFill/>
          <a:ln/>
        </p:spPr>
        <p:txBody>
          <a:bodyPr wrap="square" lIns="0" tIns="0" rIns="0" bIns="0" rtlCol="0" anchor="ctr"/>
          <a:lstStyle/>
          <a:p>
            <a:pPr marL="0" indent="0" algn="ctr">
              <a:buNone/>
            </a:pPr>
            <a:r>
              <a:rPr lang="en-US" sz="950" b="1" kern="0" spc="110" dirty="0">
                <a:solidFill>
                  <a:srgbClr val="55656F"/>
                </a:solidFill>
                <a:latin typeface="Courier New" pitchFamily="34" charset="0"/>
                <a:ea typeface="Courier New" pitchFamily="34" charset="-122"/>
                <a:cs typeface="Courier New" pitchFamily="34" charset="-120"/>
              </a:rPr>
              <a:t>x IN MEMORY</a:t>
            </a:r>
            <a:endParaRPr lang="en-US" sz="950" dirty="0"/>
          </a:p>
        </p:txBody>
      </p:sp>
      <p:sp>
        <p:nvSpPr>
          <p:cNvPr id="9" name="Text 7"/>
          <p:cNvSpPr/>
          <p:nvPr/>
        </p:nvSpPr>
        <p:spPr>
          <a:xfrm>
            <a:off x="9855197" y="2194560"/>
            <a:ext cx="1632410" cy="228600"/>
          </a:xfrm>
          <a:prstGeom prst="rect">
            <a:avLst/>
          </a:prstGeom>
          <a:noFill/>
          <a:ln/>
        </p:spPr>
        <p:txBody>
          <a:bodyPr wrap="square" lIns="0" tIns="0" rIns="0" bIns="0" rtlCol="0" anchor="ctr"/>
          <a:lstStyle/>
          <a:p>
            <a:pPr marL="0" indent="0" algn="ctr">
              <a:buNone/>
            </a:pPr>
            <a:r>
              <a:rPr lang="en-US" sz="950" b="1" kern="0" spc="110" dirty="0">
                <a:solidFill>
                  <a:srgbClr val="55656F"/>
                </a:solidFill>
                <a:latin typeface="Courier New" pitchFamily="34" charset="0"/>
                <a:ea typeface="Courier New" pitchFamily="34" charset="-122"/>
                <a:cs typeface="Courier New" pitchFamily="34" charset="-120"/>
              </a:rPr>
              <a:t>WHAT PRINTS</a:t>
            </a:r>
            <a:endParaRPr lang="en-US" sz="950" dirty="0"/>
          </a:p>
        </p:txBody>
      </p:sp>
      <p:sp>
        <p:nvSpPr>
          <p:cNvPr id="10" name="Shape 8"/>
          <p:cNvSpPr/>
          <p:nvPr/>
        </p:nvSpPr>
        <p:spPr>
          <a:xfrm>
            <a:off x="594360" y="2468880"/>
            <a:ext cx="11002975" cy="0"/>
          </a:xfrm>
          <a:prstGeom prst="line">
            <a:avLst/>
          </a:prstGeom>
          <a:noFill/>
          <a:ln w="12700">
            <a:solidFill>
              <a:srgbClr val="9EAEB8"/>
            </a:solidFill>
            <a:prstDash val="solid"/>
          </a:ln>
        </p:spPr>
        <p:txBody>
          <a:bodyPr/>
          <a:lstStyle/>
          <a:p>
            <a:endParaRPr lang="en-US"/>
          </a:p>
        </p:txBody>
      </p:sp>
      <p:sp>
        <p:nvSpPr>
          <p:cNvPr id="11" name="Text 9"/>
          <p:cNvSpPr/>
          <p:nvPr/>
        </p:nvSpPr>
        <p:spPr>
          <a:xfrm>
            <a:off x="594360" y="2468880"/>
            <a:ext cx="238750" cy="777240"/>
          </a:xfrm>
          <a:prstGeom prst="rect">
            <a:avLst/>
          </a:prstGeom>
          <a:noFill/>
          <a:ln/>
        </p:spPr>
        <p:txBody>
          <a:bodyPr wrap="square" lIns="0" tIns="0" rIns="0" bIns="0" rtlCol="0" anchor="ctr"/>
          <a:lstStyle/>
          <a:p>
            <a:pPr marL="0" indent="0" algn="l">
              <a:lnSpc>
                <a:spcPct val="115000"/>
              </a:lnSpc>
              <a:buNone/>
            </a:pPr>
            <a:r>
              <a:rPr lang="en-US" sz="2200" b="1" dirty="0">
                <a:solidFill>
                  <a:srgbClr val="C07A10"/>
                </a:solidFill>
                <a:latin typeface="Courier New" pitchFamily="34" charset="0"/>
                <a:ea typeface="Courier New" pitchFamily="34" charset="-122"/>
                <a:cs typeface="Courier New" pitchFamily="34" charset="-120"/>
              </a:rPr>
              <a:t>1</a:t>
            </a:r>
            <a:endParaRPr lang="en-US" sz="2200" dirty="0"/>
          </a:p>
        </p:txBody>
      </p:sp>
      <p:sp>
        <p:nvSpPr>
          <p:cNvPr id="12" name="Text 10"/>
          <p:cNvSpPr/>
          <p:nvPr/>
        </p:nvSpPr>
        <p:spPr>
          <a:xfrm>
            <a:off x="961126" y="2468880"/>
            <a:ext cx="3814717" cy="77724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Run both cells. Fine. Obviously.</a:t>
            </a:r>
            <a:endParaRPr lang="en-US" sz="1250" dirty="0"/>
          </a:p>
        </p:txBody>
      </p:sp>
      <p:sp>
        <p:nvSpPr>
          <p:cNvPr id="13" name="Text 11"/>
          <p:cNvSpPr/>
          <p:nvPr/>
        </p:nvSpPr>
        <p:spPr>
          <a:xfrm>
            <a:off x="4903859" y="2468880"/>
            <a:ext cx="1430739" cy="777240"/>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x = 10</a:t>
            </a:r>
            <a:endParaRPr lang="en-US" sz="1200" dirty="0"/>
          </a:p>
        </p:txBody>
      </p:sp>
      <p:sp>
        <p:nvSpPr>
          <p:cNvPr id="14" name="Text 12"/>
          <p:cNvSpPr/>
          <p:nvPr/>
        </p:nvSpPr>
        <p:spPr>
          <a:xfrm>
            <a:off x="6462613" y="2468880"/>
            <a:ext cx="1705813" cy="777240"/>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print(x * 2)</a:t>
            </a:r>
            <a:endParaRPr lang="en-US" sz="1200" dirty="0"/>
          </a:p>
        </p:txBody>
      </p:sp>
      <p:sp>
        <p:nvSpPr>
          <p:cNvPr id="15" name="Text 13"/>
          <p:cNvSpPr/>
          <p:nvPr/>
        </p:nvSpPr>
        <p:spPr>
          <a:xfrm>
            <a:off x="8296443" y="2468880"/>
            <a:ext cx="1430739" cy="777240"/>
          </a:xfrm>
          <a:prstGeom prst="rect">
            <a:avLst/>
          </a:prstGeom>
          <a:noFill/>
          <a:ln/>
        </p:spPr>
        <p:txBody>
          <a:bodyPr wrap="square" lIns="0" tIns="0" rIns="0" bIns="0" rtlCol="0" anchor="ctr"/>
          <a:lstStyle/>
          <a:p>
            <a:pPr marL="0" indent="0" algn="ctr">
              <a:lnSpc>
                <a:spcPct val="115000"/>
              </a:lnSpc>
              <a:buNone/>
            </a:pPr>
            <a:r>
              <a:rPr lang="en-US" sz="1200" b="1" dirty="0">
                <a:solidFill>
                  <a:srgbClr val="C07A10"/>
                </a:solidFill>
                <a:latin typeface="Courier New" pitchFamily="34" charset="0"/>
                <a:ea typeface="Courier New" pitchFamily="34" charset="-122"/>
                <a:cs typeface="Courier New" pitchFamily="34" charset="-120"/>
              </a:rPr>
              <a:t>10</a:t>
            </a:r>
            <a:endParaRPr lang="en-US" sz="1200" dirty="0"/>
          </a:p>
        </p:txBody>
      </p:sp>
      <p:sp>
        <p:nvSpPr>
          <p:cNvPr id="16" name="Text 14"/>
          <p:cNvSpPr/>
          <p:nvPr/>
        </p:nvSpPr>
        <p:spPr>
          <a:xfrm>
            <a:off x="9855197" y="2468880"/>
            <a:ext cx="1614122" cy="777240"/>
          </a:xfrm>
          <a:prstGeom prst="rect">
            <a:avLst/>
          </a:prstGeom>
          <a:noFill/>
          <a:ln/>
        </p:spPr>
        <p:txBody>
          <a:bodyPr wrap="square" lIns="0" tIns="0" rIns="0" bIns="0" rtlCol="0" anchor="ctr"/>
          <a:lstStyle/>
          <a:p>
            <a:pPr marL="0" indent="0" algn="ctr">
              <a:lnSpc>
                <a:spcPct val="115000"/>
              </a:lnSpc>
              <a:buNone/>
            </a:pPr>
            <a:r>
              <a:rPr lang="en-US" sz="1200" b="1" dirty="0">
                <a:solidFill>
                  <a:srgbClr val="121C22"/>
                </a:solidFill>
                <a:latin typeface="Courier New" pitchFamily="34" charset="0"/>
                <a:ea typeface="Courier New" pitchFamily="34" charset="-122"/>
                <a:cs typeface="Courier New" pitchFamily="34" charset="-120"/>
              </a:rPr>
              <a:t>20</a:t>
            </a:r>
            <a:endParaRPr lang="en-US" sz="1200" dirty="0"/>
          </a:p>
        </p:txBody>
      </p:sp>
      <p:sp>
        <p:nvSpPr>
          <p:cNvPr id="17" name="Shape 15"/>
          <p:cNvSpPr/>
          <p:nvPr/>
        </p:nvSpPr>
        <p:spPr>
          <a:xfrm>
            <a:off x="594360" y="3246120"/>
            <a:ext cx="11002975" cy="0"/>
          </a:xfrm>
          <a:prstGeom prst="line">
            <a:avLst/>
          </a:prstGeom>
          <a:noFill/>
          <a:ln w="9525">
            <a:solidFill>
              <a:srgbClr val="D0DAE0"/>
            </a:solidFill>
            <a:prstDash val="solid"/>
          </a:ln>
        </p:spPr>
        <p:txBody>
          <a:bodyPr/>
          <a:lstStyle/>
          <a:p>
            <a:endParaRPr lang="en-US"/>
          </a:p>
        </p:txBody>
      </p:sp>
      <p:sp>
        <p:nvSpPr>
          <p:cNvPr id="18" name="Text 16"/>
          <p:cNvSpPr/>
          <p:nvPr/>
        </p:nvSpPr>
        <p:spPr>
          <a:xfrm>
            <a:off x="594360" y="3246120"/>
            <a:ext cx="238750" cy="777240"/>
          </a:xfrm>
          <a:prstGeom prst="rect">
            <a:avLst/>
          </a:prstGeom>
          <a:noFill/>
          <a:ln/>
        </p:spPr>
        <p:txBody>
          <a:bodyPr wrap="square" lIns="0" tIns="0" rIns="0" bIns="0" rtlCol="0" anchor="ctr"/>
          <a:lstStyle/>
          <a:p>
            <a:pPr marL="0" indent="0" algn="l">
              <a:lnSpc>
                <a:spcPct val="115000"/>
              </a:lnSpc>
              <a:buNone/>
            </a:pPr>
            <a:r>
              <a:rPr lang="en-US" sz="2200" b="1" dirty="0">
                <a:solidFill>
                  <a:srgbClr val="C07A10"/>
                </a:solidFill>
                <a:latin typeface="Courier New" pitchFamily="34" charset="0"/>
                <a:ea typeface="Courier New" pitchFamily="34" charset="-122"/>
                <a:cs typeface="Courier New" pitchFamily="34" charset="-120"/>
              </a:rPr>
              <a:t>2</a:t>
            </a:r>
            <a:endParaRPr lang="en-US" sz="2200" dirty="0"/>
          </a:p>
        </p:txBody>
      </p:sp>
      <p:sp>
        <p:nvSpPr>
          <p:cNvPr id="19" name="Text 17"/>
          <p:cNvSpPr/>
          <p:nvPr/>
        </p:nvSpPr>
        <p:spPr>
          <a:xfrm>
            <a:off x="961126" y="3246120"/>
            <a:ext cx="3814717" cy="77724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Edit cell 1 to x = 99. Don't re-run it.</a:t>
            </a:r>
            <a:endParaRPr lang="en-US" sz="1250" dirty="0"/>
          </a:p>
        </p:txBody>
      </p:sp>
      <p:sp>
        <p:nvSpPr>
          <p:cNvPr id="20" name="Text 18"/>
          <p:cNvSpPr/>
          <p:nvPr/>
        </p:nvSpPr>
        <p:spPr>
          <a:xfrm>
            <a:off x="4903859" y="3246120"/>
            <a:ext cx="1430739" cy="777240"/>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x = 99</a:t>
            </a:r>
            <a:endParaRPr lang="en-US" sz="1200" dirty="0"/>
          </a:p>
        </p:txBody>
      </p:sp>
      <p:sp>
        <p:nvSpPr>
          <p:cNvPr id="21" name="Text 19"/>
          <p:cNvSpPr/>
          <p:nvPr/>
        </p:nvSpPr>
        <p:spPr>
          <a:xfrm>
            <a:off x="6462613" y="3246120"/>
            <a:ext cx="1705813" cy="777240"/>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print(x * 2)</a:t>
            </a:r>
            <a:endParaRPr lang="en-US" sz="1200" dirty="0"/>
          </a:p>
        </p:txBody>
      </p:sp>
      <p:sp>
        <p:nvSpPr>
          <p:cNvPr id="22" name="Text 20"/>
          <p:cNvSpPr/>
          <p:nvPr/>
        </p:nvSpPr>
        <p:spPr>
          <a:xfrm>
            <a:off x="8296443" y="3246120"/>
            <a:ext cx="1430739" cy="777240"/>
          </a:xfrm>
          <a:prstGeom prst="rect">
            <a:avLst/>
          </a:prstGeom>
          <a:noFill/>
          <a:ln/>
        </p:spPr>
        <p:txBody>
          <a:bodyPr wrap="square" lIns="0" tIns="0" rIns="0" bIns="0" rtlCol="0" anchor="ctr"/>
          <a:lstStyle/>
          <a:p>
            <a:pPr marL="0" indent="0" algn="ctr">
              <a:lnSpc>
                <a:spcPct val="115000"/>
              </a:lnSpc>
              <a:buNone/>
            </a:pPr>
            <a:r>
              <a:rPr lang="en-US" sz="1200" b="1" dirty="0">
                <a:solidFill>
                  <a:srgbClr val="C07A10"/>
                </a:solidFill>
                <a:latin typeface="Courier New" pitchFamily="34" charset="0"/>
                <a:ea typeface="Courier New" pitchFamily="34" charset="-122"/>
                <a:cs typeface="Courier New" pitchFamily="34" charset="-120"/>
              </a:rPr>
              <a:t>10</a:t>
            </a:r>
            <a:endParaRPr lang="en-US" sz="1200" dirty="0"/>
          </a:p>
        </p:txBody>
      </p:sp>
      <p:sp>
        <p:nvSpPr>
          <p:cNvPr id="23" name="Text 21"/>
          <p:cNvSpPr/>
          <p:nvPr/>
        </p:nvSpPr>
        <p:spPr>
          <a:xfrm>
            <a:off x="9855197" y="3246120"/>
            <a:ext cx="1614122" cy="777240"/>
          </a:xfrm>
          <a:prstGeom prst="rect">
            <a:avLst/>
          </a:prstGeom>
          <a:noFill/>
          <a:ln/>
        </p:spPr>
        <p:txBody>
          <a:bodyPr wrap="square" lIns="0" tIns="0" rIns="0" bIns="0" rtlCol="0" anchor="ctr"/>
          <a:lstStyle/>
          <a:p>
            <a:pPr marL="0" indent="0" algn="ctr">
              <a:lnSpc>
                <a:spcPct val="115000"/>
              </a:lnSpc>
              <a:buNone/>
            </a:pPr>
            <a:r>
              <a:rPr lang="en-US" sz="1200" b="1" dirty="0">
                <a:solidFill>
                  <a:srgbClr val="B4483C"/>
                </a:solidFill>
                <a:latin typeface="Courier New" pitchFamily="34" charset="0"/>
                <a:ea typeface="Courier New" pitchFamily="34" charset="-122"/>
                <a:cs typeface="Courier New" pitchFamily="34" charset="-120"/>
              </a:rPr>
              <a:t>20</a:t>
            </a:r>
            <a:endParaRPr lang="en-US" sz="1200" dirty="0"/>
          </a:p>
        </p:txBody>
      </p:sp>
      <p:sp>
        <p:nvSpPr>
          <p:cNvPr id="24" name="Shape 22"/>
          <p:cNvSpPr/>
          <p:nvPr/>
        </p:nvSpPr>
        <p:spPr>
          <a:xfrm>
            <a:off x="594360" y="4023360"/>
            <a:ext cx="11002975" cy="0"/>
          </a:xfrm>
          <a:prstGeom prst="line">
            <a:avLst/>
          </a:prstGeom>
          <a:noFill/>
          <a:ln w="9525">
            <a:solidFill>
              <a:srgbClr val="D0DAE0"/>
            </a:solidFill>
            <a:prstDash val="solid"/>
          </a:ln>
        </p:spPr>
        <p:txBody>
          <a:bodyPr/>
          <a:lstStyle/>
          <a:p>
            <a:endParaRPr lang="en-US"/>
          </a:p>
        </p:txBody>
      </p:sp>
      <p:sp>
        <p:nvSpPr>
          <p:cNvPr id="25" name="Text 23"/>
          <p:cNvSpPr/>
          <p:nvPr/>
        </p:nvSpPr>
        <p:spPr>
          <a:xfrm>
            <a:off x="594360" y="4023360"/>
            <a:ext cx="238750" cy="777240"/>
          </a:xfrm>
          <a:prstGeom prst="rect">
            <a:avLst/>
          </a:prstGeom>
          <a:noFill/>
          <a:ln/>
        </p:spPr>
        <p:txBody>
          <a:bodyPr wrap="square" lIns="0" tIns="0" rIns="0" bIns="0" rtlCol="0" anchor="ctr"/>
          <a:lstStyle/>
          <a:p>
            <a:pPr marL="0" indent="0" algn="l">
              <a:lnSpc>
                <a:spcPct val="115000"/>
              </a:lnSpc>
              <a:buNone/>
            </a:pPr>
            <a:r>
              <a:rPr lang="en-US" sz="2200" b="1" dirty="0">
                <a:solidFill>
                  <a:srgbClr val="C07A10"/>
                </a:solidFill>
                <a:latin typeface="Courier New" pitchFamily="34" charset="0"/>
                <a:ea typeface="Courier New" pitchFamily="34" charset="-122"/>
                <a:cs typeface="Courier New" pitchFamily="34" charset="-120"/>
              </a:rPr>
              <a:t>3</a:t>
            </a:r>
            <a:endParaRPr lang="en-US" sz="2200" dirty="0"/>
          </a:p>
        </p:txBody>
      </p:sp>
      <p:sp>
        <p:nvSpPr>
          <p:cNvPr id="26" name="Text 24"/>
          <p:cNvSpPr/>
          <p:nvPr/>
        </p:nvSpPr>
        <p:spPr>
          <a:xfrm>
            <a:off x="961126" y="4023360"/>
            <a:ext cx="3814717" cy="77724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Delete cell 1 entirely. Re-run cell 2.</a:t>
            </a:r>
            <a:endParaRPr lang="en-US" sz="1250" dirty="0"/>
          </a:p>
        </p:txBody>
      </p:sp>
      <p:sp>
        <p:nvSpPr>
          <p:cNvPr id="27" name="Text 25"/>
          <p:cNvSpPr/>
          <p:nvPr/>
        </p:nvSpPr>
        <p:spPr>
          <a:xfrm>
            <a:off x="4903859" y="4023360"/>
            <a:ext cx="1430739" cy="777240"/>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(gone)</a:t>
            </a:r>
            <a:endParaRPr lang="en-US" sz="1200" dirty="0"/>
          </a:p>
        </p:txBody>
      </p:sp>
      <p:sp>
        <p:nvSpPr>
          <p:cNvPr id="28" name="Text 26"/>
          <p:cNvSpPr/>
          <p:nvPr/>
        </p:nvSpPr>
        <p:spPr>
          <a:xfrm>
            <a:off x="6462613" y="4023360"/>
            <a:ext cx="1705813" cy="777240"/>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print(x * 2)</a:t>
            </a:r>
            <a:endParaRPr lang="en-US" sz="1200" dirty="0"/>
          </a:p>
        </p:txBody>
      </p:sp>
      <p:sp>
        <p:nvSpPr>
          <p:cNvPr id="29" name="Text 27"/>
          <p:cNvSpPr/>
          <p:nvPr/>
        </p:nvSpPr>
        <p:spPr>
          <a:xfrm>
            <a:off x="8296443" y="4023360"/>
            <a:ext cx="1430739" cy="777240"/>
          </a:xfrm>
          <a:prstGeom prst="rect">
            <a:avLst/>
          </a:prstGeom>
          <a:noFill/>
          <a:ln/>
        </p:spPr>
        <p:txBody>
          <a:bodyPr wrap="square" lIns="0" tIns="0" rIns="0" bIns="0" rtlCol="0" anchor="ctr"/>
          <a:lstStyle/>
          <a:p>
            <a:pPr marL="0" indent="0" algn="ctr">
              <a:lnSpc>
                <a:spcPct val="115000"/>
              </a:lnSpc>
              <a:buNone/>
            </a:pPr>
            <a:r>
              <a:rPr lang="en-US" sz="1200" b="1" dirty="0">
                <a:solidFill>
                  <a:srgbClr val="C07A10"/>
                </a:solidFill>
                <a:latin typeface="Courier New" pitchFamily="34" charset="0"/>
                <a:ea typeface="Courier New" pitchFamily="34" charset="-122"/>
                <a:cs typeface="Courier New" pitchFamily="34" charset="-120"/>
              </a:rPr>
              <a:t>10</a:t>
            </a:r>
            <a:endParaRPr lang="en-US" sz="1200" dirty="0"/>
          </a:p>
        </p:txBody>
      </p:sp>
      <p:sp>
        <p:nvSpPr>
          <p:cNvPr id="30" name="Text 28"/>
          <p:cNvSpPr/>
          <p:nvPr/>
        </p:nvSpPr>
        <p:spPr>
          <a:xfrm>
            <a:off x="9855197" y="4023360"/>
            <a:ext cx="1614122" cy="777240"/>
          </a:xfrm>
          <a:prstGeom prst="rect">
            <a:avLst/>
          </a:prstGeom>
          <a:noFill/>
          <a:ln/>
        </p:spPr>
        <p:txBody>
          <a:bodyPr wrap="square" lIns="0" tIns="0" rIns="0" bIns="0" rtlCol="0" anchor="ctr"/>
          <a:lstStyle/>
          <a:p>
            <a:pPr marL="0" indent="0" algn="ctr">
              <a:lnSpc>
                <a:spcPct val="115000"/>
              </a:lnSpc>
              <a:buNone/>
            </a:pPr>
            <a:r>
              <a:rPr lang="en-US" sz="1200" b="1" dirty="0">
                <a:solidFill>
                  <a:srgbClr val="B4483C"/>
                </a:solidFill>
                <a:latin typeface="Courier New" pitchFamily="34" charset="0"/>
                <a:ea typeface="Courier New" pitchFamily="34" charset="-122"/>
                <a:cs typeface="Courier New" pitchFamily="34" charset="-120"/>
              </a:rPr>
              <a:t>20</a:t>
            </a:r>
            <a:endParaRPr lang="en-US" sz="1200" dirty="0"/>
          </a:p>
        </p:txBody>
      </p:sp>
      <p:sp>
        <p:nvSpPr>
          <p:cNvPr id="31" name="Shape 29"/>
          <p:cNvSpPr/>
          <p:nvPr/>
        </p:nvSpPr>
        <p:spPr>
          <a:xfrm>
            <a:off x="594360" y="4800600"/>
            <a:ext cx="11002975" cy="0"/>
          </a:xfrm>
          <a:prstGeom prst="line">
            <a:avLst/>
          </a:prstGeom>
          <a:noFill/>
          <a:ln w="9525">
            <a:solidFill>
              <a:srgbClr val="D0DAE0"/>
            </a:solidFill>
            <a:prstDash val="solid"/>
          </a:ln>
        </p:spPr>
        <p:txBody>
          <a:bodyPr/>
          <a:lstStyle/>
          <a:p>
            <a:endParaRPr lang="en-US"/>
          </a:p>
        </p:txBody>
      </p:sp>
      <p:sp>
        <p:nvSpPr>
          <p:cNvPr id="32" name="Shape 30"/>
          <p:cNvSpPr/>
          <p:nvPr/>
        </p:nvSpPr>
        <p:spPr>
          <a:xfrm>
            <a:off x="594360" y="4937760"/>
            <a:ext cx="11002975" cy="0"/>
          </a:xfrm>
          <a:prstGeom prst="line">
            <a:avLst/>
          </a:prstGeom>
          <a:noFill/>
          <a:ln w="12700">
            <a:solidFill>
              <a:srgbClr val="9EAEB8"/>
            </a:solidFill>
            <a:prstDash val="solid"/>
          </a:ln>
        </p:spPr>
        <p:txBody>
          <a:bodyPr/>
          <a:lstStyle/>
          <a:p>
            <a:endParaRPr lang="en-US"/>
          </a:p>
        </p:txBody>
      </p:sp>
      <p:sp>
        <p:nvSpPr>
          <p:cNvPr id="33" name="Text 31"/>
          <p:cNvSpPr/>
          <p:nvPr/>
        </p:nvSpPr>
        <p:spPr>
          <a:xfrm>
            <a:off x="594360" y="5120640"/>
            <a:ext cx="11002975" cy="402336"/>
          </a:xfrm>
          <a:prstGeom prst="rect">
            <a:avLst/>
          </a:prstGeom>
          <a:noFill/>
          <a:ln/>
        </p:spPr>
        <p:txBody>
          <a:bodyPr wrap="square" lIns="0" tIns="0" rIns="0" bIns="0" rtlCol="0" anchor="t"/>
          <a:lstStyle/>
          <a:p>
            <a:pPr marL="0" indent="0">
              <a:lnSpc>
                <a:spcPct val="120000"/>
              </a:lnSpc>
              <a:buNone/>
            </a:pPr>
            <a:r>
              <a:rPr lang="en-US" sz="1350" b="1" dirty="0">
                <a:solidFill>
                  <a:srgbClr val="121C22"/>
                </a:solidFill>
                <a:latin typeface="Calibri" pitchFamily="34" charset="0"/>
                <a:ea typeface="Calibri" pitchFamily="34" charset="-122"/>
                <a:cs typeface="Calibri" pitchFamily="34" charset="-120"/>
              </a:rPr>
              <a:t>What you see is the file. What runs is the memory.</a:t>
            </a:r>
            <a:r>
              <a:rPr lang="en-US" sz="1350" dirty="0">
                <a:solidFill>
                  <a:srgbClr val="55656F"/>
                </a:solidFill>
                <a:latin typeface="Calibri" pitchFamily="34" charset="0"/>
                <a:ea typeface="Calibri" pitchFamily="34" charset="-122"/>
                <a:cs typeface="Calibri" pitchFamily="34" charset="-120"/>
              </a:rPr>
              <a:t>   They drift apart the moment you edit anything out of order — which is constantly, because that is what notebooks are for.</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731520"/>
            <a:ext cx="11002975" cy="676656"/>
          </a:xfrm>
          <a:prstGeom prst="rect">
            <a:avLst/>
          </a:prstGeom>
          <a:noFill/>
          <a:ln/>
        </p:spPr>
        <p:txBody>
          <a:bodyPr wrap="square" lIns="0" tIns="0" rIns="0" bIns="0" rtlCol="0" anchor="t"/>
          <a:lstStyle/>
          <a:p>
            <a:pPr marL="0" indent="0">
              <a:buNone/>
            </a:pPr>
            <a:r>
              <a:rPr lang="en-US" sz="3300" b="1" dirty="0">
                <a:solidFill>
                  <a:srgbClr val="121C22"/>
                </a:solidFill>
                <a:latin typeface="Calibri" pitchFamily="34" charset="0"/>
                <a:ea typeface="Calibri" pitchFamily="34" charset="-122"/>
                <a:cs typeface="Calibri" pitchFamily="34" charset="-120"/>
              </a:rPr>
              <a:t>Notebook tips</a:t>
            </a:r>
            <a:endParaRPr lang="en-US" sz="3300" dirty="0"/>
          </a:p>
        </p:txBody>
      </p:sp>
      <p:sp>
        <p:nvSpPr>
          <p:cNvPr id="4" name="Text 2"/>
          <p:cNvSpPr/>
          <p:nvPr/>
        </p:nvSpPr>
        <p:spPr>
          <a:xfrm>
            <a:off x="961126" y="1874520"/>
            <a:ext cx="2916090"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RULE</a:t>
            </a:r>
            <a:endParaRPr lang="en-US" sz="950" dirty="0"/>
          </a:p>
        </p:txBody>
      </p:sp>
      <p:sp>
        <p:nvSpPr>
          <p:cNvPr id="5" name="Text 3"/>
          <p:cNvSpPr/>
          <p:nvPr/>
        </p:nvSpPr>
        <p:spPr>
          <a:xfrm>
            <a:off x="3986944" y="1874520"/>
            <a:ext cx="4933302"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WHAT IT MEANS</a:t>
            </a:r>
            <a:endParaRPr lang="en-US" sz="950" dirty="0"/>
          </a:p>
        </p:txBody>
      </p:sp>
      <p:sp>
        <p:nvSpPr>
          <p:cNvPr id="6" name="Text 4"/>
          <p:cNvSpPr/>
          <p:nvPr/>
        </p:nvSpPr>
        <p:spPr>
          <a:xfrm>
            <a:off x="9029974" y="1874520"/>
            <a:ext cx="2457633"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WHEN</a:t>
            </a:r>
            <a:endParaRPr lang="en-US" sz="950" dirty="0"/>
          </a:p>
        </p:txBody>
      </p:sp>
      <p:sp>
        <p:nvSpPr>
          <p:cNvPr id="7" name="Shape 5"/>
          <p:cNvSpPr/>
          <p:nvPr/>
        </p:nvSpPr>
        <p:spPr>
          <a:xfrm>
            <a:off x="594360" y="2148840"/>
            <a:ext cx="11002975" cy="0"/>
          </a:xfrm>
          <a:prstGeom prst="line">
            <a:avLst/>
          </a:prstGeom>
          <a:noFill/>
          <a:ln w="12700">
            <a:solidFill>
              <a:srgbClr val="9EAEB8"/>
            </a:solidFill>
            <a:prstDash val="solid"/>
          </a:ln>
        </p:spPr>
        <p:txBody>
          <a:bodyPr/>
          <a:lstStyle/>
          <a:p>
            <a:endParaRPr lang="en-US"/>
          </a:p>
        </p:txBody>
      </p:sp>
      <p:sp>
        <p:nvSpPr>
          <p:cNvPr id="8" name="Text 6"/>
          <p:cNvSpPr/>
          <p:nvPr/>
        </p:nvSpPr>
        <p:spPr>
          <a:xfrm>
            <a:off x="594360" y="2148840"/>
            <a:ext cx="238750" cy="868680"/>
          </a:xfrm>
          <a:prstGeom prst="rect">
            <a:avLst/>
          </a:prstGeom>
          <a:noFill/>
          <a:ln/>
        </p:spPr>
        <p:txBody>
          <a:bodyPr wrap="square" lIns="0" tIns="0" rIns="0" bIns="0" rtlCol="0" anchor="ctr"/>
          <a:lstStyle/>
          <a:p>
            <a:pPr marL="0" indent="0" algn="l">
              <a:lnSpc>
                <a:spcPct val="115000"/>
              </a:lnSpc>
              <a:buNone/>
            </a:pPr>
            <a:r>
              <a:rPr lang="en-US" sz="1050" b="1" dirty="0">
                <a:solidFill>
                  <a:srgbClr val="C07A10"/>
                </a:solidFill>
                <a:latin typeface="Courier New" pitchFamily="34" charset="0"/>
                <a:ea typeface="Courier New" pitchFamily="34" charset="-122"/>
                <a:cs typeface="Courier New" pitchFamily="34" charset="-120"/>
              </a:rPr>
              <a:t>01</a:t>
            </a:r>
            <a:endParaRPr lang="en-US" sz="1050" dirty="0"/>
          </a:p>
        </p:txBody>
      </p:sp>
      <p:sp>
        <p:nvSpPr>
          <p:cNvPr id="9" name="Text 7"/>
          <p:cNvSpPr/>
          <p:nvPr/>
        </p:nvSpPr>
        <p:spPr>
          <a:xfrm>
            <a:off x="961126" y="2148840"/>
            <a:ext cx="2897802" cy="868680"/>
          </a:xfrm>
          <a:prstGeom prst="rect">
            <a:avLst/>
          </a:prstGeom>
          <a:noFill/>
          <a:ln/>
        </p:spPr>
        <p:txBody>
          <a:bodyPr wrap="square" lIns="0" tIns="0" rIns="0" bIns="0" rtlCol="0" anchor="ctr"/>
          <a:lstStyle/>
          <a:p>
            <a:pPr marL="0" indent="0" algn="l">
              <a:lnSpc>
                <a:spcPct val="115000"/>
              </a:lnSpc>
              <a:buNone/>
            </a:pPr>
            <a:r>
              <a:rPr lang="en-US" sz="1300" b="1" dirty="0">
                <a:solidFill>
                  <a:srgbClr val="121C22"/>
                </a:solidFill>
                <a:latin typeface="Calibri" pitchFamily="34" charset="0"/>
                <a:ea typeface="Calibri" pitchFamily="34" charset="-122"/>
                <a:cs typeface="Calibri" pitchFamily="34" charset="-120"/>
              </a:rPr>
              <a:t>Before you trust it, restart it</a:t>
            </a:r>
            <a:endParaRPr lang="en-US" sz="1300" dirty="0"/>
          </a:p>
        </p:txBody>
      </p:sp>
      <p:sp>
        <p:nvSpPr>
          <p:cNvPr id="10" name="Text 8"/>
          <p:cNvSpPr/>
          <p:nvPr/>
        </p:nvSpPr>
        <p:spPr>
          <a:xfrm>
            <a:off x="3986944" y="2148840"/>
            <a:ext cx="4915014" cy="86868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Runtime → Restart session and run all. If it fails, it was always broken — you just hadn't found out yet.</a:t>
            </a:r>
            <a:endParaRPr lang="en-US" sz="1250" dirty="0"/>
          </a:p>
        </p:txBody>
      </p:sp>
      <p:sp>
        <p:nvSpPr>
          <p:cNvPr id="11" name="Text 9"/>
          <p:cNvSpPr/>
          <p:nvPr/>
        </p:nvSpPr>
        <p:spPr>
          <a:xfrm>
            <a:off x="9029974" y="2148840"/>
            <a:ext cx="2439345" cy="868680"/>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before you share anything, or believe any number</a:t>
            </a:r>
            <a:endParaRPr lang="en-US" sz="1050" dirty="0"/>
          </a:p>
        </p:txBody>
      </p:sp>
      <p:sp>
        <p:nvSpPr>
          <p:cNvPr id="12" name="Shape 10"/>
          <p:cNvSpPr/>
          <p:nvPr/>
        </p:nvSpPr>
        <p:spPr>
          <a:xfrm>
            <a:off x="594360" y="3017520"/>
            <a:ext cx="11002975" cy="0"/>
          </a:xfrm>
          <a:prstGeom prst="line">
            <a:avLst/>
          </a:prstGeom>
          <a:noFill/>
          <a:ln w="9525">
            <a:solidFill>
              <a:srgbClr val="D0DAE0"/>
            </a:solidFill>
            <a:prstDash val="solid"/>
          </a:ln>
        </p:spPr>
        <p:txBody>
          <a:bodyPr/>
          <a:lstStyle/>
          <a:p>
            <a:endParaRPr lang="en-US"/>
          </a:p>
        </p:txBody>
      </p:sp>
      <p:sp>
        <p:nvSpPr>
          <p:cNvPr id="13" name="Text 11"/>
          <p:cNvSpPr/>
          <p:nvPr/>
        </p:nvSpPr>
        <p:spPr>
          <a:xfrm>
            <a:off x="594360" y="3017520"/>
            <a:ext cx="238750" cy="868680"/>
          </a:xfrm>
          <a:prstGeom prst="rect">
            <a:avLst/>
          </a:prstGeom>
          <a:noFill/>
          <a:ln/>
        </p:spPr>
        <p:txBody>
          <a:bodyPr wrap="square" lIns="0" tIns="0" rIns="0" bIns="0" rtlCol="0" anchor="ctr"/>
          <a:lstStyle/>
          <a:p>
            <a:pPr marL="0" indent="0" algn="l">
              <a:lnSpc>
                <a:spcPct val="115000"/>
              </a:lnSpc>
              <a:buNone/>
            </a:pPr>
            <a:r>
              <a:rPr lang="en-US" sz="1050" b="1" dirty="0">
                <a:solidFill>
                  <a:srgbClr val="C07A10"/>
                </a:solidFill>
                <a:latin typeface="Courier New" pitchFamily="34" charset="0"/>
                <a:ea typeface="Courier New" pitchFamily="34" charset="-122"/>
                <a:cs typeface="Courier New" pitchFamily="34" charset="-120"/>
              </a:rPr>
              <a:t>02</a:t>
            </a:r>
            <a:endParaRPr lang="en-US" sz="1050" dirty="0"/>
          </a:p>
        </p:txBody>
      </p:sp>
      <p:sp>
        <p:nvSpPr>
          <p:cNvPr id="14" name="Text 12"/>
          <p:cNvSpPr/>
          <p:nvPr/>
        </p:nvSpPr>
        <p:spPr>
          <a:xfrm>
            <a:off x="961126" y="3017520"/>
            <a:ext cx="2897802" cy="868680"/>
          </a:xfrm>
          <a:prstGeom prst="rect">
            <a:avLst/>
          </a:prstGeom>
          <a:noFill/>
          <a:ln/>
        </p:spPr>
        <p:txBody>
          <a:bodyPr wrap="square" lIns="0" tIns="0" rIns="0" bIns="0" rtlCol="0" anchor="ctr"/>
          <a:lstStyle/>
          <a:p>
            <a:pPr marL="0" indent="0" algn="l">
              <a:lnSpc>
                <a:spcPct val="115000"/>
              </a:lnSpc>
              <a:buNone/>
            </a:pPr>
            <a:r>
              <a:rPr lang="en-US" sz="1300" b="1" dirty="0">
                <a:solidFill>
                  <a:srgbClr val="121C22"/>
                </a:solidFill>
                <a:latin typeface="Calibri" pitchFamily="34" charset="0"/>
                <a:ea typeface="Calibri" pitchFamily="34" charset="-122"/>
                <a:cs typeface="Calibri" pitchFamily="34" charset="-120"/>
              </a:rPr>
              <a:t>Notebooks explore. Scripts do the job.</a:t>
            </a:r>
            <a:endParaRPr lang="en-US" sz="1300" dirty="0"/>
          </a:p>
        </p:txBody>
      </p:sp>
      <p:sp>
        <p:nvSpPr>
          <p:cNvPr id="15" name="Text 13"/>
          <p:cNvSpPr/>
          <p:nvPr/>
        </p:nvSpPr>
        <p:spPr>
          <a:xfrm>
            <a:off x="3986944" y="3017520"/>
            <a:ext cx="4915014" cy="86868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Poking at data, trying a plot, learning an API: notebook. Something you'll run again next week: script.</a:t>
            </a:r>
            <a:endParaRPr lang="en-US" sz="1250" dirty="0"/>
          </a:p>
        </p:txBody>
      </p:sp>
      <p:sp>
        <p:nvSpPr>
          <p:cNvPr id="16" name="Text 14"/>
          <p:cNvSpPr/>
          <p:nvPr/>
        </p:nvSpPr>
        <p:spPr>
          <a:xfrm>
            <a:off x="9029974" y="3017520"/>
            <a:ext cx="2439345" cy="868680"/>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when it stops being a question</a:t>
            </a:r>
            <a:endParaRPr lang="en-US" sz="1050" dirty="0"/>
          </a:p>
        </p:txBody>
      </p:sp>
      <p:sp>
        <p:nvSpPr>
          <p:cNvPr id="17" name="Shape 15"/>
          <p:cNvSpPr/>
          <p:nvPr/>
        </p:nvSpPr>
        <p:spPr>
          <a:xfrm>
            <a:off x="594360" y="3886200"/>
            <a:ext cx="11002975" cy="0"/>
          </a:xfrm>
          <a:prstGeom prst="line">
            <a:avLst/>
          </a:prstGeom>
          <a:noFill/>
          <a:ln w="9525">
            <a:solidFill>
              <a:srgbClr val="D0DAE0"/>
            </a:solidFill>
            <a:prstDash val="solid"/>
          </a:ln>
        </p:spPr>
        <p:txBody>
          <a:bodyPr/>
          <a:lstStyle/>
          <a:p>
            <a:endParaRPr lang="en-US"/>
          </a:p>
        </p:txBody>
      </p:sp>
      <p:sp>
        <p:nvSpPr>
          <p:cNvPr id="18" name="Text 16"/>
          <p:cNvSpPr/>
          <p:nvPr/>
        </p:nvSpPr>
        <p:spPr>
          <a:xfrm>
            <a:off x="594360" y="3886200"/>
            <a:ext cx="238750" cy="868680"/>
          </a:xfrm>
          <a:prstGeom prst="rect">
            <a:avLst/>
          </a:prstGeom>
          <a:noFill/>
          <a:ln/>
        </p:spPr>
        <p:txBody>
          <a:bodyPr wrap="square" lIns="0" tIns="0" rIns="0" bIns="0" rtlCol="0" anchor="ctr"/>
          <a:lstStyle/>
          <a:p>
            <a:pPr marL="0" indent="0" algn="l">
              <a:lnSpc>
                <a:spcPct val="115000"/>
              </a:lnSpc>
              <a:buNone/>
            </a:pPr>
            <a:r>
              <a:rPr lang="en-US" sz="1050" b="1" dirty="0">
                <a:solidFill>
                  <a:srgbClr val="C07A10"/>
                </a:solidFill>
                <a:latin typeface="Courier New" pitchFamily="34" charset="0"/>
                <a:ea typeface="Courier New" pitchFamily="34" charset="-122"/>
                <a:cs typeface="Courier New" pitchFamily="34" charset="-120"/>
              </a:rPr>
              <a:t>03</a:t>
            </a:r>
            <a:endParaRPr lang="en-US" sz="1050" dirty="0"/>
          </a:p>
        </p:txBody>
      </p:sp>
      <p:sp>
        <p:nvSpPr>
          <p:cNvPr id="19" name="Text 17"/>
          <p:cNvSpPr/>
          <p:nvPr/>
        </p:nvSpPr>
        <p:spPr>
          <a:xfrm>
            <a:off x="961126" y="3886200"/>
            <a:ext cx="2897802" cy="868680"/>
          </a:xfrm>
          <a:prstGeom prst="rect">
            <a:avLst/>
          </a:prstGeom>
          <a:noFill/>
          <a:ln/>
        </p:spPr>
        <p:txBody>
          <a:bodyPr wrap="square" lIns="0" tIns="0" rIns="0" bIns="0" rtlCol="0" anchor="ctr"/>
          <a:lstStyle/>
          <a:p>
            <a:pPr marL="0" indent="0" algn="l">
              <a:lnSpc>
                <a:spcPct val="115000"/>
              </a:lnSpc>
              <a:buNone/>
            </a:pPr>
            <a:r>
              <a:rPr lang="en-US" sz="1300" b="1" dirty="0">
                <a:solidFill>
                  <a:srgbClr val="121C22"/>
                </a:solidFill>
                <a:latin typeface="Calibri" pitchFamily="34" charset="0"/>
                <a:ea typeface="Calibri" pitchFamily="34" charset="-122"/>
                <a:cs typeface="Calibri" pitchFamily="34" charset="-120"/>
              </a:rPr>
              <a:t>A reused cell wants to be a function</a:t>
            </a:r>
            <a:endParaRPr lang="en-US" sz="1300" dirty="0"/>
          </a:p>
        </p:txBody>
      </p:sp>
      <p:sp>
        <p:nvSpPr>
          <p:cNvPr id="20" name="Text 18"/>
          <p:cNvSpPr/>
          <p:nvPr/>
        </p:nvSpPr>
        <p:spPr>
          <a:xfrm>
            <a:off x="3986944" y="3886200"/>
            <a:ext cx="4915014" cy="86868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Third time you copy-paste a cell, move it into a .py file and import it. Shorter notebook, testable code.</a:t>
            </a:r>
            <a:endParaRPr lang="en-US" sz="1250" dirty="0"/>
          </a:p>
        </p:txBody>
      </p:sp>
      <p:sp>
        <p:nvSpPr>
          <p:cNvPr id="21" name="Text 19"/>
          <p:cNvSpPr/>
          <p:nvPr/>
        </p:nvSpPr>
        <p:spPr>
          <a:xfrm>
            <a:off x="9029974" y="3886200"/>
            <a:ext cx="2439345" cy="868680"/>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on the third copy-paste</a:t>
            </a:r>
            <a:endParaRPr lang="en-US" sz="1050" dirty="0"/>
          </a:p>
        </p:txBody>
      </p:sp>
      <p:sp>
        <p:nvSpPr>
          <p:cNvPr id="22" name="Shape 20"/>
          <p:cNvSpPr/>
          <p:nvPr/>
        </p:nvSpPr>
        <p:spPr>
          <a:xfrm>
            <a:off x="594360" y="4754880"/>
            <a:ext cx="11002975" cy="0"/>
          </a:xfrm>
          <a:prstGeom prst="line">
            <a:avLst/>
          </a:prstGeom>
          <a:noFill/>
          <a:ln w="9525">
            <a:solidFill>
              <a:srgbClr val="D0DAE0"/>
            </a:solidFill>
            <a:prstDash val="solid"/>
          </a:ln>
        </p:spPr>
        <p:txBody>
          <a:bodyPr/>
          <a:lstStyle/>
          <a:p>
            <a:endParaRPr lang="en-US"/>
          </a:p>
        </p:txBody>
      </p:sp>
      <p:sp>
        <p:nvSpPr>
          <p:cNvPr id="23" name="Text 21"/>
          <p:cNvSpPr/>
          <p:nvPr/>
        </p:nvSpPr>
        <p:spPr>
          <a:xfrm>
            <a:off x="594360" y="4754880"/>
            <a:ext cx="238750" cy="868680"/>
          </a:xfrm>
          <a:prstGeom prst="rect">
            <a:avLst/>
          </a:prstGeom>
          <a:noFill/>
          <a:ln/>
        </p:spPr>
        <p:txBody>
          <a:bodyPr wrap="square" lIns="0" tIns="0" rIns="0" bIns="0" rtlCol="0" anchor="ctr"/>
          <a:lstStyle/>
          <a:p>
            <a:pPr marL="0" indent="0" algn="l">
              <a:lnSpc>
                <a:spcPct val="115000"/>
              </a:lnSpc>
              <a:buNone/>
            </a:pPr>
            <a:r>
              <a:rPr lang="en-US" sz="1050" b="1" dirty="0">
                <a:solidFill>
                  <a:srgbClr val="C07A10"/>
                </a:solidFill>
                <a:latin typeface="Courier New" pitchFamily="34" charset="0"/>
                <a:ea typeface="Courier New" pitchFamily="34" charset="-122"/>
                <a:cs typeface="Courier New" pitchFamily="34" charset="-120"/>
              </a:rPr>
              <a:t>04</a:t>
            </a:r>
            <a:endParaRPr lang="en-US" sz="1050" dirty="0"/>
          </a:p>
        </p:txBody>
      </p:sp>
      <p:sp>
        <p:nvSpPr>
          <p:cNvPr id="24" name="Text 22"/>
          <p:cNvSpPr/>
          <p:nvPr/>
        </p:nvSpPr>
        <p:spPr>
          <a:xfrm>
            <a:off x="961126" y="4754880"/>
            <a:ext cx="2897802" cy="868680"/>
          </a:xfrm>
          <a:prstGeom prst="rect">
            <a:avLst/>
          </a:prstGeom>
          <a:noFill/>
          <a:ln/>
        </p:spPr>
        <p:txBody>
          <a:bodyPr wrap="square" lIns="0" tIns="0" rIns="0" bIns="0" rtlCol="0" anchor="ctr"/>
          <a:lstStyle/>
          <a:p>
            <a:pPr marL="0" indent="0" algn="l">
              <a:lnSpc>
                <a:spcPct val="115000"/>
              </a:lnSpc>
              <a:buNone/>
            </a:pPr>
            <a:r>
              <a:rPr lang="en-US" sz="1300" b="1" dirty="0">
                <a:solidFill>
                  <a:srgbClr val="121C22"/>
                </a:solidFill>
                <a:latin typeface="Calibri" pitchFamily="34" charset="0"/>
                <a:ea typeface="Calibri" pitchFamily="34" charset="-122"/>
                <a:cs typeface="Calibri" pitchFamily="34" charset="-120"/>
              </a:rPr>
              <a:t>.ipynb files diff horribly</a:t>
            </a:r>
            <a:endParaRPr lang="en-US" sz="1300" dirty="0"/>
          </a:p>
        </p:txBody>
      </p:sp>
      <p:sp>
        <p:nvSpPr>
          <p:cNvPr id="25" name="Text 23"/>
          <p:cNvSpPr/>
          <p:nvPr/>
        </p:nvSpPr>
        <p:spPr>
          <a:xfrm>
            <a:off x="3986944" y="4754880"/>
            <a:ext cx="4915014" cy="86868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They are JSON with your outputs baked in. Two people editing one notebook in git is genuinely painful.</a:t>
            </a:r>
            <a:endParaRPr lang="en-US" sz="1250" dirty="0"/>
          </a:p>
        </p:txBody>
      </p:sp>
      <p:sp>
        <p:nvSpPr>
          <p:cNvPr id="26" name="Text 24"/>
          <p:cNvSpPr/>
          <p:nvPr/>
        </p:nvSpPr>
        <p:spPr>
          <a:xfrm>
            <a:off x="9029974" y="4754880"/>
            <a:ext cx="2439345" cy="868680"/>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remember this from session 2</a:t>
            </a:r>
            <a:endParaRPr lang="en-US" sz="1050" dirty="0"/>
          </a:p>
        </p:txBody>
      </p:sp>
      <p:sp>
        <p:nvSpPr>
          <p:cNvPr id="27" name="Shape 25"/>
          <p:cNvSpPr/>
          <p:nvPr/>
        </p:nvSpPr>
        <p:spPr>
          <a:xfrm>
            <a:off x="594360" y="5623560"/>
            <a:ext cx="11002975" cy="0"/>
          </a:xfrm>
          <a:prstGeom prst="line">
            <a:avLst/>
          </a:prstGeom>
          <a:noFill/>
          <a:ln w="9525">
            <a:solidFill>
              <a:srgbClr val="D0DAE0"/>
            </a:solidFill>
            <a:prstDash val="solid"/>
          </a:ln>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731520"/>
            <a:ext cx="11002975" cy="676656"/>
          </a:xfrm>
          <a:prstGeom prst="rect">
            <a:avLst/>
          </a:prstGeom>
          <a:noFill/>
          <a:ln/>
        </p:spPr>
        <p:txBody>
          <a:bodyPr wrap="square" lIns="0" tIns="0" rIns="0" bIns="0" rtlCol="0" anchor="t"/>
          <a:lstStyle/>
          <a:p>
            <a:pPr marL="0" indent="0">
              <a:buNone/>
            </a:pPr>
            <a:r>
              <a:rPr lang="en-US" sz="3300" b="1" dirty="0">
                <a:solidFill>
                  <a:srgbClr val="121C22"/>
                </a:solidFill>
                <a:latin typeface="Calibri" pitchFamily="34" charset="0"/>
                <a:ea typeface="Calibri" pitchFamily="34" charset="-122"/>
                <a:cs typeface="Calibri" pitchFamily="34" charset="-120"/>
              </a:rPr>
              <a:t>What turns a notebook into a program</a:t>
            </a:r>
            <a:endParaRPr lang="en-US" sz="3300" dirty="0"/>
          </a:p>
        </p:txBody>
      </p:sp>
      <p:sp>
        <p:nvSpPr>
          <p:cNvPr id="4" name="Shape 2"/>
          <p:cNvSpPr/>
          <p:nvPr/>
        </p:nvSpPr>
        <p:spPr>
          <a:xfrm>
            <a:off x="4069080" y="1737360"/>
            <a:ext cx="0" cy="4206240"/>
          </a:xfrm>
          <a:prstGeom prst="line">
            <a:avLst/>
          </a:prstGeom>
          <a:noFill/>
          <a:ln w="9525">
            <a:solidFill>
              <a:srgbClr val="D0DAE0"/>
            </a:solidFill>
            <a:prstDash val="solid"/>
          </a:ln>
        </p:spPr>
        <p:txBody>
          <a:bodyPr/>
          <a:lstStyle/>
          <a:p>
            <a:endParaRPr lang="en-US"/>
          </a:p>
        </p:txBody>
      </p:sp>
      <p:sp>
        <p:nvSpPr>
          <p:cNvPr id="5" name="Shape 3"/>
          <p:cNvSpPr/>
          <p:nvPr/>
        </p:nvSpPr>
        <p:spPr>
          <a:xfrm>
            <a:off x="7818120" y="1737360"/>
            <a:ext cx="0" cy="4206240"/>
          </a:xfrm>
          <a:prstGeom prst="line">
            <a:avLst/>
          </a:prstGeom>
          <a:noFill/>
          <a:ln w="9525">
            <a:solidFill>
              <a:srgbClr val="D0DAE0"/>
            </a:solidFill>
            <a:prstDash val="solid"/>
          </a:ln>
        </p:spPr>
        <p:txBody>
          <a:bodyPr/>
          <a:lstStyle/>
          <a:p>
            <a:endParaRPr lang="en-US"/>
          </a:p>
        </p:txBody>
      </p:sp>
      <p:sp>
        <p:nvSpPr>
          <p:cNvPr id="6" name="Text 4"/>
          <p:cNvSpPr/>
          <p:nvPr/>
        </p:nvSpPr>
        <p:spPr>
          <a:xfrm>
            <a:off x="594360" y="1783080"/>
            <a:ext cx="3520440"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AN ENTRY POINT</a:t>
            </a:r>
            <a:endParaRPr lang="en-US" sz="950" dirty="0"/>
          </a:p>
        </p:txBody>
      </p:sp>
      <p:sp>
        <p:nvSpPr>
          <p:cNvPr id="7" name="Text 5"/>
          <p:cNvSpPr/>
          <p:nvPr/>
        </p:nvSpPr>
        <p:spPr>
          <a:xfrm>
            <a:off x="594360" y="2048256"/>
            <a:ext cx="3520440" cy="274320"/>
          </a:xfrm>
          <a:prstGeom prst="rect">
            <a:avLst/>
          </a:prstGeom>
          <a:noFill/>
          <a:ln/>
        </p:spPr>
        <p:txBody>
          <a:bodyPr wrap="square" lIns="0" tIns="0" rIns="0" bIns="0" rtlCol="0" anchor="ctr"/>
          <a:lstStyle/>
          <a:p>
            <a:pPr marL="0" indent="0">
              <a:buNone/>
            </a:pPr>
            <a:r>
              <a:rPr lang="en-US" sz="1150" b="1" dirty="0">
                <a:solidFill>
                  <a:srgbClr val="121C22"/>
                </a:solidFill>
                <a:latin typeface="Courier New" pitchFamily="34" charset="0"/>
                <a:ea typeface="Courier New" pitchFamily="34" charset="-122"/>
                <a:cs typeface="Courier New" pitchFamily="34" charset="-120"/>
              </a:rPr>
              <a:t>if __name__ == "__main__":</a:t>
            </a:r>
            <a:endParaRPr lang="en-US" sz="1150" dirty="0"/>
          </a:p>
        </p:txBody>
      </p:sp>
      <p:sp>
        <p:nvSpPr>
          <p:cNvPr id="8" name="Shape 6"/>
          <p:cNvSpPr/>
          <p:nvPr/>
        </p:nvSpPr>
        <p:spPr>
          <a:xfrm>
            <a:off x="594360" y="2395728"/>
            <a:ext cx="3337560" cy="1371600"/>
          </a:xfrm>
          <a:prstGeom prst="rect">
            <a:avLst/>
          </a:prstGeom>
          <a:solidFill>
            <a:srgbClr val="121C22"/>
          </a:solidFill>
          <a:ln/>
        </p:spPr>
        <p:txBody>
          <a:bodyPr/>
          <a:lstStyle/>
          <a:p>
            <a:endParaRPr lang="en-US"/>
          </a:p>
        </p:txBody>
      </p:sp>
      <p:sp>
        <p:nvSpPr>
          <p:cNvPr id="9" name="Text 7"/>
          <p:cNvSpPr/>
          <p:nvPr/>
        </p:nvSpPr>
        <p:spPr>
          <a:xfrm>
            <a:off x="749808" y="2514600"/>
            <a:ext cx="3026664" cy="1133856"/>
          </a:xfrm>
          <a:prstGeom prst="rect">
            <a:avLst/>
          </a:prstGeom>
          <a:noFill/>
          <a:ln/>
        </p:spPr>
        <p:txBody>
          <a:bodyPr wrap="square" lIns="0" tIns="0" rIns="0" bIns="0" rtlCol="0" anchor="t"/>
          <a:lstStyle/>
          <a:p>
            <a:pPr marL="0" indent="0">
              <a:lnSpc>
                <a:spcPct val="118000"/>
              </a:lnSpc>
              <a:buNone/>
            </a:pPr>
            <a:r>
              <a:rPr lang="en-US" sz="1000" dirty="0">
                <a:solidFill>
                  <a:srgbClr val="DCE6EA"/>
                </a:solidFill>
                <a:latin typeface="Courier New" pitchFamily="34" charset="0"/>
                <a:ea typeface="Courier New" pitchFamily="34" charset="-122"/>
                <a:cs typeface="Courier New" pitchFamily="34" charset="-120"/>
              </a:rPr>
              <a:t>def main():</a:t>
            </a:r>
            <a:endParaRPr lang="en-US" sz="1000" dirty="0"/>
          </a:p>
          <a:p>
            <a:pPr marL="0" indent="0">
              <a:lnSpc>
                <a:spcPct val="118000"/>
              </a:lnSpc>
              <a:buNone/>
            </a:pPr>
            <a:r>
              <a:rPr lang="en-US" sz="1000" dirty="0">
                <a:solidFill>
                  <a:srgbClr val="DCE6EA"/>
                </a:solidFill>
                <a:latin typeface="Courier New" pitchFamily="34" charset="0"/>
                <a:ea typeface="Courier New" pitchFamily="34" charset="-122"/>
                <a:cs typeface="Courier New" pitchFamily="34" charset="-120"/>
              </a:rPr>
              <a:t>    ...</a:t>
            </a:r>
            <a:endParaRPr lang="en-US" sz="1000" dirty="0"/>
          </a:p>
          <a:p>
            <a:pPr marL="0" indent="0">
              <a:lnSpc>
                <a:spcPct val="118000"/>
              </a:lnSpc>
              <a:buNone/>
            </a:pPr>
            <a:endParaRPr lang="en-US" sz="1000" dirty="0"/>
          </a:p>
          <a:p>
            <a:pPr marL="0" indent="0">
              <a:lnSpc>
                <a:spcPct val="118000"/>
              </a:lnSpc>
              <a:buNone/>
            </a:pPr>
            <a:r>
              <a:rPr lang="en-US" sz="1000" dirty="0">
                <a:solidFill>
                  <a:srgbClr val="DCE6EA"/>
                </a:solidFill>
                <a:latin typeface="Courier New" pitchFamily="34" charset="0"/>
                <a:ea typeface="Courier New" pitchFamily="34" charset="-122"/>
                <a:cs typeface="Courier New" pitchFamily="34" charset="-120"/>
              </a:rPr>
              <a:t>if __name__ == "__main__":</a:t>
            </a:r>
            <a:endParaRPr lang="en-US" sz="1000" dirty="0"/>
          </a:p>
          <a:p>
            <a:pPr marL="0" indent="0">
              <a:lnSpc>
                <a:spcPct val="118000"/>
              </a:lnSpc>
              <a:buNone/>
            </a:pPr>
            <a:r>
              <a:rPr lang="en-US" sz="1000" dirty="0">
                <a:solidFill>
                  <a:srgbClr val="DCE6EA"/>
                </a:solidFill>
                <a:latin typeface="Courier New" pitchFamily="34" charset="0"/>
                <a:ea typeface="Courier New" pitchFamily="34" charset="-122"/>
                <a:cs typeface="Courier New" pitchFamily="34" charset="-120"/>
              </a:rPr>
              <a:t>    main()</a:t>
            </a:r>
            <a:endParaRPr lang="en-US" sz="1000" dirty="0"/>
          </a:p>
        </p:txBody>
      </p:sp>
      <p:sp>
        <p:nvSpPr>
          <p:cNvPr id="10" name="Text 8"/>
          <p:cNvSpPr/>
          <p:nvPr/>
        </p:nvSpPr>
        <p:spPr>
          <a:xfrm>
            <a:off x="594360" y="3977640"/>
            <a:ext cx="3520440" cy="228600"/>
          </a:xfrm>
          <a:prstGeom prst="rect">
            <a:avLst/>
          </a:prstGeom>
          <a:noFill/>
          <a:ln/>
        </p:spPr>
        <p:txBody>
          <a:bodyPr wrap="square" lIns="0" tIns="0" rIns="0" bIns="0" rtlCol="0" anchor="ctr"/>
          <a:lstStyle/>
          <a:p>
            <a:pPr marL="0" indent="0" algn="l">
              <a:buNone/>
            </a:pPr>
            <a:r>
              <a:rPr lang="en-US" sz="950" b="1" kern="0" spc="110" dirty="0">
                <a:solidFill>
                  <a:srgbClr val="C07A10"/>
                </a:solidFill>
                <a:latin typeface="Courier New" pitchFamily="34" charset="0"/>
                <a:ea typeface="Courier New" pitchFamily="34" charset="-122"/>
                <a:cs typeface="Courier New" pitchFamily="34" charset="-120"/>
              </a:rPr>
              <a:t>WITHOUT IT</a:t>
            </a:r>
            <a:endParaRPr lang="en-US" sz="950" dirty="0"/>
          </a:p>
        </p:txBody>
      </p:sp>
      <p:sp>
        <p:nvSpPr>
          <p:cNvPr id="11" name="Text 9"/>
          <p:cNvSpPr/>
          <p:nvPr/>
        </p:nvSpPr>
        <p:spPr>
          <a:xfrm>
            <a:off x="594360" y="4224528"/>
            <a:ext cx="3337560" cy="1371600"/>
          </a:xfrm>
          <a:prstGeom prst="rect">
            <a:avLst/>
          </a:prstGeom>
          <a:noFill/>
          <a:ln/>
        </p:spPr>
        <p:txBody>
          <a:bodyPr wrap="square" lIns="0" tIns="0" rIns="0" bIns="0" rtlCol="0" anchor="t"/>
          <a:lstStyle/>
          <a:p>
            <a:pPr marL="0" indent="0">
              <a:lnSpc>
                <a:spcPct val="125000"/>
              </a:lnSpc>
              <a:buNone/>
            </a:pPr>
            <a:r>
              <a:rPr lang="en-US" sz="1250" dirty="0">
                <a:solidFill>
                  <a:srgbClr val="55656F"/>
                </a:solidFill>
                <a:latin typeface="Calibri" pitchFamily="34" charset="0"/>
                <a:ea typeface="Calibri" pitchFamily="34" charset="-122"/>
                <a:cs typeface="Calibri" pitchFamily="34" charset="-120"/>
              </a:rPr>
              <a:t>Importing your file executes the whole thing, top to bottom. This says: start here when run directly, stay quiet when imported.</a:t>
            </a:r>
            <a:endParaRPr lang="en-US" sz="1250" dirty="0"/>
          </a:p>
        </p:txBody>
      </p:sp>
      <p:sp>
        <p:nvSpPr>
          <p:cNvPr id="12" name="Text 10"/>
          <p:cNvSpPr/>
          <p:nvPr/>
        </p:nvSpPr>
        <p:spPr>
          <a:xfrm>
            <a:off x="4343400" y="1783080"/>
            <a:ext cx="3520440"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INPUTS FROM OUTSIDE</a:t>
            </a:r>
            <a:endParaRPr lang="en-US" sz="950" dirty="0"/>
          </a:p>
        </p:txBody>
      </p:sp>
      <p:sp>
        <p:nvSpPr>
          <p:cNvPr id="13" name="Text 11"/>
          <p:cNvSpPr/>
          <p:nvPr/>
        </p:nvSpPr>
        <p:spPr>
          <a:xfrm>
            <a:off x="4343400" y="2048256"/>
            <a:ext cx="3520440" cy="274320"/>
          </a:xfrm>
          <a:prstGeom prst="rect">
            <a:avLst/>
          </a:prstGeom>
          <a:noFill/>
          <a:ln/>
        </p:spPr>
        <p:txBody>
          <a:bodyPr wrap="square" lIns="0" tIns="0" rIns="0" bIns="0" rtlCol="0" anchor="ctr"/>
          <a:lstStyle/>
          <a:p>
            <a:pPr marL="0" indent="0">
              <a:buNone/>
            </a:pPr>
            <a:r>
              <a:rPr lang="en-US" sz="1150" b="1" dirty="0">
                <a:solidFill>
                  <a:srgbClr val="121C22"/>
                </a:solidFill>
                <a:latin typeface="Courier New" pitchFamily="34" charset="0"/>
                <a:ea typeface="Courier New" pitchFamily="34" charset="-122"/>
                <a:cs typeface="Courier New" pitchFamily="34" charset="-120"/>
              </a:rPr>
              <a:t>argparse</a:t>
            </a:r>
            <a:endParaRPr lang="en-US" sz="1150" dirty="0"/>
          </a:p>
        </p:txBody>
      </p:sp>
      <p:sp>
        <p:nvSpPr>
          <p:cNvPr id="14" name="Shape 12"/>
          <p:cNvSpPr/>
          <p:nvPr/>
        </p:nvSpPr>
        <p:spPr>
          <a:xfrm>
            <a:off x="4343400" y="2395728"/>
            <a:ext cx="3337560" cy="1371600"/>
          </a:xfrm>
          <a:prstGeom prst="rect">
            <a:avLst/>
          </a:prstGeom>
          <a:solidFill>
            <a:srgbClr val="121C22"/>
          </a:solidFill>
          <a:ln/>
        </p:spPr>
        <p:txBody>
          <a:bodyPr/>
          <a:lstStyle/>
          <a:p>
            <a:endParaRPr lang="en-US"/>
          </a:p>
        </p:txBody>
      </p:sp>
      <p:sp>
        <p:nvSpPr>
          <p:cNvPr id="15" name="Text 13"/>
          <p:cNvSpPr/>
          <p:nvPr/>
        </p:nvSpPr>
        <p:spPr>
          <a:xfrm>
            <a:off x="4498848" y="2514600"/>
            <a:ext cx="3026664" cy="1133856"/>
          </a:xfrm>
          <a:prstGeom prst="rect">
            <a:avLst/>
          </a:prstGeom>
          <a:noFill/>
          <a:ln/>
        </p:spPr>
        <p:txBody>
          <a:bodyPr wrap="square" lIns="0" tIns="0" rIns="0" bIns="0" rtlCol="0" anchor="t"/>
          <a:lstStyle/>
          <a:p>
            <a:pPr marL="0" indent="0">
              <a:lnSpc>
                <a:spcPct val="118000"/>
              </a:lnSpc>
              <a:buNone/>
            </a:pPr>
            <a:r>
              <a:rPr lang="en-US" sz="1000" dirty="0">
                <a:solidFill>
                  <a:srgbClr val="DCE6EA"/>
                </a:solidFill>
                <a:latin typeface="Courier New" pitchFamily="34" charset="0"/>
                <a:ea typeface="Courier New" pitchFamily="34" charset="-122"/>
                <a:cs typeface="Courier New" pitchFamily="34" charset="-120"/>
              </a:rPr>
              <a:t>p = argparse.ArgumentParser()</a:t>
            </a:r>
            <a:endParaRPr lang="en-US" sz="1000" dirty="0"/>
          </a:p>
          <a:p>
            <a:pPr marL="0" indent="0">
              <a:lnSpc>
                <a:spcPct val="118000"/>
              </a:lnSpc>
              <a:buNone/>
            </a:pPr>
            <a:r>
              <a:rPr lang="en-US" sz="1000" dirty="0">
                <a:solidFill>
                  <a:srgbClr val="DCE6EA"/>
                </a:solidFill>
                <a:latin typeface="Courier New" pitchFamily="34" charset="0"/>
                <a:ea typeface="Courier New" pitchFamily="34" charset="-122"/>
                <a:cs typeface="Courier New" pitchFamily="34" charset="-120"/>
              </a:rPr>
              <a:t>p.add_argument("--input")</a:t>
            </a:r>
            <a:endParaRPr lang="en-US" sz="1000" dirty="0"/>
          </a:p>
          <a:p>
            <a:pPr marL="0" indent="0">
              <a:lnSpc>
                <a:spcPct val="118000"/>
              </a:lnSpc>
              <a:buNone/>
            </a:pPr>
            <a:r>
              <a:rPr lang="en-US" sz="1000" dirty="0">
                <a:solidFill>
                  <a:srgbClr val="DCE6EA"/>
                </a:solidFill>
                <a:latin typeface="Courier New" pitchFamily="34" charset="0"/>
                <a:ea typeface="Courier New" pitchFamily="34" charset="-122"/>
                <a:cs typeface="Courier New" pitchFamily="34" charset="-120"/>
              </a:rPr>
              <a:t>args = p.parse_args()</a:t>
            </a:r>
            <a:endParaRPr lang="en-US" sz="1000" dirty="0"/>
          </a:p>
          <a:p>
            <a:pPr marL="0" indent="0">
              <a:lnSpc>
                <a:spcPct val="118000"/>
              </a:lnSpc>
              <a:buNone/>
            </a:pPr>
            <a:r>
              <a:rPr lang="en-US" sz="1000" dirty="0">
                <a:solidFill>
                  <a:srgbClr val="DCE6EA"/>
                </a:solidFill>
                <a:latin typeface="Courier New" pitchFamily="34" charset="0"/>
                <a:ea typeface="Courier New" pitchFamily="34" charset="-122"/>
                <a:cs typeface="Courier New" pitchFamily="34" charset="-120"/>
              </a:rPr>
              <a:t>print(args.input)</a:t>
            </a:r>
            <a:endParaRPr lang="en-US" sz="1000" dirty="0"/>
          </a:p>
        </p:txBody>
      </p:sp>
      <p:sp>
        <p:nvSpPr>
          <p:cNvPr id="16" name="Text 14"/>
          <p:cNvSpPr/>
          <p:nvPr/>
        </p:nvSpPr>
        <p:spPr>
          <a:xfrm>
            <a:off x="4343400" y="3977640"/>
            <a:ext cx="3520440" cy="228600"/>
          </a:xfrm>
          <a:prstGeom prst="rect">
            <a:avLst/>
          </a:prstGeom>
          <a:noFill/>
          <a:ln/>
        </p:spPr>
        <p:txBody>
          <a:bodyPr wrap="square" lIns="0" tIns="0" rIns="0" bIns="0" rtlCol="0" anchor="ctr"/>
          <a:lstStyle/>
          <a:p>
            <a:pPr marL="0" indent="0" algn="l">
              <a:buNone/>
            </a:pPr>
            <a:r>
              <a:rPr lang="en-US" sz="950" b="1" kern="0" spc="110" dirty="0">
                <a:solidFill>
                  <a:srgbClr val="C07A10"/>
                </a:solidFill>
                <a:latin typeface="Courier New" pitchFamily="34" charset="0"/>
                <a:ea typeface="Courier New" pitchFamily="34" charset="-122"/>
                <a:cs typeface="Courier New" pitchFamily="34" charset="-120"/>
              </a:rPr>
              <a:t>WITHOUT IT</a:t>
            </a:r>
            <a:endParaRPr lang="en-US" sz="950" dirty="0"/>
          </a:p>
        </p:txBody>
      </p:sp>
      <p:sp>
        <p:nvSpPr>
          <p:cNvPr id="17" name="Text 15"/>
          <p:cNvSpPr/>
          <p:nvPr/>
        </p:nvSpPr>
        <p:spPr>
          <a:xfrm>
            <a:off x="4343400" y="4224528"/>
            <a:ext cx="3337560" cy="1371600"/>
          </a:xfrm>
          <a:prstGeom prst="rect">
            <a:avLst/>
          </a:prstGeom>
          <a:noFill/>
          <a:ln/>
        </p:spPr>
        <p:txBody>
          <a:bodyPr wrap="square" lIns="0" tIns="0" rIns="0" bIns="0" rtlCol="0" anchor="t"/>
          <a:lstStyle/>
          <a:p>
            <a:pPr marL="0" indent="0">
              <a:lnSpc>
                <a:spcPct val="125000"/>
              </a:lnSpc>
              <a:buNone/>
            </a:pPr>
            <a:r>
              <a:rPr lang="en-US" sz="1250" dirty="0">
                <a:solidFill>
                  <a:srgbClr val="55656F"/>
                </a:solidFill>
                <a:latin typeface="Calibri" pitchFamily="34" charset="0"/>
                <a:ea typeface="Calibri" pitchFamily="34" charset="-122"/>
                <a:cs typeface="Calibri" pitchFamily="34" charset="-120"/>
              </a:rPr>
              <a:t>You edit the code to change a value and re-run. Real programs take the value from the command line: same code, different run.</a:t>
            </a:r>
            <a:endParaRPr lang="en-US" sz="1250" dirty="0"/>
          </a:p>
        </p:txBody>
      </p:sp>
      <p:sp>
        <p:nvSpPr>
          <p:cNvPr id="18" name="Text 16"/>
          <p:cNvSpPr/>
          <p:nvPr/>
        </p:nvSpPr>
        <p:spPr>
          <a:xfrm>
            <a:off x="8092440" y="1783080"/>
            <a:ext cx="3474720"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AN EXPLANATION</a:t>
            </a:r>
            <a:endParaRPr lang="en-US" sz="950" dirty="0"/>
          </a:p>
        </p:txBody>
      </p:sp>
      <p:sp>
        <p:nvSpPr>
          <p:cNvPr id="19" name="Text 17"/>
          <p:cNvSpPr/>
          <p:nvPr/>
        </p:nvSpPr>
        <p:spPr>
          <a:xfrm>
            <a:off x="8092440" y="2048256"/>
            <a:ext cx="3474720" cy="274320"/>
          </a:xfrm>
          <a:prstGeom prst="rect">
            <a:avLst/>
          </a:prstGeom>
          <a:noFill/>
          <a:ln/>
        </p:spPr>
        <p:txBody>
          <a:bodyPr wrap="square" lIns="0" tIns="0" rIns="0" bIns="0" rtlCol="0" anchor="ctr"/>
          <a:lstStyle/>
          <a:p>
            <a:pPr marL="0" indent="0">
              <a:buNone/>
            </a:pPr>
            <a:r>
              <a:rPr lang="en-US" sz="1150" b="1" dirty="0">
                <a:solidFill>
                  <a:srgbClr val="121C22"/>
                </a:solidFill>
                <a:latin typeface="Courier New" pitchFamily="34" charset="0"/>
                <a:ea typeface="Courier New" pitchFamily="34" charset="-122"/>
                <a:cs typeface="Courier New" pitchFamily="34" charset="-120"/>
              </a:rPr>
              <a:t>docstrings</a:t>
            </a:r>
            <a:endParaRPr lang="en-US" sz="1150" dirty="0"/>
          </a:p>
        </p:txBody>
      </p:sp>
      <p:sp>
        <p:nvSpPr>
          <p:cNvPr id="20" name="Shape 18"/>
          <p:cNvSpPr/>
          <p:nvPr/>
        </p:nvSpPr>
        <p:spPr>
          <a:xfrm>
            <a:off x="8092440" y="2395728"/>
            <a:ext cx="3291840" cy="1371600"/>
          </a:xfrm>
          <a:prstGeom prst="rect">
            <a:avLst/>
          </a:prstGeom>
          <a:solidFill>
            <a:srgbClr val="121C22"/>
          </a:solidFill>
          <a:ln/>
        </p:spPr>
        <p:txBody>
          <a:bodyPr/>
          <a:lstStyle/>
          <a:p>
            <a:endParaRPr lang="en-US"/>
          </a:p>
        </p:txBody>
      </p:sp>
      <p:sp>
        <p:nvSpPr>
          <p:cNvPr id="21" name="Text 19"/>
          <p:cNvSpPr/>
          <p:nvPr/>
        </p:nvSpPr>
        <p:spPr>
          <a:xfrm>
            <a:off x="8247888" y="2514600"/>
            <a:ext cx="2980944" cy="1133856"/>
          </a:xfrm>
          <a:prstGeom prst="rect">
            <a:avLst/>
          </a:prstGeom>
          <a:noFill/>
          <a:ln/>
        </p:spPr>
        <p:txBody>
          <a:bodyPr wrap="square" lIns="0" tIns="0" rIns="0" bIns="0" rtlCol="0" anchor="t"/>
          <a:lstStyle/>
          <a:p>
            <a:pPr marL="0" indent="0">
              <a:lnSpc>
                <a:spcPct val="118000"/>
              </a:lnSpc>
              <a:buNone/>
            </a:pPr>
            <a:r>
              <a:rPr lang="en-US" sz="1000" dirty="0">
                <a:solidFill>
                  <a:srgbClr val="DCE6EA"/>
                </a:solidFill>
                <a:latin typeface="Courier New" pitchFamily="34" charset="0"/>
                <a:ea typeface="Courier New" pitchFamily="34" charset="-122"/>
                <a:cs typeface="Courier New" pitchFamily="34" charset="-120"/>
              </a:rPr>
              <a:t>def format_name(name):</a:t>
            </a:r>
            <a:endParaRPr lang="en-US" sz="1000" dirty="0"/>
          </a:p>
          <a:p>
            <a:pPr marL="0" indent="0">
              <a:lnSpc>
                <a:spcPct val="118000"/>
              </a:lnSpc>
              <a:buNone/>
            </a:pPr>
            <a:r>
              <a:rPr lang="en-US" sz="1000" dirty="0">
                <a:solidFill>
                  <a:srgbClr val="DCE6EA"/>
                </a:solidFill>
                <a:latin typeface="Courier New" pitchFamily="34" charset="0"/>
                <a:ea typeface="Courier New" pitchFamily="34" charset="-122"/>
                <a:cs typeface="Courier New" pitchFamily="34" charset="-120"/>
              </a:rPr>
              <a:t>    """Short names get</a:t>
            </a:r>
            <a:endParaRPr lang="en-US" sz="1000" dirty="0"/>
          </a:p>
          <a:p>
            <a:pPr marL="0" indent="0">
              <a:lnSpc>
                <a:spcPct val="118000"/>
              </a:lnSpc>
              <a:buNone/>
            </a:pPr>
            <a:r>
              <a:rPr lang="en-US" sz="1000" dirty="0">
                <a:solidFill>
                  <a:srgbClr val="DCE6EA"/>
                </a:solidFill>
                <a:latin typeface="Courier New" pitchFamily="34" charset="0"/>
                <a:ea typeface="Courier New" pitchFamily="34" charset="-122"/>
                <a:cs typeface="Courier New" pitchFamily="34" charset="-120"/>
              </a:rPr>
              <a:t>    SHOUTED. Long names</a:t>
            </a:r>
            <a:endParaRPr lang="en-US" sz="1000" dirty="0"/>
          </a:p>
          <a:p>
            <a:pPr marL="0" indent="0">
              <a:lnSpc>
                <a:spcPct val="118000"/>
              </a:lnSpc>
              <a:buNone/>
            </a:pPr>
            <a:r>
              <a:rPr lang="en-US" sz="1000" dirty="0">
                <a:solidFill>
                  <a:srgbClr val="DCE6EA"/>
                </a:solidFill>
                <a:latin typeface="Courier New" pitchFamily="34" charset="0"/>
                <a:ea typeface="Courier New" pitchFamily="34" charset="-122"/>
                <a:cs typeface="Courier New" pitchFamily="34" charset="-120"/>
              </a:rPr>
              <a:t>    get Title Cased."""</a:t>
            </a:r>
            <a:endParaRPr lang="en-US" sz="1000" dirty="0"/>
          </a:p>
        </p:txBody>
      </p:sp>
      <p:sp>
        <p:nvSpPr>
          <p:cNvPr id="22" name="Text 20"/>
          <p:cNvSpPr/>
          <p:nvPr/>
        </p:nvSpPr>
        <p:spPr>
          <a:xfrm>
            <a:off x="8092440" y="3977640"/>
            <a:ext cx="3474720" cy="228600"/>
          </a:xfrm>
          <a:prstGeom prst="rect">
            <a:avLst/>
          </a:prstGeom>
          <a:noFill/>
          <a:ln/>
        </p:spPr>
        <p:txBody>
          <a:bodyPr wrap="square" lIns="0" tIns="0" rIns="0" bIns="0" rtlCol="0" anchor="ctr"/>
          <a:lstStyle/>
          <a:p>
            <a:pPr marL="0" indent="0" algn="l">
              <a:buNone/>
            </a:pPr>
            <a:r>
              <a:rPr lang="en-US" sz="950" b="1" kern="0" spc="110" dirty="0">
                <a:solidFill>
                  <a:srgbClr val="C07A10"/>
                </a:solidFill>
                <a:latin typeface="Courier New" pitchFamily="34" charset="0"/>
                <a:ea typeface="Courier New" pitchFamily="34" charset="-122"/>
                <a:cs typeface="Courier New" pitchFamily="34" charset="-120"/>
              </a:rPr>
              <a:t>WITHOUT IT</a:t>
            </a:r>
            <a:endParaRPr lang="en-US" sz="950" dirty="0"/>
          </a:p>
        </p:txBody>
      </p:sp>
      <p:sp>
        <p:nvSpPr>
          <p:cNvPr id="23" name="Text 21"/>
          <p:cNvSpPr/>
          <p:nvPr/>
        </p:nvSpPr>
        <p:spPr>
          <a:xfrm>
            <a:off x="8092440" y="4224528"/>
            <a:ext cx="3291840" cy="1371600"/>
          </a:xfrm>
          <a:prstGeom prst="rect">
            <a:avLst/>
          </a:prstGeom>
          <a:noFill/>
          <a:ln/>
        </p:spPr>
        <p:txBody>
          <a:bodyPr wrap="square" lIns="0" tIns="0" rIns="0" bIns="0" rtlCol="0" anchor="t"/>
          <a:lstStyle/>
          <a:p>
            <a:pPr marL="0" indent="0">
              <a:lnSpc>
                <a:spcPct val="125000"/>
              </a:lnSpc>
              <a:buNone/>
            </a:pPr>
            <a:r>
              <a:rPr lang="en-US" sz="1250" dirty="0">
                <a:solidFill>
                  <a:srgbClr val="55656F"/>
                </a:solidFill>
                <a:latin typeface="Calibri" pitchFamily="34" charset="0"/>
                <a:ea typeface="Calibri" pitchFamily="34" charset="-122"/>
                <a:cs typeface="Calibri" pitchFamily="34" charset="-120"/>
              </a:rPr>
              <a:t>Future you is a stranger. Write what it does and what it gives back, in the file, where it cannot get lost.</a:t>
            </a:r>
            <a:endParaRPr lang="en-US" sz="1250" dirty="0"/>
          </a:p>
        </p:txBody>
      </p:sp>
      <p:sp>
        <p:nvSpPr>
          <p:cNvPr id="24" name="Text 22"/>
          <p:cNvSpPr/>
          <p:nvPr/>
        </p:nvSpPr>
        <p:spPr>
          <a:xfrm>
            <a:off x="594360" y="6062472"/>
            <a:ext cx="11002975" cy="402336"/>
          </a:xfrm>
          <a:prstGeom prst="rect">
            <a:avLst/>
          </a:prstGeom>
          <a:noFill/>
          <a:ln/>
        </p:spPr>
        <p:txBody>
          <a:bodyPr wrap="square" lIns="0" tIns="0" rIns="0" bIns="0" rtlCol="0" anchor="t"/>
          <a:lstStyle/>
          <a:p>
            <a:pPr marL="0" indent="0">
              <a:lnSpc>
                <a:spcPct val="120000"/>
              </a:lnSpc>
              <a:buNone/>
            </a:pPr>
            <a:r>
              <a:rPr lang="en-US" sz="1350" b="1" dirty="0">
                <a:solidFill>
                  <a:srgbClr val="121C22"/>
                </a:solidFill>
                <a:latin typeface="Calibri" pitchFamily="34" charset="0"/>
                <a:ea typeface="Calibri" pitchFamily="34" charset="-122"/>
                <a:cs typeface="Calibri" pitchFamily="34" charset="-120"/>
              </a:rPr>
              <a:t>Add these three and a script stops being your notes.</a:t>
            </a:r>
            <a:r>
              <a:rPr lang="en-US" sz="1350" dirty="0">
                <a:solidFill>
                  <a:srgbClr val="55656F"/>
                </a:solidFill>
                <a:latin typeface="Calibri" pitchFamily="34" charset="0"/>
                <a:ea typeface="Calibri" pitchFamily="34" charset="-122"/>
                <a:cs typeface="Calibri" pitchFamily="34" charset="-120"/>
              </a:rPr>
              <a:t>   It starts being a tool that other people can use without asking you how.</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121C22"/>
        </a:solidFill>
        <a:effectLst/>
      </p:bgPr>
    </p:bg>
    <p:spTree>
      <p:nvGrpSpPr>
        <p:cNvPr id="1" name=""/>
        <p:cNvGrpSpPr/>
        <p:nvPr/>
      </p:nvGrpSpPr>
      <p:grpSpPr>
        <a:xfrm>
          <a:off x="0" y="0"/>
          <a:ext cx="0" cy="0"/>
          <a:chOff x="0" y="0"/>
          <a:chExt cx="0" cy="0"/>
        </a:xfrm>
      </p:grpSpPr>
      <p:sp>
        <p:nvSpPr>
          <p:cNvPr id="4" name="Text 2"/>
          <p:cNvSpPr/>
          <p:nvPr/>
        </p:nvSpPr>
        <p:spPr>
          <a:xfrm>
            <a:off x="594360" y="2103120"/>
            <a:ext cx="6217920" cy="822960"/>
          </a:xfrm>
          <a:prstGeom prst="rect">
            <a:avLst/>
          </a:prstGeom>
          <a:noFill/>
          <a:ln/>
        </p:spPr>
        <p:txBody>
          <a:bodyPr wrap="square" lIns="0" tIns="0" rIns="0" bIns="0"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Software in the Real World</a:t>
            </a:r>
            <a:endParaRPr lang="en-US" sz="3800" dirty="0"/>
          </a:p>
        </p:txBody>
      </p:sp>
      <p:sp>
        <p:nvSpPr>
          <p:cNvPr id="5" name="Shape 3"/>
          <p:cNvSpPr/>
          <p:nvPr/>
        </p:nvSpPr>
        <p:spPr>
          <a:xfrm>
            <a:off x="594360" y="3401568"/>
            <a:ext cx="6035040" cy="0"/>
          </a:xfrm>
          <a:prstGeom prst="line">
            <a:avLst/>
          </a:prstGeom>
          <a:noFill/>
          <a:ln w="9525">
            <a:solidFill>
              <a:srgbClr val="2C4150"/>
            </a:solidFill>
            <a:prstDash val="solid"/>
          </a:ln>
        </p:spPr>
        <p:txBody>
          <a:bodyPr/>
          <a:lstStyle/>
          <a:p>
            <a:endParaRPr lang="en-US"/>
          </a:p>
        </p:txBody>
      </p:sp>
      <p:sp>
        <p:nvSpPr>
          <p:cNvPr id="6" name="Text 4"/>
          <p:cNvSpPr/>
          <p:nvPr/>
        </p:nvSpPr>
        <p:spPr>
          <a:xfrm>
            <a:off x="594360" y="3547872"/>
            <a:ext cx="5943600" cy="640080"/>
          </a:xfrm>
          <a:prstGeom prst="rect">
            <a:avLst/>
          </a:prstGeom>
          <a:noFill/>
          <a:ln/>
        </p:spPr>
        <p:txBody>
          <a:bodyPr wrap="square" lIns="0" tIns="0" rIns="0" bIns="0" rtlCol="0" anchor="t"/>
          <a:lstStyle/>
          <a:p>
            <a:pPr marL="0" indent="0">
              <a:lnSpc>
                <a:spcPct val="130000"/>
              </a:lnSpc>
              <a:buNone/>
            </a:pPr>
            <a:r>
              <a:rPr lang="en-US" sz="1400" dirty="0">
                <a:solidFill>
                  <a:srgbClr val="D7E0E5"/>
                </a:solidFill>
                <a:latin typeface="Calibri" pitchFamily="34" charset="0"/>
                <a:ea typeface="Calibri" pitchFamily="34" charset="-122"/>
                <a:cs typeface="Calibri" pitchFamily="34" charset="-120"/>
              </a:rPr>
              <a:t>What does good software look like? How do I trust my code works? How do I dig into problems when they arise?</a:t>
            </a:r>
            <a:endParaRPr lang="en-US" sz="1400" dirty="0"/>
          </a:p>
        </p:txBody>
      </p:sp>
      <p:sp>
        <p:nvSpPr>
          <p:cNvPr id="7" name="Text 5"/>
          <p:cNvSpPr/>
          <p:nvPr/>
        </p:nvSpPr>
        <p:spPr>
          <a:xfrm>
            <a:off x="594360" y="4370832"/>
            <a:ext cx="3657600" cy="228600"/>
          </a:xfrm>
          <a:prstGeom prst="rect">
            <a:avLst/>
          </a:prstGeom>
          <a:noFill/>
          <a:ln/>
        </p:spPr>
        <p:txBody>
          <a:bodyPr wrap="square" lIns="0" tIns="0" rIns="0" bIns="0" rtlCol="0" anchor="ctr"/>
          <a:lstStyle/>
          <a:p>
            <a:pPr marL="0" indent="0">
              <a:buNone/>
            </a:pPr>
            <a:r>
              <a:rPr lang="en-US" sz="950" b="1" kern="0" spc="120" dirty="0">
                <a:solidFill>
                  <a:srgbClr val="8A9AA4"/>
                </a:solidFill>
                <a:latin typeface="Courier New" pitchFamily="34" charset="0"/>
                <a:ea typeface="Courier New" pitchFamily="34" charset="-122"/>
                <a:cs typeface="Courier New" pitchFamily="34" charset="-120"/>
              </a:rPr>
              <a:t>IN THIS SECTION</a:t>
            </a:r>
            <a:endParaRPr lang="en-US" sz="950" dirty="0"/>
          </a:p>
        </p:txBody>
      </p:sp>
      <p:sp>
        <p:nvSpPr>
          <p:cNvPr id="8" name="Shape 6"/>
          <p:cNvSpPr/>
          <p:nvPr/>
        </p:nvSpPr>
        <p:spPr>
          <a:xfrm>
            <a:off x="594360" y="4626864"/>
            <a:ext cx="6035040" cy="0"/>
          </a:xfrm>
          <a:prstGeom prst="line">
            <a:avLst/>
          </a:prstGeom>
          <a:noFill/>
          <a:ln w="9525">
            <a:solidFill>
              <a:srgbClr val="2C4150"/>
            </a:solidFill>
            <a:prstDash val="solid"/>
          </a:ln>
        </p:spPr>
        <p:txBody>
          <a:bodyPr/>
          <a:lstStyle/>
          <a:p>
            <a:endParaRPr lang="en-US"/>
          </a:p>
        </p:txBody>
      </p:sp>
      <p:sp>
        <p:nvSpPr>
          <p:cNvPr id="9" name="Text 7"/>
          <p:cNvSpPr/>
          <p:nvPr/>
        </p:nvSpPr>
        <p:spPr>
          <a:xfrm>
            <a:off x="594360" y="4718304"/>
            <a:ext cx="384048" cy="274320"/>
          </a:xfrm>
          <a:prstGeom prst="rect">
            <a:avLst/>
          </a:prstGeom>
          <a:noFill/>
          <a:ln/>
        </p:spPr>
        <p:txBody>
          <a:bodyPr wrap="square" lIns="0" tIns="0" rIns="0" bIns="0" rtlCol="0" anchor="ctr"/>
          <a:lstStyle/>
          <a:p>
            <a:pPr marL="0" indent="0">
              <a:buNone/>
            </a:pPr>
            <a:r>
              <a:rPr lang="en-US" sz="1050" b="1" dirty="0">
                <a:solidFill>
                  <a:srgbClr val="E8A33D"/>
                </a:solidFill>
                <a:latin typeface="Courier New" pitchFamily="34" charset="0"/>
                <a:ea typeface="Courier New" pitchFamily="34" charset="-122"/>
                <a:cs typeface="Courier New" pitchFamily="34" charset="-120"/>
              </a:rPr>
              <a:t>01</a:t>
            </a:r>
            <a:endParaRPr lang="en-US" sz="1050" dirty="0"/>
          </a:p>
        </p:txBody>
      </p:sp>
      <p:sp>
        <p:nvSpPr>
          <p:cNvPr id="10" name="Text 8"/>
          <p:cNvSpPr/>
          <p:nvPr/>
        </p:nvSpPr>
        <p:spPr>
          <a:xfrm>
            <a:off x="1033272" y="4700016"/>
            <a:ext cx="5486400" cy="292608"/>
          </a:xfrm>
          <a:prstGeom prst="rect">
            <a:avLst/>
          </a:prstGeom>
          <a:noFill/>
          <a:ln/>
        </p:spPr>
        <p:txBody>
          <a:bodyPr wrap="square" lIns="0" tIns="0" rIns="0" bIns="0" rtlCol="0" anchor="ctr"/>
          <a:lstStyle/>
          <a:p>
            <a:r>
              <a:rPr lang="en-US" sz="1300" dirty="0">
                <a:solidFill>
                  <a:srgbClr val="D7E0E5"/>
                </a:solidFill>
                <a:latin typeface="Calibri" pitchFamily="34" charset="0"/>
                <a:ea typeface="Calibri" pitchFamily="34" charset="-122"/>
                <a:cs typeface="Calibri" pitchFamily="34" charset="-120"/>
              </a:rPr>
              <a:t>Anatomy of a real project</a:t>
            </a:r>
            <a:endParaRPr lang="en-US" sz="1300" dirty="0"/>
          </a:p>
        </p:txBody>
      </p:sp>
      <p:sp>
        <p:nvSpPr>
          <p:cNvPr id="11" name="Text 9"/>
          <p:cNvSpPr/>
          <p:nvPr/>
        </p:nvSpPr>
        <p:spPr>
          <a:xfrm>
            <a:off x="594360" y="5047488"/>
            <a:ext cx="384048" cy="274320"/>
          </a:xfrm>
          <a:prstGeom prst="rect">
            <a:avLst/>
          </a:prstGeom>
          <a:noFill/>
          <a:ln/>
        </p:spPr>
        <p:txBody>
          <a:bodyPr wrap="square" lIns="0" tIns="0" rIns="0" bIns="0" rtlCol="0" anchor="ctr"/>
          <a:lstStyle/>
          <a:p>
            <a:pPr marL="0" indent="0">
              <a:buNone/>
            </a:pPr>
            <a:r>
              <a:rPr lang="en-US" sz="1050" b="1" dirty="0">
                <a:solidFill>
                  <a:srgbClr val="E8A33D"/>
                </a:solidFill>
                <a:latin typeface="Courier New" pitchFamily="34" charset="0"/>
                <a:ea typeface="Courier New" pitchFamily="34" charset="-122"/>
                <a:cs typeface="Courier New" pitchFamily="34" charset="-120"/>
              </a:rPr>
              <a:t>02</a:t>
            </a:r>
            <a:endParaRPr lang="en-US" sz="1050" dirty="0"/>
          </a:p>
        </p:txBody>
      </p:sp>
      <p:sp>
        <p:nvSpPr>
          <p:cNvPr id="12" name="Text 10"/>
          <p:cNvSpPr/>
          <p:nvPr/>
        </p:nvSpPr>
        <p:spPr>
          <a:xfrm>
            <a:off x="1033272" y="5358384"/>
            <a:ext cx="5486400" cy="292608"/>
          </a:xfrm>
          <a:prstGeom prst="rect">
            <a:avLst/>
          </a:prstGeom>
          <a:noFill/>
          <a:ln/>
        </p:spPr>
        <p:txBody>
          <a:bodyPr wrap="square" lIns="0" tIns="0" rIns="0" bIns="0" rtlCol="0" anchor="ctr"/>
          <a:lstStyle/>
          <a:p>
            <a:pPr marL="0" indent="0">
              <a:buNone/>
            </a:pPr>
            <a:r>
              <a:rPr lang="en-US" sz="1300" dirty="0">
                <a:solidFill>
                  <a:srgbClr val="D7E0E5"/>
                </a:solidFill>
                <a:latin typeface="Calibri" pitchFamily="34" charset="0"/>
                <a:ea typeface="Calibri" pitchFamily="34" charset="-122"/>
                <a:cs typeface="Calibri" pitchFamily="34" charset="-120"/>
              </a:rPr>
              <a:t>The debugger, instead of print()</a:t>
            </a:r>
            <a:endParaRPr lang="en-US" sz="1300" dirty="0"/>
          </a:p>
        </p:txBody>
      </p:sp>
      <p:sp>
        <p:nvSpPr>
          <p:cNvPr id="13" name="Text 11"/>
          <p:cNvSpPr/>
          <p:nvPr/>
        </p:nvSpPr>
        <p:spPr>
          <a:xfrm>
            <a:off x="594360" y="5376672"/>
            <a:ext cx="384048" cy="274320"/>
          </a:xfrm>
          <a:prstGeom prst="rect">
            <a:avLst/>
          </a:prstGeom>
          <a:noFill/>
          <a:ln/>
        </p:spPr>
        <p:txBody>
          <a:bodyPr wrap="square" lIns="0" tIns="0" rIns="0" bIns="0" rtlCol="0" anchor="ctr"/>
          <a:lstStyle/>
          <a:p>
            <a:pPr marL="0" indent="0">
              <a:buNone/>
            </a:pPr>
            <a:r>
              <a:rPr lang="en-US" sz="1050" b="1" dirty="0">
                <a:solidFill>
                  <a:srgbClr val="E8A33D"/>
                </a:solidFill>
                <a:latin typeface="Courier New" pitchFamily="34" charset="0"/>
                <a:ea typeface="Courier New" pitchFamily="34" charset="-122"/>
                <a:cs typeface="Courier New" pitchFamily="34" charset="-120"/>
              </a:rPr>
              <a:t>03</a:t>
            </a:r>
            <a:endParaRPr lang="en-US" sz="1050" dirty="0"/>
          </a:p>
        </p:txBody>
      </p:sp>
      <p:sp>
        <p:nvSpPr>
          <p:cNvPr id="14" name="Text 12"/>
          <p:cNvSpPr/>
          <p:nvPr/>
        </p:nvSpPr>
        <p:spPr>
          <a:xfrm>
            <a:off x="1033272" y="5681136"/>
            <a:ext cx="5486400" cy="292608"/>
          </a:xfrm>
          <a:prstGeom prst="rect">
            <a:avLst/>
          </a:prstGeom>
          <a:noFill/>
          <a:ln/>
        </p:spPr>
        <p:txBody>
          <a:bodyPr wrap="square" lIns="0" tIns="0" rIns="0" bIns="0" rtlCol="0" anchor="ctr"/>
          <a:lstStyle/>
          <a:p>
            <a:pPr marL="0" indent="0">
              <a:buNone/>
            </a:pPr>
            <a:r>
              <a:rPr lang="en-US" sz="1300" dirty="0">
                <a:solidFill>
                  <a:srgbClr val="D7E0E5"/>
                </a:solidFill>
                <a:latin typeface="Calibri" pitchFamily="34" charset="0"/>
                <a:ea typeface="Calibri" pitchFamily="34" charset="-122"/>
                <a:cs typeface="Calibri" pitchFamily="34" charset="-120"/>
              </a:rPr>
              <a:t>Reading a traceback from the bottom up</a:t>
            </a:r>
            <a:endParaRPr lang="en-US" sz="1300" dirty="0"/>
          </a:p>
        </p:txBody>
      </p:sp>
      <p:sp>
        <p:nvSpPr>
          <p:cNvPr id="15" name="Text 13"/>
          <p:cNvSpPr/>
          <p:nvPr/>
        </p:nvSpPr>
        <p:spPr>
          <a:xfrm>
            <a:off x="594360" y="5705856"/>
            <a:ext cx="384048" cy="274320"/>
          </a:xfrm>
          <a:prstGeom prst="rect">
            <a:avLst/>
          </a:prstGeom>
          <a:noFill/>
          <a:ln/>
        </p:spPr>
        <p:txBody>
          <a:bodyPr wrap="square" lIns="0" tIns="0" rIns="0" bIns="0" rtlCol="0" anchor="ctr"/>
          <a:lstStyle/>
          <a:p>
            <a:pPr marL="0" indent="0">
              <a:buNone/>
            </a:pPr>
            <a:r>
              <a:rPr lang="en-US" sz="1050" b="1" dirty="0">
                <a:solidFill>
                  <a:srgbClr val="E8A33D"/>
                </a:solidFill>
                <a:latin typeface="Courier New" pitchFamily="34" charset="0"/>
                <a:ea typeface="Courier New" pitchFamily="34" charset="-122"/>
                <a:cs typeface="Courier New" pitchFamily="34" charset="-120"/>
              </a:rPr>
              <a:t>04</a:t>
            </a:r>
            <a:endParaRPr lang="en-US" sz="1050" dirty="0"/>
          </a:p>
        </p:txBody>
      </p:sp>
      <p:sp>
        <p:nvSpPr>
          <p:cNvPr id="16" name="Text 14"/>
          <p:cNvSpPr/>
          <p:nvPr/>
        </p:nvSpPr>
        <p:spPr>
          <a:xfrm>
            <a:off x="1043320" y="5752680"/>
            <a:ext cx="5486400" cy="292608"/>
          </a:xfrm>
          <a:prstGeom prst="rect">
            <a:avLst/>
          </a:prstGeom>
          <a:noFill/>
          <a:ln/>
        </p:spPr>
        <p:txBody>
          <a:bodyPr wrap="square" lIns="0" tIns="0" rIns="0" bIns="0" rtlCol="0" anchor="ctr"/>
          <a:lstStyle/>
          <a:p>
            <a:pPr marL="0" indent="0">
              <a:buNone/>
            </a:pPr>
            <a:endParaRPr lang="en-US" sz="1300" dirty="0"/>
          </a:p>
        </p:txBody>
      </p:sp>
      <p:sp>
        <p:nvSpPr>
          <p:cNvPr id="17" name="Text 15"/>
          <p:cNvSpPr/>
          <p:nvPr/>
        </p:nvSpPr>
        <p:spPr>
          <a:xfrm>
            <a:off x="594360" y="6035040"/>
            <a:ext cx="384048" cy="274320"/>
          </a:xfrm>
          <a:prstGeom prst="rect">
            <a:avLst/>
          </a:prstGeom>
          <a:noFill/>
          <a:ln/>
        </p:spPr>
        <p:txBody>
          <a:bodyPr wrap="square" lIns="0" tIns="0" rIns="0" bIns="0" rtlCol="0" anchor="ctr"/>
          <a:lstStyle/>
          <a:p>
            <a:pPr marL="0" indent="0">
              <a:buNone/>
            </a:pPr>
            <a:r>
              <a:rPr lang="en-US" sz="1050" b="1" dirty="0">
                <a:solidFill>
                  <a:srgbClr val="E8A33D"/>
                </a:solidFill>
                <a:latin typeface="Courier New" pitchFamily="34" charset="0"/>
                <a:ea typeface="Courier New" pitchFamily="34" charset="-122"/>
                <a:cs typeface="Courier New" pitchFamily="34" charset="-120"/>
              </a:rPr>
              <a:t>05</a:t>
            </a:r>
            <a:endParaRPr lang="en-US" sz="1050" dirty="0"/>
          </a:p>
        </p:txBody>
      </p:sp>
      <p:sp>
        <p:nvSpPr>
          <p:cNvPr id="18" name="Text 16"/>
          <p:cNvSpPr/>
          <p:nvPr/>
        </p:nvSpPr>
        <p:spPr>
          <a:xfrm>
            <a:off x="1033272" y="6016752"/>
            <a:ext cx="5486400" cy="292608"/>
          </a:xfrm>
          <a:prstGeom prst="rect">
            <a:avLst/>
          </a:prstGeom>
          <a:noFill/>
          <a:ln/>
        </p:spPr>
        <p:txBody>
          <a:bodyPr wrap="square" lIns="0" tIns="0" rIns="0" bIns="0" rtlCol="0" anchor="ctr"/>
          <a:lstStyle/>
          <a:p>
            <a:pPr marL="0" indent="0">
              <a:buNone/>
            </a:pPr>
            <a:r>
              <a:rPr lang="en-US" sz="1300" dirty="0">
                <a:solidFill>
                  <a:srgbClr val="D7E0E5"/>
                </a:solidFill>
                <a:latin typeface="Calibri" pitchFamily="34" charset="0"/>
                <a:ea typeface="Calibri" pitchFamily="34" charset="-122"/>
                <a:cs typeface="Calibri" pitchFamily="34" charset="-120"/>
              </a:rPr>
              <a:t>How to ask so that you get an answer</a:t>
            </a:r>
            <a:endParaRPr lang="en-US" sz="1300" dirty="0"/>
          </a:p>
        </p:txBody>
      </p:sp>
      <p:sp>
        <p:nvSpPr>
          <p:cNvPr id="19" name="Text 17"/>
          <p:cNvSpPr/>
          <p:nvPr/>
        </p:nvSpPr>
        <p:spPr>
          <a:xfrm>
            <a:off x="7452360" y="1371600"/>
            <a:ext cx="4114800" cy="228600"/>
          </a:xfrm>
          <a:prstGeom prst="rect">
            <a:avLst/>
          </a:prstGeom>
          <a:noFill/>
          <a:ln/>
        </p:spPr>
        <p:txBody>
          <a:bodyPr wrap="square" lIns="0" tIns="0" rIns="0" bIns="0" rtlCol="0" anchor="ctr"/>
          <a:lstStyle/>
          <a:p>
            <a:pPr marL="0" indent="0">
              <a:buNone/>
            </a:pPr>
            <a:r>
              <a:rPr lang="en-US" sz="950" b="1" kern="0" spc="120" dirty="0">
                <a:solidFill>
                  <a:srgbClr val="8A9AA4"/>
                </a:solidFill>
                <a:latin typeface="Courier New" pitchFamily="34" charset="0"/>
                <a:ea typeface="Courier New" pitchFamily="34" charset="-122"/>
                <a:cs typeface="Courier New" pitchFamily="34" charset="-120"/>
              </a:rPr>
              <a:t>WHERE WE ARE</a:t>
            </a:r>
            <a:endParaRPr lang="en-US" sz="950" dirty="0"/>
          </a:p>
        </p:txBody>
      </p:sp>
      <p:sp>
        <p:nvSpPr>
          <p:cNvPr id="20" name="Shape 18"/>
          <p:cNvSpPr/>
          <p:nvPr/>
        </p:nvSpPr>
        <p:spPr>
          <a:xfrm>
            <a:off x="7452360" y="1645920"/>
            <a:ext cx="4114800" cy="0"/>
          </a:xfrm>
          <a:prstGeom prst="line">
            <a:avLst/>
          </a:prstGeom>
          <a:noFill/>
          <a:ln w="12700">
            <a:solidFill>
              <a:srgbClr val="4A5F6C"/>
            </a:solidFill>
            <a:prstDash val="solid"/>
          </a:ln>
        </p:spPr>
        <p:txBody>
          <a:bodyPr/>
          <a:lstStyle/>
          <a:p>
            <a:endParaRPr lang="en-US"/>
          </a:p>
        </p:txBody>
      </p:sp>
      <p:sp>
        <p:nvSpPr>
          <p:cNvPr id="22" name="Text 20"/>
          <p:cNvSpPr/>
          <p:nvPr/>
        </p:nvSpPr>
        <p:spPr>
          <a:xfrm>
            <a:off x="7452360" y="1768509"/>
            <a:ext cx="2606040" cy="365760"/>
          </a:xfrm>
          <a:prstGeom prst="rect">
            <a:avLst/>
          </a:prstGeom>
          <a:noFill/>
          <a:ln/>
        </p:spPr>
        <p:txBody>
          <a:bodyPr wrap="square" lIns="0" tIns="0" rIns="0" bIns="0" rtlCol="0" anchor="ctr"/>
          <a:lstStyle/>
          <a:p>
            <a:pPr marL="0" indent="0">
              <a:lnSpc>
                <a:spcPct val="105000"/>
              </a:lnSpc>
              <a:buNone/>
            </a:pPr>
            <a:r>
              <a:rPr lang="en-US" sz="1350" dirty="0">
                <a:solidFill>
                  <a:srgbClr val="6E7F8A"/>
                </a:solidFill>
                <a:latin typeface="Calibri" pitchFamily="34" charset="0"/>
                <a:ea typeface="Calibri" pitchFamily="34" charset="-122"/>
                <a:cs typeface="Calibri" pitchFamily="34" charset="-120"/>
              </a:rPr>
              <a:t>Behind the curtain of Colab</a:t>
            </a:r>
            <a:endParaRPr lang="en-US" sz="1350" dirty="0"/>
          </a:p>
        </p:txBody>
      </p:sp>
      <p:sp>
        <p:nvSpPr>
          <p:cNvPr id="24" name="Shape 22"/>
          <p:cNvSpPr/>
          <p:nvPr/>
        </p:nvSpPr>
        <p:spPr>
          <a:xfrm>
            <a:off x="7452360" y="2359152"/>
            <a:ext cx="4114800" cy="0"/>
          </a:xfrm>
          <a:prstGeom prst="line">
            <a:avLst/>
          </a:prstGeom>
          <a:noFill/>
          <a:ln w="9525">
            <a:solidFill>
              <a:srgbClr val="2C4150"/>
            </a:solidFill>
            <a:prstDash val="solid"/>
          </a:ln>
        </p:spPr>
        <p:txBody>
          <a:bodyPr/>
          <a:lstStyle/>
          <a:p>
            <a:endParaRPr lang="en-US"/>
          </a:p>
        </p:txBody>
      </p:sp>
      <p:sp>
        <p:nvSpPr>
          <p:cNvPr id="26" name="Text 24"/>
          <p:cNvSpPr/>
          <p:nvPr/>
        </p:nvSpPr>
        <p:spPr>
          <a:xfrm>
            <a:off x="7452360" y="2481741"/>
            <a:ext cx="2606040" cy="365760"/>
          </a:xfrm>
          <a:prstGeom prst="rect">
            <a:avLst/>
          </a:prstGeom>
          <a:noFill/>
          <a:ln/>
        </p:spPr>
        <p:txBody>
          <a:bodyPr wrap="square" lIns="0" tIns="0" rIns="0" bIns="0" rtlCol="0" anchor="ctr"/>
          <a:lstStyle/>
          <a:p>
            <a:pPr marL="0" indent="0">
              <a:lnSpc>
                <a:spcPct val="105000"/>
              </a:lnSpc>
              <a:buNone/>
            </a:pPr>
            <a:r>
              <a:rPr lang="en-US" sz="1350" dirty="0">
                <a:solidFill>
                  <a:srgbClr val="6E7F8A"/>
                </a:solidFill>
                <a:latin typeface="Calibri" pitchFamily="34" charset="0"/>
                <a:ea typeface="Calibri" pitchFamily="34" charset="-122"/>
                <a:cs typeface="Calibri" pitchFamily="34" charset="-120"/>
              </a:rPr>
              <a:t>Sharing Python code</a:t>
            </a:r>
            <a:endParaRPr lang="en-US" sz="1350" dirty="0"/>
          </a:p>
        </p:txBody>
      </p:sp>
      <p:sp>
        <p:nvSpPr>
          <p:cNvPr id="28" name="Shape 26"/>
          <p:cNvSpPr/>
          <p:nvPr/>
        </p:nvSpPr>
        <p:spPr>
          <a:xfrm>
            <a:off x="7452360" y="3072384"/>
            <a:ext cx="4114800" cy="0"/>
          </a:xfrm>
          <a:prstGeom prst="line">
            <a:avLst/>
          </a:prstGeom>
          <a:noFill/>
          <a:ln w="9525">
            <a:solidFill>
              <a:srgbClr val="2C4150"/>
            </a:solidFill>
            <a:prstDash val="solid"/>
          </a:ln>
        </p:spPr>
        <p:txBody>
          <a:bodyPr/>
          <a:lstStyle/>
          <a:p>
            <a:endParaRPr lang="en-US"/>
          </a:p>
        </p:txBody>
      </p:sp>
      <p:sp>
        <p:nvSpPr>
          <p:cNvPr id="30" name="Text 28"/>
          <p:cNvSpPr/>
          <p:nvPr/>
        </p:nvSpPr>
        <p:spPr>
          <a:xfrm>
            <a:off x="7452360" y="3194973"/>
            <a:ext cx="2606040" cy="365760"/>
          </a:xfrm>
          <a:prstGeom prst="rect">
            <a:avLst/>
          </a:prstGeom>
          <a:noFill/>
          <a:ln/>
        </p:spPr>
        <p:txBody>
          <a:bodyPr wrap="square" lIns="0" tIns="0" rIns="0" bIns="0" rtlCol="0" anchor="ctr"/>
          <a:lstStyle/>
          <a:p>
            <a:pPr marL="0" indent="0">
              <a:lnSpc>
                <a:spcPct val="105000"/>
              </a:lnSpc>
              <a:buNone/>
            </a:pPr>
            <a:r>
              <a:rPr lang="en-US" sz="1350" dirty="0">
                <a:solidFill>
                  <a:srgbClr val="6E7F8A"/>
                </a:solidFill>
                <a:latin typeface="Calibri" pitchFamily="34" charset="0"/>
                <a:ea typeface="Calibri" pitchFamily="34" charset="-122"/>
                <a:cs typeface="Calibri" pitchFamily="34" charset="-120"/>
              </a:rPr>
              <a:t>From notebook to program</a:t>
            </a:r>
            <a:endParaRPr lang="en-US" sz="1350" dirty="0"/>
          </a:p>
        </p:txBody>
      </p:sp>
      <p:sp>
        <p:nvSpPr>
          <p:cNvPr id="32" name="Shape 30"/>
          <p:cNvSpPr/>
          <p:nvPr/>
        </p:nvSpPr>
        <p:spPr>
          <a:xfrm>
            <a:off x="7452360" y="3785616"/>
            <a:ext cx="4114800" cy="0"/>
          </a:xfrm>
          <a:prstGeom prst="line">
            <a:avLst/>
          </a:prstGeom>
          <a:noFill/>
          <a:ln w="9525">
            <a:solidFill>
              <a:srgbClr val="2C4150"/>
            </a:solidFill>
            <a:prstDash val="solid"/>
          </a:ln>
        </p:spPr>
        <p:txBody>
          <a:bodyPr/>
          <a:lstStyle/>
          <a:p>
            <a:endParaRPr lang="en-US"/>
          </a:p>
        </p:txBody>
      </p:sp>
      <p:sp>
        <p:nvSpPr>
          <p:cNvPr id="34" name="Text 32"/>
          <p:cNvSpPr/>
          <p:nvPr/>
        </p:nvSpPr>
        <p:spPr>
          <a:xfrm>
            <a:off x="7452360" y="3908205"/>
            <a:ext cx="2606040" cy="365760"/>
          </a:xfrm>
          <a:prstGeom prst="rect">
            <a:avLst/>
          </a:prstGeom>
          <a:noFill/>
          <a:ln/>
        </p:spPr>
        <p:txBody>
          <a:bodyPr wrap="square" lIns="0" tIns="0" rIns="0" bIns="0" rtlCol="0" anchor="ctr"/>
          <a:lstStyle/>
          <a:p>
            <a:pPr marL="0" indent="0">
              <a:lnSpc>
                <a:spcPct val="105000"/>
              </a:lnSpc>
              <a:buNone/>
            </a:pPr>
            <a:r>
              <a:rPr lang="en-US" sz="1350" b="1" dirty="0">
                <a:solidFill>
                  <a:srgbClr val="FFFFFF"/>
                </a:solidFill>
                <a:latin typeface="Calibri" pitchFamily="34" charset="0"/>
                <a:ea typeface="Calibri" pitchFamily="34" charset="-122"/>
                <a:cs typeface="Calibri" pitchFamily="34" charset="-120"/>
              </a:rPr>
              <a:t>Software in the real world</a:t>
            </a:r>
            <a:endParaRPr lang="en-US" sz="1350" dirty="0"/>
          </a:p>
        </p:txBody>
      </p:sp>
      <p:sp>
        <p:nvSpPr>
          <p:cNvPr id="36" name="Shape 34"/>
          <p:cNvSpPr/>
          <p:nvPr/>
        </p:nvSpPr>
        <p:spPr>
          <a:xfrm>
            <a:off x="7452360" y="4498848"/>
            <a:ext cx="4114800" cy="0"/>
          </a:xfrm>
          <a:prstGeom prst="line">
            <a:avLst/>
          </a:prstGeom>
          <a:noFill/>
          <a:ln w="9525">
            <a:solidFill>
              <a:srgbClr val="2C4150"/>
            </a:solidFill>
            <a:prstDash val="solid"/>
          </a:ln>
        </p:spPr>
        <p:txBody>
          <a:bodyPr/>
          <a:lstStyle/>
          <a:p>
            <a:endParaRPr lang="en-US"/>
          </a:p>
        </p:txBody>
      </p:sp>
      <p:sp>
        <p:nvSpPr>
          <p:cNvPr id="40" name="TextBox 39">
            <a:extLst>
              <a:ext uri="{FF2B5EF4-FFF2-40B4-BE49-F238E27FC236}">
                <a16:creationId xmlns:a16="http://schemas.microsoft.com/office/drawing/2014/main" id="{73E5B747-AD08-CB66-D141-0992E4182A88}"/>
              </a:ext>
            </a:extLst>
          </p:cNvPr>
          <p:cNvSpPr txBox="1"/>
          <p:nvPr/>
        </p:nvSpPr>
        <p:spPr>
          <a:xfrm>
            <a:off x="928166" y="5029420"/>
            <a:ext cx="2343270"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D7E0E5"/>
                </a:solidFill>
                <a:effectLst/>
                <a:uLnTx/>
                <a:uFillTx/>
                <a:latin typeface="Calibri" pitchFamily="34" charset="0"/>
                <a:ea typeface="+mn-ea"/>
                <a:cs typeface="Calibri" pitchFamily="34" charset="-120"/>
              </a:rPr>
              <a:t>How do I test if my code works?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731520"/>
            <a:ext cx="11002975" cy="676656"/>
          </a:xfrm>
          <a:prstGeom prst="rect">
            <a:avLst/>
          </a:prstGeom>
          <a:noFill/>
          <a:ln/>
        </p:spPr>
        <p:txBody>
          <a:bodyPr wrap="square" lIns="0" tIns="0" rIns="0" bIns="0" rtlCol="0" anchor="t"/>
          <a:lstStyle/>
          <a:p>
            <a:pPr marL="0" indent="0">
              <a:buNone/>
            </a:pPr>
            <a:r>
              <a:rPr lang="en-US" sz="3300" b="1" dirty="0">
                <a:solidFill>
                  <a:srgbClr val="121C22"/>
                </a:solidFill>
                <a:latin typeface="Calibri" pitchFamily="34" charset="0"/>
                <a:ea typeface="Calibri" pitchFamily="34" charset="-122"/>
                <a:cs typeface="Calibri" pitchFamily="34" charset="-120"/>
              </a:rPr>
              <a:t>Anatomy of an (ideal) real-world project</a:t>
            </a:r>
            <a:endParaRPr lang="en-US" sz="3300" dirty="0"/>
          </a:p>
        </p:txBody>
      </p:sp>
      <p:sp>
        <p:nvSpPr>
          <p:cNvPr id="4" name="Text 2"/>
          <p:cNvSpPr/>
          <p:nvPr/>
        </p:nvSpPr>
        <p:spPr>
          <a:xfrm>
            <a:off x="594360" y="1828800"/>
            <a:ext cx="2800150"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PATH</a:t>
            </a:r>
            <a:endParaRPr lang="en-US" sz="950" dirty="0"/>
          </a:p>
        </p:txBody>
      </p:sp>
      <p:sp>
        <p:nvSpPr>
          <p:cNvPr id="5" name="Text 3"/>
          <p:cNvSpPr/>
          <p:nvPr/>
        </p:nvSpPr>
        <p:spPr>
          <a:xfrm>
            <a:off x="3504238" y="1828800"/>
            <a:ext cx="4982558"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WHAT IT IS</a:t>
            </a:r>
            <a:endParaRPr lang="en-US" sz="950" dirty="0"/>
          </a:p>
        </p:txBody>
      </p:sp>
      <p:sp>
        <p:nvSpPr>
          <p:cNvPr id="6" name="Text 4"/>
          <p:cNvSpPr/>
          <p:nvPr/>
        </p:nvSpPr>
        <p:spPr>
          <a:xfrm>
            <a:off x="8596524" y="1828800"/>
            <a:ext cx="1345211"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READ IT?</a:t>
            </a:r>
            <a:endParaRPr lang="en-US" sz="950" dirty="0"/>
          </a:p>
        </p:txBody>
      </p:sp>
      <p:sp>
        <p:nvSpPr>
          <p:cNvPr id="7" name="Text 5"/>
          <p:cNvSpPr/>
          <p:nvPr/>
        </p:nvSpPr>
        <p:spPr>
          <a:xfrm>
            <a:off x="10051463" y="1828800"/>
            <a:ext cx="1436145"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COMMIT IT?</a:t>
            </a:r>
            <a:endParaRPr lang="en-US" sz="950" dirty="0"/>
          </a:p>
        </p:txBody>
      </p:sp>
      <p:sp>
        <p:nvSpPr>
          <p:cNvPr id="8" name="Shape 6"/>
          <p:cNvSpPr/>
          <p:nvPr/>
        </p:nvSpPr>
        <p:spPr>
          <a:xfrm>
            <a:off x="594360" y="2103120"/>
            <a:ext cx="11002975" cy="0"/>
          </a:xfrm>
          <a:prstGeom prst="line">
            <a:avLst/>
          </a:prstGeom>
          <a:noFill/>
          <a:ln w="12700">
            <a:solidFill>
              <a:srgbClr val="9EAEB8"/>
            </a:solidFill>
            <a:prstDash val="solid"/>
          </a:ln>
        </p:spPr>
        <p:txBody>
          <a:bodyPr/>
          <a:lstStyle/>
          <a:p>
            <a:endParaRPr lang="en-US"/>
          </a:p>
        </p:txBody>
      </p:sp>
      <p:sp>
        <p:nvSpPr>
          <p:cNvPr id="9" name="Text 7"/>
          <p:cNvSpPr/>
          <p:nvPr/>
        </p:nvSpPr>
        <p:spPr>
          <a:xfrm>
            <a:off x="594360" y="2103120"/>
            <a:ext cx="2781862" cy="402336"/>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README.md</a:t>
            </a:r>
            <a:endParaRPr lang="en-US" sz="1200" dirty="0"/>
          </a:p>
        </p:txBody>
      </p:sp>
      <p:sp>
        <p:nvSpPr>
          <p:cNvPr id="10" name="Text 8"/>
          <p:cNvSpPr/>
          <p:nvPr/>
        </p:nvSpPr>
        <p:spPr>
          <a:xfrm>
            <a:off x="3504238" y="2103120"/>
            <a:ext cx="4964270" cy="402336"/>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what this is and how to run it</a:t>
            </a:r>
            <a:endParaRPr lang="en-US" sz="1250" dirty="0"/>
          </a:p>
        </p:txBody>
      </p:sp>
      <p:sp>
        <p:nvSpPr>
          <p:cNvPr id="11" name="Text 9"/>
          <p:cNvSpPr/>
          <p:nvPr/>
        </p:nvSpPr>
        <p:spPr>
          <a:xfrm>
            <a:off x="8596524" y="2103120"/>
            <a:ext cx="1326923" cy="402336"/>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first, always</a:t>
            </a:r>
            <a:endParaRPr lang="en-US" sz="1050" dirty="0"/>
          </a:p>
        </p:txBody>
      </p:sp>
      <p:sp>
        <p:nvSpPr>
          <p:cNvPr id="12" name="Text 10"/>
          <p:cNvSpPr/>
          <p:nvPr/>
        </p:nvSpPr>
        <p:spPr>
          <a:xfrm>
            <a:off x="10051463" y="2103120"/>
            <a:ext cx="1417857" cy="402336"/>
          </a:xfrm>
          <a:prstGeom prst="rect">
            <a:avLst/>
          </a:prstGeom>
          <a:noFill/>
          <a:ln/>
        </p:spPr>
        <p:txBody>
          <a:bodyPr wrap="square" lIns="0" tIns="0" rIns="0" bIns="0" rtlCol="0" anchor="ctr"/>
          <a:lstStyle/>
          <a:p>
            <a:pPr marL="0" indent="0" algn="l">
              <a:lnSpc>
                <a:spcPct val="115000"/>
              </a:lnSpc>
              <a:buNone/>
            </a:pPr>
            <a:r>
              <a:rPr lang="en-US" sz="1200" b="1" dirty="0">
                <a:solidFill>
                  <a:srgbClr val="1F6B65"/>
                </a:solidFill>
                <a:latin typeface="Courier New" pitchFamily="34" charset="0"/>
                <a:ea typeface="Courier New" pitchFamily="34" charset="-122"/>
                <a:cs typeface="Courier New" pitchFamily="34" charset="-120"/>
              </a:rPr>
              <a:t>yes</a:t>
            </a:r>
            <a:endParaRPr lang="en-US" sz="1200" dirty="0"/>
          </a:p>
        </p:txBody>
      </p:sp>
      <p:sp>
        <p:nvSpPr>
          <p:cNvPr id="13" name="Shape 11"/>
          <p:cNvSpPr/>
          <p:nvPr/>
        </p:nvSpPr>
        <p:spPr>
          <a:xfrm>
            <a:off x="594360" y="2505456"/>
            <a:ext cx="11002975" cy="0"/>
          </a:xfrm>
          <a:prstGeom prst="line">
            <a:avLst/>
          </a:prstGeom>
          <a:noFill/>
          <a:ln w="9525">
            <a:solidFill>
              <a:srgbClr val="D0DAE0"/>
            </a:solidFill>
            <a:prstDash val="solid"/>
          </a:ln>
        </p:spPr>
        <p:txBody>
          <a:bodyPr/>
          <a:lstStyle/>
          <a:p>
            <a:endParaRPr lang="en-US"/>
          </a:p>
        </p:txBody>
      </p:sp>
      <p:sp>
        <p:nvSpPr>
          <p:cNvPr id="14" name="Text 12"/>
          <p:cNvSpPr/>
          <p:nvPr/>
        </p:nvSpPr>
        <p:spPr>
          <a:xfrm>
            <a:off x="594360" y="2505456"/>
            <a:ext cx="2781862" cy="402336"/>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pyproject.toml</a:t>
            </a:r>
            <a:endParaRPr lang="en-US" sz="1200" dirty="0"/>
          </a:p>
        </p:txBody>
      </p:sp>
      <p:sp>
        <p:nvSpPr>
          <p:cNvPr id="15" name="Text 13"/>
          <p:cNvSpPr/>
          <p:nvPr/>
        </p:nvSpPr>
        <p:spPr>
          <a:xfrm>
            <a:off x="3504238" y="2505456"/>
            <a:ext cx="4964270" cy="402336"/>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the recipe — what it depends on</a:t>
            </a:r>
            <a:endParaRPr lang="en-US" sz="1250" dirty="0"/>
          </a:p>
        </p:txBody>
      </p:sp>
      <p:sp>
        <p:nvSpPr>
          <p:cNvPr id="16" name="Text 14"/>
          <p:cNvSpPr/>
          <p:nvPr/>
        </p:nvSpPr>
        <p:spPr>
          <a:xfrm>
            <a:off x="8596524" y="2505456"/>
            <a:ext cx="1326923" cy="402336"/>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yes</a:t>
            </a:r>
            <a:endParaRPr lang="en-US" sz="1050" dirty="0"/>
          </a:p>
        </p:txBody>
      </p:sp>
      <p:sp>
        <p:nvSpPr>
          <p:cNvPr id="17" name="Text 15"/>
          <p:cNvSpPr/>
          <p:nvPr/>
        </p:nvSpPr>
        <p:spPr>
          <a:xfrm>
            <a:off x="10051463" y="2505456"/>
            <a:ext cx="1417857" cy="402336"/>
          </a:xfrm>
          <a:prstGeom prst="rect">
            <a:avLst/>
          </a:prstGeom>
          <a:noFill/>
          <a:ln/>
        </p:spPr>
        <p:txBody>
          <a:bodyPr wrap="square" lIns="0" tIns="0" rIns="0" bIns="0" rtlCol="0" anchor="ctr"/>
          <a:lstStyle/>
          <a:p>
            <a:pPr marL="0" indent="0" algn="l">
              <a:lnSpc>
                <a:spcPct val="115000"/>
              </a:lnSpc>
              <a:buNone/>
            </a:pPr>
            <a:r>
              <a:rPr lang="en-US" sz="1200" b="1" dirty="0">
                <a:solidFill>
                  <a:srgbClr val="1F6B65"/>
                </a:solidFill>
                <a:latin typeface="Courier New" pitchFamily="34" charset="0"/>
                <a:ea typeface="Courier New" pitchFamily="34" charset="-122"/>
                <a:cs typeface="Courier New" pitchFamily="34" charset="-120"/>
              </a:rPr>
              <a:t>yes</a:t>
            </a:r>
            <a:endParaRPr lang="en-US" sz="1200" dirty="0"/>
          </a:p>
        </p:txBody>
      </p:sp>
      <p:sp>
        <p:nvSpPr>
          <p:cNvPr id="18" name="Shape 16"/>
          <p:cNvSpPr/>
          <p:nvPr/>
        </p:nvSpPr>
        <p:spPr>
          <a:xfrm>
            <a:off x="594360" y="2907792"/>
            <a:ext cx="11002975" cy="0"/>
          </a:xfrm>
          <a:prstGeom prst="line">
            <a:avLst/>
          </a:prstGeom>
          <a:noFill/>
          <a:ln w="9525">
            <a:solidFill>
              <a:srgbClr val="D0DAE0"/>
            </a:solidFill>
            <a:prstDash val="solid"/>
          </a:ln>
        </p:spPr>
        <p:txBody>
          <a:bodyPr/>
          <a:lstStyle/>
          <a:p>
            <a:endParaRPr lang="en-US"/>
          </a:p>
        </p:txBody>
      </p:sp>
      <p:sp>
        <p:nvSpPr>
          <p:cNvPr id="19" name="Text 17"/>
          <p:cNvSpPr/>
          <p:nvPr/>
        </p:nvSpPr>
        <p:spPr>
          <a:xfrm>
            <a:off x="594360" y="2907792"/>
            <a:ext cx="2781862" cy="402336"/>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uv.lock</a:t>
            </a:r>
            <a:endParaRPr lang="en-US" sz="1200" dirty="0"/>
          </a:p>
        </p:txBody>
      </p:sp>
      <p:sp>
        <p:nvSpPr>
          <p:cNvPr id="20" name="Text 18"/>
          <p:cNvSpPr/>
          <p:nvPr/>
        </p:nvSpPr>
        <p:spPr>
          <a:xfrm>
            <a:off x="3504238" y="2907792"/>
            <a:ext cx="4964270" cy="402336"/>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the receipt — exact versions</a:t>
            </a:r>
            <a:endParaRPr lang="en-US" sz="1250" dirty="0"/>
          </a:p>
        </p:txBody>
      </p:sp>
      <p:sp>
        <p:nvSpPr>
          <p:cNvPr id="21" name="Text 19"/>
          <p:cNvSpPr/>
          <p:nvPr/>
        </p:nvSpPr>
        <p:spPr>
          <a:xfrm>
            <a:off x="8596524" y="2907792"/>
            <a:ext cx="1326923" cy="402336"/>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no need</a:t>
            </a:r>
            <a:endParaRPr lang="en-US" sz="1050" dirty="0"/>
          </a:p>
        </p:txBody>
      </p:sp>
      <p:sp>
        <p:nvSpPr>
          <p:cNvPr id="22" name="Text 20"/>
          <p:cNvSpPr/>
          <p:nvPr/>
        </p:nvSpPr>
        <p:spPr>
          <a:xfrm>
            <a:off x="10051463" y="2907792"/>
            <a:ext cx="1417857" cy="402336"/>
          </a:xfrm>
          <a:prstGeom prst="rect">
            <a:avLst/>
          </a:prstGeom>
          <a:noFill/>
          <a:ln/>
        </p:spPr>
        <p:txBody>
          <a:bodyPr wrap="square" lIns="0" tIns="0" rIns="0" bIns="0" rtlCol="0" anchor="ctr"/>
          <a:lstStyle/>
          <a:p>
            <a:pPr marL="0" indent="0" algn="l">
              <a:lnSpc>
                <a:spcPct val="115000"/>
              </a:lnSpc>
              <a:buNone/>
            </a:pPr>
            <a:r>
              <a:rPr lang="en-US" sz="1200" b="1" dirty="0">
                <a:solidFill>
                  <a:srgbClr val="1F6B65"/>
                </a:solidFill>
                <a:latin typeface="Courier New" pitchFamily="34" charset="0"/>
                <a:ea typeface="Courier New" pitchFamily="34" charset="-122"/>
                <a:cs typeface="Courier New" pitchFamily="34" charset="-120"/>
              </a:rPr>
              <a:t>yes</a:t>
            </a:r>
            <a:endParaRPr lang="en-US" sz="1200" dirty="0"/>
          </a:p>
        </p:txBody>
      </p:sp>
      <p:sp>
        <p:nvSpPr>
          <p:cNvPr id="23" name="Shape 21"/>
          <p:cNvSpPr/>
          <p:nvPr/>
        </p:nvSpPr>
        <p:spPr>
          <a:xfrm>
            <a:off x="594360" y="3310128"/>
            <a:ext cx="11002975" cy="0"/>
          </a:xfrm>
          <a:prstGeom prst="line">
            <a:avLst/>
          </a:prstGeom>
          <a:noFill/>
          <a:ln w="9525">
            <a:solidFill>
              <a:srgbClr val="D0DAE0"/>
            </a:solidFill>
            <a:prstDash val="solid"/>
          </a:ln>
        </p:spPr>
        <p:txBody>
          <a:bodyPr/>
          <a:lstStyle/>
          <a:p>
            <a:endParaRPr lang="en-US"/>
          </a:p>
        </p:txBody>
      </p:sp>
      <p:sp>
        <p:nvSpPr>
          <p:cNvPr id="24" name="Text 22"/>
          <p:cNvSpPr/>
          <p:nvPr/>
        </p:nvSpPr>
        <p:spPr>
          <a:xfrm>
            <a:off x="594360" y="3310128"/>
            <a:ext cx="2781862" cy="402336"/>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src/  or  mypackage/</a:t>
            </a:r>
            <a:endParaRPr lang="en-US" sz="1200" dirty="0"/>
          </a:p>
        </p:txBody>
      </p:sp>
      <p:sp>
        <p:nvSpPr>
          <p:cNvPr id="25" name="Text 23"/>
          <p:cNvSpPr/>
          <p:nvPr/>
        </p:nvSpPr>
        <p:spPr>
          <a:xfrm>
            <a:off x="3504238" y="3310128"/>
            <a:ext cx="4964270" cy="402336"/>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the actual code</a:t>
            </a:r>
            <a:endParaRPr lang="en-US" sz="1250" dirty="0"/>
          </a:p>
        </p:txBody>
      </p:sp>
      <p:sp>
        <p:nvSpPr>
          <p:cNvPr id="26" name="Text 24"/>
          <p:cNvSpPr/>
          <p:nvPr/>
        </p:nvSpPr>
        <p:spPr>
          <a:xfrm>
            <a:off x="8596524" y="3310128"/>
            <a:ext cx="1326923" cy="402336"/>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yes</a:t>
            </a:r>
            <a:endParaRPr lang="en-US" sz="1050" dirty="0"/>
          </a:p>
        </p:txBody>
      </p:sp>
      <p:sp>
        <p:nvSpPr>
          <p:cNvPr id="27" name="Text 25"/>
          <p:cNvSpPr/>
          <p:nvPr/>
        </p:nvSpPr>
        <p:spPr>
          <a:xfrm>
            <a:off x="10051463" y="3310128"/>
            <a:ext cx="1417857" cy="402336"/>
          </a:xfrm>
          <a:prstGeom prst="rect">
            <a:avLst/>
          </a:prstGeom>
          <a:noFill/>
          <a:ln/>
        </p:spPr>
        <p:txBody>
          <a:bodyPr wrap="square" lIns="0" tIns="0" rIns="0" bIns="0" rtlCol="0" anchor="ctr"/>
          <a:lstStyle/>
          <a:p>
            <a:pPr marL="0" indent="0" algn="l">
              <a:lnSpc>
                <a:spcPct val="115000"/>
              </a:lnSpc>
              <a:buNone/>
            </a:pPr>
            <a:r>
              <a:rPr lang="en-US" sz="1200" b="1" dirty="0">
                <a:solidFill>
                  <a:srgbClr val="1F6B65"/>
                </a:solidFill>
                <a:latin typeface="Courier New" pitchFamily="34" charset="0"/>
                <a:ea typeface="Courier New" pitchFamily="34" charset="-122"/>
                <a:cs typeface="Courier New" pitchFamily="34" charset="-120"/>
              </a:rPr>
              <a:t>yes</a:t>
            </a:r>
            <a:endParaRPr lang="en-US" sz="1200" dirty="0"/>
          </a:p>
        </p:txBody>
      </p:sp>
      <p:sp>
        <p:nvSpPr>
          <p:cNvPr id="28" name="Shape 26"/>
          <p:cNvSpPr/>
          <p:nvPr/>
        </p:nvSpPr>
        <p:spPr>
          <a:xfrm>
            <a:off x="594360" y="3712464"/>
            <a:ext cx="11002975" cy="0"/>
          </a:xfrm>
          <a:prstGeom prst="line">
            <a:avLst/>
          </a:prstGeom>
          <a:noFill/>
          <a:ln w="9525">
            <a:solidFill>
              <a:srgbClr val="D0DAE0"/>
            </a:solidFill>
            <a:prstDash val="solid"/>
          </a:ln>
        </p:spPr>
        <p:txBody>
          <a:bodyPr/>
          <a:lstStyle/>
          <a:p>
            <a:endParaRPr lang="en-US"/>
          </a:p>
        </p:txBody>
      </p:sp>
      <p:sp>
        <p:nvSpPr>
          <p:cNvPr id="29" name="Text 27"/>
          <p:cNvSpPr/>
          <p:nvPr/>
        </p:nvSpPr>
        <p:spPr>
          <a:xfrm>
            <a:off x="594360" y="3712464"/>
            <a:ext cx="2781862" cy="402336"/>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tests/</a:t>
            </a:r>
            <a:endParaRPr lang="en-US" sz="1200" dirty="0"/>
          </a:p>
        </p:txBody>
      </p:sp>
      <p:sp>
        <p:nvSpPr>
          <p:cNvPr id="30" name="Text 28"/>
          <p:cNvSpPr/>
          <p:nvPr/>
        </p:nvSpPr>
        <p:spPr>
          <a:xfrm>
            <a:off x="3504238" y="3712464"/>
            <a:ext cx="4964270" cy="402336"/>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evidence that it works</a:t>
            </a:r>
            <a:endParaRPr lang="en-US" sz="1250" dirty="0"/>
          </a:p>
        </p:txBody>
      </p:sp>
      <p:sp>
        <p:nvSpPr>
          <p:cNvPr id="31" name="Text 29"/>
          <p:cNvSpPr/>
          <p:nvPr/>
        </p:nvSpPr>
        <p:spPr>
          <a:xfrm>
            <a:off x="8596524" y="3712464"/>
            <a:ext cx="1326923" cy="402336"/>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yes</a:t>
            </a:r>
            <a:endParaRPr lang="en-US" sz="1050" dirty="0"/>
          </a:p>
        </p:txBody>
      </p:sp>
      <p:sp>
        <p:nvSpPr>
          <p:cNvPr id="32" name="Text 30"/>
          <p:cNvSpPr/>
          <p:nvPr/>
        </p:nvSpPr>
        <p:spPr>
          <a:xfrm>
            <a:off x="10051463" y="3712464"/>
            <a:ext cx="1417857" cy="402336"/>
          </a:xfrm>
          <a:prstGeom prst="rect">
            <a:avLst/>
          </a:prstGeom>
          <a:noFill/>
          <a:ln/>
        </p:spPr>
        <p:txBody>
          <a:bodyPr wrap="square" lIns="0" tIns="0" rIns="0" bIns="0" rtlCol="0" anchor="ctr"/>
          <a:lstStyle/>
          <a:p>
            <a:pPr marL="0" indent="0" algn="l">
              <a:lnSpc>
                <a:spcPct val="115000"/>
              </a:lnSpc>
              <a:buNone/>
            </a:pPr>
            <a:r>
              <a:rPr lang="en-US" sz="1200" b="1" dirty="0">
                <a:solidFill>
                  <a:srgbClr val="1F6B65"/>
                </a:solidFill>
                <a:latin typeface="Courier New" pitchFamily="34" charset="0"/>
                <a:ea typeface="Courier New" pitchFamily="34" charset="-122"/>
                <a:cs typeface="Courier New" pitchFamily="34" charset="-120"/>
              </a:rPr>
              <a:t>yes</a:t>
            </a:r>
            <a:endParaRPr lang="en-US" sz="1200" dirty="0"/>
          </a:p>
        </p:txBody>
      </p:sp>
      <p:sp>
        <p:nvSpPr>
          <p:cNvPr id="33" name="Shape 31"/>
          <p:cNvSpPr/>
          <p:nvPr/>
        </p:nvSpPr>
        <p:spPr>
          <a:xfrm>
            <a:off x="594360" y="4114800"/>
            <a:ext cx="11002975" cy="0"/>
          </a:xfrm>
          <a:prstGeom prst="line">
            <a:avLst/>
          </a:prstGeom>
          <a:noFill/>
          <a:ln w="9525">
            <a:solidFill>
              <a:srgbClr val="D0DAE0"/>
            </a:solidFill>
            <a:prstDash val="solid"/>
          </a:ln>
        </p:spPr>
        <p:txBody>
          <a:bodyPr/>
          <a:lstStyle/>
          <a:p>
            <a:endParaRPr lang="en-US"/>
          </a:p>
        </p:txBody>
      </p:sp>
      <p:sp>
        <p:nvSpPr>
          <p:cNvPr id="34" name="Text 32"/>
          <p:cNvSpPr/>
          <p:nvPr/>
        </p:nvSpPr>
        <p:spPr>
          <a:xfrm>
            <a:off x="594360" y="4114800"/>
            <a:ext cx="2781862" cy="402336"/>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.gitignore</a:t>
            </a:r>
            <a:endParaRPr lang="en-US" sz="1200" dirty="0"/>
          </a:p>
        </p:txBody>
      </p:sp>
      <p:sp>
        <p:nvSpPr>
          <p:cNvPr id="35" name="Text 33"/>
          <p:cNvSpPr/>
          <p:nvPr/>
        </p:nvSpPr>
        <p:spPr>
          <a:xfrm>
            <a:off x="3504238" y="4114800"/>
            <a:ext cx="4964270" cy="402336"/>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what must NOT be committed</a:t>
            </a:r>
            <a:endParaRPr lang="en-US" sz="1250" dirty="0"/>
          </a:p>
        </p:txBody>
      </p:sp>
      <p:sp>
        <p:nvSpPr>
          <p:cNvPr id="36" name="Text 34"/>
          <p:cNvSpPr/>
          <p:nvPr/>
        </p:nvSpPr>
        <p:spPr>
          <a:xfrm>
            <a:off x="8596524" y="4114800"/>
            <a:ext cx="1326923" cy="402336"/>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yes</a:t>
            </a:r>
            <a:endParaRPr lang="en-US" sz="1050" dirty="0"/>
          </a:p>
        </p:txBody>
      </p:sp>
      <p:sp>
        <p:nvSpPr>
          <p:cNvPr id="37" name="Text 35"/>
          <p:cNvSpPr/>
          <p:nvPr/>
        </p:nvSpPr>
        <p:spPr>
          <a:xfrm>
            <a:off x="10051463" y="4114800"/>
            <a:ext cx="1417857" cy="402336"/>
          </a:xfrm>
          <a:prstGeom prst="rect">
            <a:avLst/>
          </a:prstGeom>
          <a:noFill/>
          <a:ln/>
        </p:spPr>
        <p:txBody>
          <a:bodyPr wrap="square" lIns="0" tIns="0" rIns="0" bIns="0" rtlCol="0" anchor="ctr"/>
          <a:lstStyle/>
          <a:p>
            <a:pPr marL="0" indent="0" algn="l">
              <a:lnSpc>
                <a:spcPct val="115000"/>
              </a:lnSpc>
              <a:buNone/>
            </a:pPr>
            <a:r>
              <a:rPr lang="en-US" sz="1200" b="1" dirty="0">
                <a:solidFill>
                  <a:srgbClr val="1F6B65"/>
                </a:solidFill>
                <a:latin typeface="Courier New" pitchFamily="34" charset="0"/>
                <a:ea typeface="Courier New" pitchFamily="34" charset="-122"/>
                <a:cs typeface="Courier New" pitchFamily="34" charset="-120"/>
              </a:rPr>
              <a:t>yes</a:t>
            </a:r>
            <a:endParaRPr lang="en-US" sz="1200" dirty="0"/>
          </a:p>
        </p:txBody>
      </p:sp>
      <p:sp>
        <p:nvSpPr>
          <p:cNvPr id="38" name="Shape 36"/>
          <p:cNvSpPr/>
          <p:nvPr/>
        </p:nvSpPr>
        <p:spPr>
          <a:xfrm>
            <a:off x="594360" y="4517136"/>
            <a:ext cx="11002975" cy="0"/>
          </a:xfrm>
          <a:prstGeom prst="line">
            <a:avLst/>
          </a:prstGeom>
          <a:noFill/>
          <a:ln w="9525">
            <a:solidFill>
              <a:srgbClr val="D0DAE0"/>
            </a:solidFill>
            <a:prstDash val="solid"/>
          </a:ln>
        </p:spPr>
        <p:txBody>
          <a:bodyPr/>
          <a:lstStyle/>
          <a:p>
            <a:endParaRPr lang="en-US"/>
          </a:p>
        </p:txBody>
      </p:sp>
      <p:sp>
        <p:nvSpPr>
          <p:cNvPr id="39" name="Text 37"/>
          <p:cNvSpPr/>
          <p:nvPr/>
        </p:nvSpPr>
        <p:spPr>
          <a:xfrm>
            <a:off x="594360" y="4517136"/>
            <a:ext cx="2781862" cy="402336"/>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.github/workflows/</a:t>
            </a:r>
            <a:endParaRPr lang="en-US" sz="1200" dirty="0"/>
          </a:p>
        </p:txBody>
      </p:sp>
      <p:sp>
        <p:nvSpPr>
          <p:cNvPr id="40" name="Text 38"/>
          <p:cNvSpPr/>
          <p:nvPr/>
        </p:nvSpPr>
        <p:spPr>
          <a:xfrm>
            <a:off x="3504238" y="4517136"/>
            <a:ext cx="4964270" cy="402336"/>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robots that run the tests on every push</a:t>
            </a:r>
            <a:endParaRPr lang="en-US" sz="1250" dirty="0"/>
          </a:p>
        </p:txBody>
      </p:sp>
      <p:sp>
        <p:nvSpPr>
          <p:cNvPr id="41" name="Text 39"/>
          <p:cNvSpPr/>
          <p:nvPr/>
        </p:nvSpPr>
        <p:spPr>
          <a:xfrm>
            <a:off x="8596524" y="4517136"/>
            <a:ext cx="1326923" cy="402336"/>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later</a:t>
            </a:r>
            <a:endParaRPr lang="en-US" sz="1050" dirty="0"/>
          </a:p>
        </p:txBody>
      </p:sp>
      <p:sp>
        <p:nvSpPr>
          <p:cNvPr id="42" name="Text 40"/>
          <p:cNvSpPr/>
          <p:nvPr/>
        </p:nvSpPr>
        <p:spPr>
          <a:xfrm>
            <a:off x="10051463" y="4517136"/>
            <a:ext cx="1417857" cy="402336"/>
          </a:xfrm>
          <a:prstGeom prst="rect">
            <a:avLst/>
          </a:prstGeom>
          <a:noFill/>
          <a:ln/>
        </p:spPr>
        <p:txBody>
          <a:bodyPr wrap="square" lIns="0" tIns="0" rIns="0" bIns="0" rtlCol="0" anchor="ctr"/>
          <a:lstStyle/>
          <a:p>
            <a:pPr marL="0" indent="0" algn="l">
              <a:lnSpc>
                <a:spcPct val="115000"/>
              </a:lnSpc>
              <a:buNone/>
            </a:pPr>
            <a:r>
              <a:rPr lang="en-US" sz="1200" b="1" dirty="0">
                <a:solidFill>
                  <a:srgbClr val="1F6B65"/>
                </a:solidFill>
                <a:latin typeface="Courier New" pitchFamily="34" charset="0"/>
                <a:ea typeface="Courier New" pitchFamily="34" charset="-122"/>
                <a:cs typeface="Courier New" pitchFamily="34" charset="-120"/>
              </a:rPr>
              <a:t>yes</a:t>
            </a:r>
            <a:endParaRPr lang="en-US" sz="1200" dirty="0"/>
          </a:p>
        </p:txBody>
      </p:sp>
      <p:sp>
        <p:nvSpPr>
          <p:cNvPr id="43" name="Shape 41"/>
          <p:cNvSpPr/>
          <p:nvPr/>
        </p:nvSpPr>
        <p:spPr>
          <a:xfrm>
            <a:off x="594360" y="4919472"/>
            <a:ext cx="11002975" cy="0"/>
          </a:xfrm>
          <a:prstGeom prst="line">
            <a:avLst/>
          </a:prstGeom>
          <a:noFill/>
          <a:ln w="9525">
            <a:solidFill>
              <a:srgbClr val="D0DAE0"/>
            </a:solidFill>
            <a:prstDash val="solid"/>
          </a:ln>
        </p:spPr>
        <p:txBody>
          <a:bodyPr/>
          <a:lstStyle/>
          <a:p>
            <a:endParaRPr lang="en-US"/>
          </a:p>
        </p:txBody>
      </p:sp>
      <p:sp>
        <p:nvSpPr>
          <p:cNvPr id="44" name="Text 42"/>
          <p:cNvSpPr/>
          <p:nvPr/>
        </p:nvSpPr>
        <p:spPr>
          <a:xfrm>
            <a:off x="594360" y="4919472"/>
            <a:ext cx="2781862" cy="402336"/>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LICENSE</a:t>
            </a:r>
            <a:endParaRPr lang="en-US" sz="1200" dirty="0"/>
          </a:p>
        </p:txBody>
      </p:sp>
      <p:sp>
        <p:nvSpPr>
          <p:cNvPr id="45" name="Text 43"/>
          <p:cNvSpPr/>
          <p:nvPr/>
        </p:nvSpPr>
        <p:spPr>
          <a:xfrm>
            <a:off x="3504238" y="4919472"/>
            <a:ext cx="4964270" cy="402336"/>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whether you are allowed to use it</a:t>
            </a:r>
            <a:endParaRPr lang="en-US" sz="1250" dirty="0"/>
          </a:p>
        </p:txBody>
      </p:sp>
      <p:sp>
        <p:nvSpPr>
          <p:cNvPr id="46" name="Text 44"/>
          <p:cNvSpPr/>
          <p:nvPr/>
        </p:nvSpPr>
        <p:spPr>
          <a:xfrm>
            <a:off x="8596524" y="4919472"/>
            <a:ext cx="1326923" cy="402336"/>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skim</a:t>
            </a:r>
            <a:endParaRPr lang="en-US" sz="1050" dirty="0"/>
          </a:p>
        </p:txBody>
      </p:sp>
      <p:sp>
        <p:nvSpPr>
          <p:cNvPr id="47" name="Text 45"/>
          <p:cNvSpPr/>
          <p:nvPr/>
        </p:nvSpPr>
        <p:spPr>
          <a:xfrm>
            <a:off x="10051463" y="4919472"/>
            <a:ext cx="1417857" cy="402336"/>
          </a:xfrm>
          <a:prstGeom prst="rect">
            <a:avLst/>
          </a:prstGeom>
          <a:noFill/>
          <a:ln/>
        </p:spPr>
        <p:txBody>
          <a:bodyPr wrap="square" lIns="0" tIns="0" rIns="0" bIns="0" rtlCol="0" anchor="ctr"/>
          <a:lstStyle/>
          <a:p>
            <a:pPr marL="0" indent="0" algn="l">
              <a:lnSpc>
                <a:spcPct val="115000"/>
              </a:lnSpc>
              <a:buNone/>
            </a:pPr>
            <a:r>
              <a:rPr lang="en-US" sz="1200" b="1" dirty="0">
                <a:solidFill>
                  <a:srgbClr val="1F6B65"/>
                </a:solidFill>
                <a:latin typeface="Courier New" pitchFamily="34" charset="0"/>
                <a:ea typeface="Courier New" pitchFamily="34" charset="-122"/>
                <a:cs typeface="Courier New" pitchFamily="34" charset="-120"/>
              </a:rPr>
              <a:t>yes</a:t>
            </a:r>
            <a:endParaRPr lang="en-US" sz="1200" dirty="0"/>
          </a:p>
        </p:txBody>
      </p:sp>
      <p:sp>
        <p:nvSpPr>
          <p:cNvPr id="48" name="Shape 46"/>
          <p:cNvSpPr/>
          <p:nvPr/>
        </p:nvSpPr>
        <p:spPr>
          <a:xfrm>
            <a:off x="594360" y="5321808"/>
            <a:ext cx="11002975" cy="0"/>
          </a:xfrm>
          <a:prstGeom prst="line">
            <a:avLst/>
          </a:prstGeom>
          <a:noFill/>
          <a:ln w="9525">
            <a:solidFill>
              <a:srgbClr val="D0DAE0"/>
            </a:solidFill>
            <a:prstDash val="solid"/>
          </a:ln>
        </p:spPr>
        <p:txBody>
          <a:bodyPr/>
          <a:lstStyle/>
          <a:p>
            <a:endParaRPr lang="en-US"/>
          </a:p>
        </p:txBody>
      </p:sp>
      <p:sp>
        <p:nvSpPr>
          <p:cNvPr id="49" name="Text 47"/>
          <p:cNvSpPr/>
          <p:nvPr/>
        </p:nvSpPr>
        <p:spPr>
          <a:xfrm>
            <a:off x="594360" y="5321808"/>
            <a:ext cx="2781862" cy="402336"/>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.venv/   data/   *.env</a:t>
            </a:r>
            <a:endParaRPr lang="en-US" sz="1200" dirty="0"/>
          </a:p>
        </p:txBody>
      </p:sp>
      <p:sp>
        <p:nvSpPr>
          <p:cNvPr id="50" name="Text 48"/>
          <p:cNvSpPr/>
          <p:nvPr/>
        </p:nvSpPr>
        <p:spPr>
          <a:xfrm>
            <a:off x="3504238" y="5321808"/>
            <a:ext cx="4964270" cy="402336"/>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your environment, big files, anything with a password</a:t>
            </a:r>
            <a:endParaRPr lang="en-US" sz="1250" dirty="0"/>
          </a:p>
        </p:txBody>
      </p:sp>
      <p:sp>
        <p:nvSpPr>
          <p:cNvPr id="51" name="Text 49"/>
          <p:cNvSpPr/>
          <p:nvPr/>
        </p:nvSpPr>
        <p:spPr>
          <a:xfrm>
            <a:off x="8596524" y="5321808"/>
            <a:ext cx="1326923" cy="402336"/>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a:t>
            </a:r>
            <a:endParaRPr lang="en-US" sz="1050" dirty="0"/>
          </a:p>
        </p:txBody>
      </p:sp>
      <p:sp>
        <p:nvSpPr>
          <p:cNvPr id="52" name="Text 50"/>
          <p:cNvSpPr/>
          <p:nvPr/>
        </p:nvSpPr>
        <p:spPr>
          <a:xfrm>
            <a:off x="10051463" y="5321808"/>
            <a:ext cx="1417857" cy="402336"/>
          </a:xfrm>
          <a:prstGeom prst="rect">
            <a:avLst/>
          </a:prstGeom>
          <a:noFill/>
          <a:ln/>
        </p:spPr>
        <p:txBody>
          <a:bodyPr wrap="square" lIns="0" tIns="0" rIns="0" bIns="0" rtlCol="0" anchor="ctr"/>
          <a:lstStyle/>
          <a:p>
            <a:pPr marL="0" indent="0" algn="l">
              <a:lnSpc>
                <a:spcPct val="115000"/>
              </a:lnSpc>
              <a:buNone/>
            </a:pPr>
            <a:r>
              <a:rPr lang="en-US" sz="1200" b="1" dirty="0">
                <a:solidFill>
                  <a:srgbClr val="B4483C"/>
                </a:solidFill>
                <a:latin typeface="Courier New" pitchFamily="34" charset="0"/>
                <a:ea typeface="Courier New" pitchFamily="34" charset="-122"/>
                <a:cs typeface="Courier New" pitchFamily="34" charset="-120"/>
              </a:rPr>
              <a:t>NEVER</a:t>
            </a:r>
            <a:endParaRPr lang="en-US" sz="1200" dirty="0"/>
          </a:p>
        </p:txBody>
      </p:sp>
      <p:sp>
        <p:nvSpPr>
          <p:cNvPr id="53" name="Shape 51"/>
          <p:cNvSpPr/>
          <p:nvPr/>
        </p:nvSpPr>
        <p:spPr>
          <a:xfrm>
            <a:off x="594360" y="5724144"/>
            <a:ext cx="11002975" cy="0"/>
          </a:xfrm>
          <a:prstGeom prst="line">
            <a:avLst/>
          </a:prstGeom>
          <a:noFill/>
          <a:ln w="9525">
            <a:solidFill>
              <a:srgbClr val="D0DAE0"/>
            </a:solidFill>
            <a:prstDash val="solid"/>
          </a:ln>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731520"/>
            <a:ext cx="11002975" cy="676656"/>
          </a:xfrm>
          <a:prstGeom prst="rect">
            <a:avLst/>
          </a:prstGeom>
          <a:noFill/>
          <a:ln/>
        </p:spPr>
        <p:txBody>
          <a:bodyPr wrap="square" lIns="0" tIns="0" rIns="0" bIns="0" rtlCol="0" anchor="t"/>
          <a:lstStyle/>
          <a:p>
            <a:pPr marL="0" indent="0">
              <a:buNone/>
            </a:pPr>
            <a:r>
              <a:rPr lang="en-US" sz="3300" b="1" dirty="0">
                <a:solidFill>
                  <a:srgbClr val="121C22"/>
                </a:solidFill>
                <a:latin typeface="Calibri" pitchFamily="34" charset="0"/>
                <a:cs typeface="Calibri" pitchFamily="34" charset="-120"/>
              </a:rPr>
              <a:t>How do I trust that my code work? </a:t>
            </a:r>
          </a:p>
          <a:p>
            <a:pPr marL="0" indent="0">
              <a:buNone/>
            </a:pPr>
            <a:r>
              <a:rPr lang="en-US" sz="2800" b="1" dirty="0">
                <a:solidFill>
                  <a:srgbClr val="121C22"/>
                </a:solidFill>
                <a:latin typeface="Calibri" pitchFamily="34" charset="0"/>
                <a:cs typeface="Calibri" pitchFamily="34" charset="-120"/>
              </a:rPr>
              <a:t>Write a test that verifies it!</a:t>
            </a:r>
            <a:endParaRPr lang="en-US" sz="2800" dirty="0"/>
          </a:p>
        </p:txBody>
      </p:sp>
      <p:sp>
        <p:nvSpPr>
          <p:cNvPr id="5" name="Text 3"/>
          <p:cNvSpPr/>
          <p:nvPr/>
        </p:nvSpPr>
        <p:spPr>
          <a:xfrm>
            <a:off x="594360" y="1938528"/>
            <a:ext cx="3657600"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THE CODE — what it claims to do</a:t>
            </a:r>
            <a:endParaRPr lang="en-US" sz="950" dirty="0"/>
          </a:p>
        </p:txBody>
      </p:sp>
      <p:sp>
        <p:nvSpPr>
          <p:cNvPr id="6" name="Shape 4"/>
          <p:cNvSpPr/>
          <p:nvPr/>
        </p:nvSpPr>
        <p:spPr>
          <a:xfrm>
            <a:off x="594360" y="2212848"/>
            <a:ext cx="5276088" cy="1783080"/>
          </a:xfrm>
          <a:prstGeom prst="rect">
            <a:avLst/>
          </a:prstGeom>
          <a:solidFill>
            <a:srgbClr val="121C22"/>
          </a:solidFill>
          <a:ln/>
        </p:spPr>
        <p:txBody>
          <a:bodyPr/>
          <a:lstStyle/>
          <a:p>
            <a:endParaRPr lang="en-US"/>
          </a:p>
        </p:txBody>
      </p:sp>
      <p:sp>
        <p:nvSpPr>
          <p:cNvPr id="7" name="Text 5"/>
          <p:cNvSpPr/>
          <p:nvPr/>
        </p:nvSpPr>
        <p:spPr>
          <a:xfrm>
            <a:off x="749808" y="2331720"/>
            <a:ext cx="4965192" cy="1545336"/>
          </a:xfrm>
          <a:prstGeom prst="rect">
            <a:avLst/>
          </a:prstGeom>
          <a:noFill/>
          <a:ln/>
        </p:spPr>
        <p:txBody>
          <a:bodyPr wrap="square" lIns="0" tIns="0" rIns="0" bIns="0" rtlCol="0" anchor="t"/>
          <a:lstStyle/>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fmt.py</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def format_name(name):</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"""Short -&gt; SHOUTED. Long -&gt; Title Cased."""</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if len(name) &gt; 4:</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edited_name = name.title()</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if len(name) &gt; 4:              # hmm.</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edited_name = name.upper()</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return edited_name</a:t>
            </a:r>
            <a:endParaRPr lang="en-US" sz="1050" dirty="0"/>
          </a:p>
        </p:txBody>
      </p:sp>
      <p:sp>
        <p:nvSpPr>
          <p:cNvPr id="8" name="Text 6"/>
          <p:cNvSpPr/>
          <p:nvPr/>
        </p:nvSpPr>
        <p:spPr>
          <a:xfrm>
            <a:off x="6318504" y="1938528"/>
            <a:ext cx="3657600"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THE TEST — what we say it must do</a:t>
            </a:r>
            <a:endParaRPr lang="en-US" sz="950" dirty="0"/>
          </a:p>
        </p:txBody>
      </p:sp>
      <p:sp>
        <p:nvSpPr>
          <p:cNvPr id="9" name="Shape 7"/>
          <p:cNvSpPr/>
          <p:nvPr/>
        </p:nvSpPr>
        <p:spPr>
          <a:xfrm>
            <a:off x="6318504" y="2212848"/>
            <a:ext cx="5276088" cy="1783080"/>
          </a:xfrm>
          <a:prstGeom prst="rect">
            <a:avLst/>
          </a:prstGeom>
          <a:solidFill>
            <a:srgbClr val="121C22"/>
          </a:solidFill>
          <a:ln/>
        </p:spPr>
        <p:txBody>
          <a:bodyPr/>
          <a:lstStyle/>
          <a:p>
            <a:endParaRPr lang="en-US"/>
          </a:p>
        </p:txBody>
      </p:sp>
      <p:sp>
        <p:nvSpPr>
          <p:cNvPr id="10" name="Text 8"/>
          <p:cNvSpPr/>
          <p:nvPr/>
        </p:nvSpPr>
        <p:spPr>
          <a:xfrm>
            <a:off x="6473952" y="2331720"/>
            <a:ext cx="4965192" cy="1545336"/>
          </a:xfrm>
          <a:prstGeom prst="rect">
            <a:avLst/>
          </a:prstGeom>
          <a:noFill/>
          <a:ln/>
        </p:spPr>
        <p:txBody>
          <a:bodyPr wrap="square" lIns="0" tIns="0" rIns="0" bIns="0" rtlCol="0" anchor="t"/>
          <a:lstStyle/>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test_fmt.py</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@pytest.mark.parametrize("name, expected", [</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("alexandra", "Alexandra"),</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("amy",       "AMY"),</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("sam",       "Sam"),</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def test_format_name(name, expected):</a:t>
            </a:r>
            <a:endParaRPr lang="en-US" sz="1050" dirty="0"/>
          </a:p>
          <a:p>
            <a:pPr marL="0" indent="0">
              <a:lnSpc>
                <a:spcPct val="118000"/>
              </a:lnSpc>
              <a:buNone/>
            </a:pPr>
            <a:r>
              <a:rPr lang="en-US" sz="1050" dirty="0">
                <a:solidFill>
                  <a:srgbClr val="DCE6EA"/>
                </a:solidFill>
                <a:latin typeface="Courier New" pitchFamily="34" charset="0"/>
                <a:ea typeface="Courier New" pitchFamily="34" charset="-122"/>
                <a:cs typeface="Courier New" pitchFamily="34" charset="-120"/>
              </a:rPr>
              <a:t>    assert format_name(name) == expected</a:t>
            </a:r>
            <a:endParaRPr lang="en-US" sz="1050" dirty="0"/>
          </a:p>
        </p:txBody>
      </p:sp>
      <p:sp>
        <p:nvSpPr>
          <p:cNvPr id="11" name="Text 9"/>
          <p:cNvSpPr/>
          <p:nvPr/>
        </p:nvSpPr>
        <p:spPr>
          <a:xfrm>
            <a:off x="594360" y="4041648"/>
            <a:ext cx="1449027"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INPUT</a:t>
            </a:r>
            <a:endParaRPr lang="en-US" sz="950" dirty="0"/>
          </a:p>
        </p:txBody>
      </p:sp>
      <p:sp>
        <p:nvSpPr>
          <p:cNvPr id="12" name="Text 10"/>
          <p:cNvSpPr/>
          <p:nvPr/>
        </p:nvSpPr>
        <p:spPr>
          <a:xfrm>
            <a:off x="2153115" y="4041648"/>
            <a:ext cx="1540718"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THE TEST SAYS</a:t>
            </a:r>
            <a:endParaRPr lang="en-US" sz="950" dirty="0"/>
          </a:p>
        </p:txBody>
      </p:sp>
      <p:sp>
        <p:nvSpPr>
          <p:cNvPr id="13" name="Text 11"/>
          <p:cNvSpPr/>
          <p:nvPr/>
        </p:nvSpPr>
        <p:spPr>
          <a:xfrm>
            <a:off x="3803561" y="4041648"/>
            <a:ext cx="4933302"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WHAT ACTUALLY HAPPENS</a:t>
            </a:r>
            <a:endParaRPr lang="en-US" sz="950" dirty="0"/>
          </a:p>
        </p:txBody>
      </p:sp>
      <p:sp>
        <p:nvSpPr>
          <p:cNvPr id="14" name="Text 12"/>
          <p:cNvSpPr/>
          <p:nvPr/>
        </p:nvSpPr>
        <p:spPr>
          <a:xfrm>
            <a:off x="8846591" y="4041648"/>
            <a:ext cx="2641016"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FAILURE TYPE</a:t>
            </a:r>
            <a:endParaRPr lang="en-US" sz="950" dirty="0"/>
          </a:p>
        </p:txBody>
      </p:sp>
      <p:sp>
        <p:nvSpPr>
          <p:cNvPr id="15" name="Shape 13"/>
          <p:cNvSpPr/>
          <p:nvPr/>
        </p:nvSpPr>
        <p:spPr>
          <a:xfrm>
            <a:off x="594360" y="4315968"/>
            <a:ext cx="11002975" cy="0"/>
          </a:xfrm>
          <a:prstGeom prst="line">
            <a:avLst/>
          </a:prstGeom>
          <a:noFill/>
          <a:ln w="12700">
            <a:solidFill>
              <a:srgbClr val="9EAEB8"/>
            </a:solidFill>
            <a:prstDash val="solid"/>
          </a:ln>
        </p:spPr>
        <p:txBody>
          <a:bodyPr/>
          <a:lstStyle/>
          <a:p>
            <a:endParaRPr lang="en-US"/>
          </a:p>
        </p:txBody>
      </p:sp>
      <p:sp>
        <p:nvSpPr>
          <p:cNvPr id="16" name="Text 14"/>
          <p:cNvSpPr/>
          <p:nvPr/>
        </p:nvSpPr>
        <p:spPr>
          <a:xfrm>
            <a:off x="594360" y="4315968"/>
            <a:ext cx="1430739" cy="502920"/>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"alexandra"</a:t>
            </a:r>
            <a:endParaRPr lang="en-US" sz="1200" dirty="0"/>
          </a:p>
        </p:txBody>
      </p:sp>
      <p:sp>
        <p:nvSpPr>
          <p:cNvPr id="17" name="Text 15"/>
          <p:cNvSpPr/>
          <p:nvPr/>
        </p:nvSpPr>
        <p:spPr>
          <a:xfrm>
            <a:off x="2153115" y="4315968"/>
            <a:ext cx="1522430" cy="502920"/>
          </a:xfrm>
          <a:prstGeom prst="rect">
            <a:avLst/>
          </a:prstGeom>
          <a:noFill/>
          <a:ln/>
        </p:spPr>
        <p:txBody>
          <a:bodyPr wrap="square" lIns="0" tIns="0" rIns="0" bIns="0" rtlCol="0" anchor="ctr"/>
          <a:lstStyle/>
          <a:p>
            <a:pPr marL="0" indent="0" algn="l">
              <a:lnSpc>
                <a:spcPct val="115000"/>
              </a:lnSpc>
              <a:buNone/>
            </a:pPr>
            <a:r>
              <a:rPr lang="en-US" sz="1200" dirty="0">
                <a:solidFill>
                  <a:srgbClr val="55656F"/>
                </a:solidFill>
                <a:latin typeface="Courier New" pitchFamily="34" charset="0"/>
                <a:ea typeface="Courier New" pitchFamily="34" charset="-122"/>
                <a:cs typeface="Courier New" pitchFamily="34" charset="-120"/>
              </a:rPr>
              <a:t>"Alexandra"</a:t>
            </a:r>
            <a:endParaRPr lang="en-US" sz="1200" dirty="0"/>
          </a:p>
        </p:txBody>
      </p:sp>
      <p:sp>
        <p:nvSpPr>
          <p:cNvPr id="18" name="Text 16"/>
          <p:cNvSpPr/>
          <p:nvPr/>
        </p:nvSpPr>
        <p:spPr>
          <a:xfrm>
            <a:off x="3803561" y="4315968"/>
            <a:ext cx="4915014" cy="50292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you get ALEXANDRA — the second if overwrote the first</a:t>
            </a:r>
            <a:endParaRPr lang="en-US" sz="1250" dirty="0"/>
          </a:p>
        </p:txBody>
      </p:sp>
      <p:sp>
        <p:nvSpPr>
          <p:cNvPr id="19" name="Text 17"/>
          <p:cNvSpPr/>
          <p:nvPr/>
        </p:nvSpPr>
        <p:spPr>
          <a:xfrm>
            <a:off x="8846591" y="4315968"/>
            <a:ext cx="2622728" cy="502920"/>
          </a:xfrm>
          <a:prstGeom prst="rect">
            <a:avLst/>
          </a:prstGeom>
          <a:noFill/>
          <a:ln/>
        </p:spPr>
        <p:txBody>
          <a:bodyPr wrap="square" lIns="0" tIns="0" rIns="0" bIns="0" rtlCol="0" anchor="ctr"/>
          <a:lstStyle/>
          <a:p>
            <a:pPr marL="0" indent="0" algn="l">
              <a:lnSpc>
                <a:spcPct val="115000"/>
              </a:lnSpc>
              <a:buNone/>
            </a:pPr>
            <a:r>
              <a:rPr lang="en-US" sz="1200" b="1" dirty="0">
                <a:solidFill>
                  <a:srgbClr val="C07A10"/>
                </a:solidFill>
                <a:latin typeface="Courier New" pitchFamily="34" charset="0"/>
                <a:ea typeface="Courier New" pitchFamily="34" charset="-122"/>
                <a:cs typeface="Courier New" pitchFamily="34" charset="-120"/>
              </a:rPr>
              <a:t>wrong answer</a:t>
            </a:r>
            <a:endParaRPr lang="en-US" sz="1200" dirty="0"/>
          </a:p>
        </p:txBody>
      </p:sp>
      <p:sp>
        <p:nvSpPr>
          <p:cNvPr id="20" name="Shape 18"/>
          <p:cNvSpPr/>
          <p:nvPr/>
        </p:nvSpPr>
        <p:spPr>
          <a:xfrm>
            <a:off x="594360" y="4818888"/>
            <a:ext cx="11002975" cy="0"/>
          </a:xfrm>
          <a:prstGeom prst="line">
            <a:avLst/>
          </a:prstGeom>
          <a:noFill/>
          <a:ln w="9525">
            <a:solidFill>
              <a:srgbClr val="D0DAE0"/>
            </a:solidFill>
            <a:prstDash val="solid"/>
          </a:ln>
        </p:spPr>
        <p:txBody>
          <a:bodyPr/>
          <a:lstStyle/>
          <a:p>
            <a:endParaRPr lang="en-US"/>
          </a:p>
        </p:txBody>
      </p:sp>
      <p:sp>
        <p:nvSpPr>
          <p:cNvPr id="21" name="Text 19"/>
          <p:cNvSpPr/>
          <p:nvPr/>
        </p:nvSpPr>
        <p:spPr>
          <a:xfrm>
            <a:off x="594360" y="4818888"/>
            <a:ext cx="1430739" cy="502920"/>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"amy"</a:t>
            </a:r>
            <a:endParaRPr lang="en-US" sz="1200" dirty="0"/>
          </a:p>
        </p:txBody>
      </p:sp>
      <p:sp>
        <p:nvSpPr>
          <p:cNvPr id="22" name="Text 20"/>
          <p:cNvSpPr/>
          <p:nvPr/>
        </p:nvSpPr>
        <p:spPr>
          <a:xfrm>
            <a:off x="2153115" y="4818888"/>
            <a:ext cx="1522430" cy="502920"/>
          </a:xfrm>
          <a:prstGeom prst="rect">
            <a:avLst/>
          </a:prstGeom>
          <a:noFill/>
          <a:ln/>
        </p:spPr>
        <p:txBody>
          <a:bodyPr wrap="square" lIns="0" tIns="0" rIns="0" bIns="0" rtlCol="0" anchor="ctr"/>
          <a:lstStyle/>
          <a:p>
            <a:pPr marL="0" indent="0" algn="l">
              <a:lnSpc>
                <a:spcPct val="115000"/>
              </a:lnSpc>
              <a:buNone/>
            </a:pPr>
            <a:r>
              <a:rPr lang="en-US" sz="1200" dirty="0">
                <a:solidFill>
                  <a:srgbClr val="55656F"/>
                </a:solidFill>
                <a:latin typeface="Courier New" pitchFamily="34" charset="0"/>
                <a:ea typeface="Courier New" pitchFamily="34" charset="-122"/>
                <a:cs typeface="Courier New" pitchFamily="34" charset="-120"/>
              </a:rPr>
              <a:t>"AMY"</a:t>
            </a:r>
            <a:endParaRPr lang="en-US" sz="1200" dirty="0"/>
          </a:p>
        </p:txBody>
      </p:sp>
      <p:sp>
        <p:nvSpPr>
          <p:cNvPr id="23" name="Text 21"/>
          <p:cNvSpPr/>
          <p:nvPr/>
        </p:nvSpPr>
        <p:spPr>
          <a:xfrm>
            <a:off x="3803561" y="4818888"/>
            <a:ext cx="4915014" cy="50292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edited_name was never assigned at all</a:t>
            </a:r>
            <a:endParaRPr lang="en-US" sz="1250" dirty="0"/>
          </a:p>
        </p:txBody>
      </p:sp>
      <p:sp>
        <p:nvSpPr>
          <p:cNvPr id="24" name="Text 22"/>
          <p:cNvSpPr/>
          <p:nvPr/>
        </p:nvSpPr>
        <p:spPr>
          <a:xfrm>
            <a:off x="8846591" y="4818888"/>
            <a:ext cx="2622728" cy="502920"/>
          </a:xfrm>
          <a:prstGeom prst="rect">
            <a:avLst/>
          </a:prstGeom>
          <a:noFill/>
          <a:ln/>
        </p:spPr>
        <p:txBody>
          <a:bodyPr wrap="square" lIns="0" tIns="0" rIns="0" bIns="0" rtlCol="0" anchor="ctr"/>
          <a:lstStyle/>
          <a:p>
            <a:pPr marL="0" indent="0" algn="l">
              <a:lnSpc>
                <a:spcPct val="115000"/>
              </a:lnSpc>
              <a:buNone/>
            </a:pPr>
            <a:r>
              <a:rPr lang="en-US" sz="1200" b="1" dirty="0">
                <a:solidFill>
                  <a:srgbClr val="B4483C"/>
                </a:solidFill>
                <a:latin typeface="Courier New" pitchFamily="34" charset="0"/>
                <a:ea typeface="Courier New" pitchFamily="34" charset="-122"/>
                <a:cs typeface="Courier New" pitchFamily="34" charset="-120"/>
              </a:rPr>
              <a:t>UnboundLocalError</a:t>
            </a:r>
            <a:endParaRPr lang="en-US" sz="1200" dirty="0"/>
          </a:p>
        </p:txBody>
      </p:sp>
      <p:sp>
        <p:nvSpPr>
          <p:cNvPr id="25" name="Shape 23"/>
          <p:cNvSpPr/>
          <p:nvPr/>
        </p:nvSpPr>
        <p:spPr>
          <a:xfrm>
            <a:off x="594360" y="5321808"/>
            <a:ext cx="11002975" cy="0"/>
          </a:xfrm>
          <a:prstGeom prst="line">
            <a:avLst/>
          </a:prstGeom>
          <a:noFill/>
          <a:ln w="9525">
            <a:solidFill>
              <a:srgbClr val="D0DAE0"/>
            </a:solidFill>
            <a:prstDash val="solid"/>
          </a:ln>
        </p:spPr>
        <p:txBody>
          <a:bodyPr/>
          <a:lstStyle/>
          <a:p>
            <a:endParaRPr lang="en-US"/>
          </a:p>
        </p:txBody>
      </p:sp>
      <p:sp>
        <p:nvSpPr>
          <p:cNvPr id="26" name="Text 24"/>
          <p:cNvSpPr/>
          <p:nvPr/>
        </p:nvSpPr>
        <p:spPr>
          <a:xfrm>
            <a:off x="594360" y="5321808"/>
            <a:ext cx="1430739" cy="502920"/>
          </a:xfrm>
          <a:prstGeom prst="rect">
            <a:avLst/>
          </a:prstGeom>
          <a:noFill/>
          <a:ln/>
        </p:spPr>
        <p:txBody>
          <a:bodyPr wrap="square" lIns="0" tIns="0" rIns="0" bIns="0" rtlCol="0" anchor="ctr"/>
          <a:lstStyle/>
          <a:p>
            <a:pPr marL="0" indent="0" algn="l">
              <a:lnSpc>
                <a:spcPct val="115000"/>
              </a:lnSpc>
              <a:buNone/>
            </a:pPr>
            <a:r>
              <a:rPr lang="en-US" sz="1200" b="1" dirty="0">
                <a:solidFill>
                  <a:srgbClr val="121C22"/>
                </a:solidFill>
                <a:latin typeface="Courier New" pitchFamily="34" charset="0"/>
                <a:ea typeface="Courier New" pitchFamily="34" charset="-122"/>
                <a:cs typeface="Courier New" pitchFamily="34" charset="-120"/>
              </a:rPr>
              <a:t>"sam"</a:t>
            </a:r>
            <a:endParaRPr lang="en-US" sz="1200" dirty="0"/>
          </a:p>
        </p:txBody>
      </p:sp>
      <p:sp>
        <p:nvSpPr>
          <p:cNvPr id="27" name="Text 25"/>
          <p:cNvSpPr/>
          <p:nvPr/>
        </p:nvSpPr>
        <p:spPr>
          <a:xfrm>
            <a:off x="2153115" y="5321808"/>
            <a:ext cx="1522430" cy="502920"/>
          </a:xfrm>
          <a:prstGeom prst="rect">
            <a:avLst/>
          </a:prstGeom>
          <a:noFill/>
          <a:ln/>
        </p:spPr>
        <p:txBody>
          <a:bodyPr wrap="square" lIns="0" tIns="0" rIns="0" bIns="0" rtlCol="0" anchor="ctr"/>
          <a:lstStyle/>
          <a:p>
            <a:pPr marL="0" indent="0" algn="l">
              <a:lnSpc>
                <a:spcPct val="115000"/>
              </a:lnSpc>
              <a:buNone/>
            </a:pPr>
            <a:r>
              <a:rPr lang="en-US" sz="1200" dirty="0">
                <a:solidFill>
                  <a:srgbClr val="55656F"/>
                </a:solidFill>
                <a:latin typeface="Courier New" pitchFamily="34" charset="0"/>
                <a:ea typeface="Courier New" pitchFamily="34" charset="-122"/>
                <a:cs typeface="Courier New" pitchFamily="34" charset="-120"/>
              </a:rPr>
              <a:t>"Sam"</a:t>
            </a:r>
            <a:endParaRPr lang="en-US" sz="1200" dirty="0"/>
          </a:p>
        </p:txBody>
      </p:sp>
      <p:sp>
        <p:nvSpPr>
          <p:cNvPr id="28" name="Text 26"/>
          <p:cNvSpPr/>
          <p:nvPr/>
        </p:nvSpPr>
        <p:spPr>
          <a:xfrm>
            <a:off x="3803561" y="5321808"/>
            <a:ext cx="4915014" cy="50292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edited_name was never assigned at all</a:t>
            </a:r>
            <a:endParaRPr lang="en-US" sz="1250" dirty="0"/>
          </a:p>
        </p:txBody>
      </p:sp>
      <p:sp>
        <p:nvSpPr>
          <p:cNvPr id="29" name="Text 27"/>
          <p:cNvSpPr/>
          <p:nvPr/>
        </p:nvSpPr>
        <p:spPr>
          <a:xfrm>
            <a:off x="8846591" y="5321808"/>
            <a:ext cx="2622728" cy="502920"/>
          </a:xfrm>
          <a:prstGeom prst="rect">
            <a:avLst/>
          </a:prstGeom>
          <a:noFill/>
          <a:ln/>
        </p:spPr>
        <p:txBody>
          <a:bodyPr wrap="square" lIns="0" tIns="0" rIns="0" bIns="0" rtlCol="0" anchor="ctr"/>
          <a:lstStyle/>
          <a:p>
            <a:pPr marL="0" indent="0" algn="l">
              <a:lnSpc>
                <a:spcPct val="115000"/>
              </a:lnSpc>
              <a:buNone/>
            </a:pPr>
            <a:r>
              <a:rPr lang="en-US" sz="1200" b="1" dirty="0">
                <a:solidFill>
                  <a:srgbClr val="B4483C"/>
                </a:solidFill>
                <a:latin typeface="Courier New" pitchFamily="34" charset="0"/>
                <a:ea typeface="Courier New" pitchFamily="34" charset="-122"/>
                <a:cs typeface="Courier New" pitchFamily="34" charset="-120"/>
              </a:rPr>
              <a:t>UnboundLocalError</a:t>
            </a:r>
            <a:endParaRPr lang="en-US" sz="1200" dirty="0"/>
          </a:p>
        </p:txBody>
      </p:sp>
      <p:sp>
        <p:nvSpPr>
          <p:cNvPr id="30" name="Shape 28"/>
          <p:cNvSpPr/>
          <p:nvPr/>
        </p:nvSpPr>
        <p:spPr>
          <a:xfrm>
            <a:off x="594360" y="5824728"/>
            <a:ext cx="11002975" cy="0"/>
          </a:xfrm>
          <a:prstGeom prst="line">
            <a:avLst/>
          </a:prstGeom>
          <a:noFill/>
          <a:ln w="9525">
            <a:solidFill>
              <a:srgbClr val="D0DAE0"/>
            </a:solidFill>
            <a:prstDash val="solid"/>
          </a:ln>
        </p:spPr>
        <p:txBody>
          <a:bodyPr/>
          <a:lstStyle/>
          <a:p>
            <a:endParaRPr lang="en-US"/>
          </a:p>
        </p:txBody>
      </p:sp>
      <p:sp>
        <p:nvSpPr>
          <p:cNvPr id="31" name="Text 29"/>
          <p:cNvSpPr/>
          <p:nvPr/>
        </p:nvSpPr>
        <p:spPr>
          <a:xfrm>
            <a:off x="594360" y="5989320"/>
            <a:ext cx="11002975" cy="365760"/>
          </a:xfrm>
          <a:prstGeom prst="rect">
            <a:avLst/>
          </a:prstGeom>
          <a:noFill/>
          <a:ln/>
        </p:spPr>
        <p:txBody>
          <a:bodyPr wrap="square" lIns="0" tIns="0" rIns="0" bIns="0" rtlCol="0" anchor="ctr"/>
          <a:lstStyle/>
          <a:p>
            <a:pPr marL="0" indent="0">
              <a:lnSpc>
                <a:spcPct val="130000"/>
              </a:lnSpc>
              <a:buNone/>
            </a:pPr>
            <a:r>
              <a:rPr lang="en-US" sz="1000" dirty="0">
                <a:solidFill>
                  <a:srgbClr val="55656F"/>
                </a:solidFill>
                <a:latin typeface="Courier New" pitchFamily="34" charset="0"/>
                <a:ea typeface="Courier New" pitchFamily="34" charset="-122"/>
                <a:cs typeface="Courier New" pitchFamily="34" charset="-120"/>
              </a:rPr>
              <a:t>$ pytest -q     3 failed in 0.02s          one wrong answer, two crashes. Two different problems, one command.</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731520"/>
            <a:ext cx="11002975" cy="676656"/>
          </a:xfrm>
          <a:prstGeom prst="rect">
            <a:avLst/>
          </a:prstGeom>
          <a:noFill/>
          <a:ln/>
        </p:spPr>
        <p:txBody>
          <a:bodyPr wrap="square" lIns="0" tIns="0" rIns="0" bIns="0" rtlCol="0" anchor="t"/>
          <a:lstStyle/>
          <a:p>
            <a:pPr marL="0" indent="0">
              <a:buNone/>
            </a:pPr>
            <a:r>
              <a:rPr lang="en-US" sz="3300" b="1" dirty="0">
                <a:solidFill>
                  <a:srgbClr val="121C22"/>
                </a:solidFill>
                <a:latin typeface="Calibri" pitchFamily="34" charset="0"/>
                <a:ea typeface="Calibri" pitchFamily="34" charset="-122"/>
                <a:cs typeface="Calibri" pitchFamily="34" charset="-120"/>
              </a:rPr>
              <a:t>Getting tests passing</a:t>
            </a:r>
            <a:endParaRPr lang="en-US" sz="3300" dirty="0"/>
          </a:p>
        </p:txBody>
      </p:sp>
      <p:sp>
        <p:nvSpPr>
          <p:cNvPr id="4" name="Text 2"/>
          <p:cNvSpPr/>
          <p:nvPr/>
        </p:nvSpPr>
        <p:spPr>
          <a:xfrm>
            <a:off x="594360" y="1783080"/>
            <a:ext cx="2916090"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PYTEST RUN</a:t>
            </a:r>
            <a:endParaRPr lang="en-US" sz="950" dirty="0"/>
          </a:p>
        </p:txBody>
      </p:sp>
      <p:sp>
        <p:nvSpPr>
          <p:cNvPr id="5" name="Text 3"/>
          <p:cNvSpPr/>
          <p:nvPr/>
        </p:nvSpPr>
        <p:spPr>
          <a:xfrm>
            <a:off x="3620178" y="1783080"/>
            <a:ext cx="898878" cy="228600"/>
          </a:xfrm>
          <a:prstGeom prst="rect">
            <a:avLst/>
          </a:prstGeom>
          <a:noFill/>
          <a:ln/>
        </p:spPr>
        <p:txBody>
          <a:bodyPr wrap="square" lIns="0" tIns="0" rIns="0" bIns="0" rtlCol="0" anchor="ctr"/>
          <a:lstStyle/>
          <a:p>
            <a:pPr marL="0" indent="0" algn="ctr">
              <a:buNone/>
            </a:pPr>
            <a:r>
              <a:rPr lang="en-US" sz="950" b="1" kern="0" spc="110" dirty="0">
                <a:solidFill>
                  <a:srgbClr val="55656F"/>
                </a:solidFill>
                <a:latin typeface="Courier New" pitchFamily="34" charset="0"/>
                <a:ea typeface="Courier New" pitchFamily="34" charset="-122"/>
                <a:cs typeface="Courier New" pitchFamily="34" charset="-120"/>
              </a:rPr>
              <a:t>PASSED</a:t>
            </a:r>
            <a:endParaRPr lang="en-US" sz="950" dirty="0"/>
          </a:p>
        </p:txBody>
      </p:sp>
      <p:sp>
        <p:nvSpPr>
          <p:cNvPr id="6" name="Text 4"/>
          <p:cNvSpPr/>
          <p:nvPr/>
        </p:nvSpPr>
        <p:spPr>
          <a:xfrm>
            <a:off x="4628784" y="1783080"/>
            <a:ext cx="898878" cy="228600"/>
          </a:xfrm>
          <a:prstGeom prst="rect">
            <a:avLst/>
          </a:prstGeom>
          <a:noFill/>
          <a:ln/>
        </p:spPr>
        <p:txBody>
          <a:bodyPr wrap="square" lIns="0" tIns="0" rIns="0" bIns="0" rtlCol="0" anchor="ctr"/>
          <a:lstStyle/>
          <a:p>
            <a:pPr marL="0" indent="0" algn="ctr">
              <a:buNone/>
            </a:pPr>
            <a:r>
              <a:rPr lang="en-US" sz="950" b="1" kern="0" spc="110" dirty="0">
                <a:solidFill>
                  <a:srgbClr val="55656F"/>
                </a:solidFill>
                <a:latin typeface="Courier New" pitchFamily="34" charset="0"/>
                <a:ea typeface="Courier New" pitchFamily="34" charset="-122"/>
                <a:cs typeface="Courier New" pitchFamily="34" charset="-120"/>
              </a:rPr>
              <a:t>FAILED</a:t>
            </a:r>
            <a:endParaRPr lang="en-US" sz="950" dirty="0"/>
          </a:p>
        </p:txBody>
      </p:sp>
      <p:sp>
        <p:nvSpPr>
          <p:cNvPr id="7" name="Text 5"/>
          <p:cNvSpPr/>
          <p:nvPr/>
        </p:nvSpPr>
        <p:spPr>
          <a:xfrm>
            <a:off x="5637390" y="1783080"/>
            <a:ext cx="5850217"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WHAT THE OUTPUT IS TELLING YOU</a:t>
            </a:r>
            <a:endParaRPr lang="en-US" sz="950" dirty="0"/>
          </a:p>
        </p:txBody>
      </p:sp>
      <p:sp>
        <p:nvSpPr>
          <p:cNvPr id="8" name="Shape 6"/>
          <p:cNvSpPr/>
          <p:nvPr/>
        </p:nvSpPr>
        <p:spPr>
          <a:xfrm>
            <a:off x="594360" y="2057400"/>
            <a:ext cx="11002975" cy="0"/>
          </a:xfrm>
          <a:prstGeom prst="line">
            <a:avLst/>
          </a:prstGeom>
          <a:noFill/>
          <a:ln w="12700">
            <a:solidFill>
              <a:srgbClr val="9EAEB8"/>
            </a:solidFill>
            <a:prstDash val="solid"/>
          </a:ln>
        </p:spPr>
        <p:txBody>
          <a:bodyPr/>
          <a:lstStyle/>
          <a:p>
            <a:endParaRPr lang="en-US"/>
          </a:p>
        </p:txBody>
      </p:sp>
      <p:sp>
        <p:nvSpPr>
          <p:cNvPr id="9" name="Text 7"/>
          <p:cNvSpPr/>
          <p:nvPr/>
        </p:nvSpPr>
        <p:spPr>
          <a:xfrm>
            <a:off x="594360" y="2057400"/>
            <a:ext cx="2897802" cy="548640"/>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as written</a:t>
            </a:r>
            <a:endParaRPr lang="en-US" sz="1050" dirty="0"/>
          </a:p>
        </p:txBody>
      </p:sp>
      <p:sp>
        <p:nvSpPr>
          <p:cNvPr id="10" name="Text 8"/>
          <p:cNvSpPr/>
          <p:nvPr/>
        </p:nvSpPr>
        <p:spPr>
          <a:xfrm>
            <a:off x="3620178" y="2057400"/>
            <a:ext cx="880590" cy="548640"/>
          </a:xfrm>
          <a:prstGeom prst="rect">
            <a:avLst/>
          </a:prstGeom>
          <a:noFill/>
          <a:ln/>
        </p:spPr>
        <p:txBody>
          <a:bodyPr wrap="square" lIns="0" tIns="0" rIns="0" bIns="0" rtlCol="0" anchor="ctr"/>
          <a:lstStyle/>
          <a:p>
            <a:pPr marL="0" indent="0" algn="ctr">
              <a:lnSpc>
                <a:spcPct val="115000"/>
              </a:lnSpc>
              <a:buNone/>
            </a:pPr>
            <a:r>
              <a:rPr lang="en-US" sz="1200" dirty="0">
                <a:solidFill>
                  <a:srgbClr val="55656F"/>
                </a:solidFill>
                <a:latin typeface="Courier New" pitchFamily="34" charset="0"/>
                <a:ea typeface="Courier New" pitchFamily="34" charset="-122"/>
                <a:cs typeface="Courier New" pitchFamily="34" charset="-120"/>
              </a:rPr>
              <a:t>0</a:t>
            </a:r>
            <a:endParaRPr lang="en-US" sz="1200" dirty="0"/>
          </a:p>
        </p:txBody>
      </p:sp>
      <p:sp>
        <p:nvSpPr>
          <p:cNvPr id="11" name="Text 9"/>
          <p:cNvSpPr/>
          <p:nvPr/>
        </p:nvSpPr>
        <p:spPr>
          <a:xfrm>
            <a:off x="4628784" y="2057400"/>
            <a:ext cx="880590" cy="548640"/>
          </a:xfrm>
          <a:prstGeom prst="rect">
            <a:avLst/>
          </a:prstGeom>
          <a:noFill/>
          <a:ln/>
        </p:spPr>
        <p:txBody>
          <a:bodyPr wrap="square" lIns="0" tIns="0" rIns="0" bIns="0" rtlCol="0" anchor="ctr"/>
          <a:lstStyle/>
          <a:p>
            <a:pPr marL="0" indent="0" algn="ctr">
              <a:lnSpc>
                <a:spcPct val="115000"/>
              </a:lnSpc>
              <a:buNone/>
            </a:pPr>
            <a:r>
              <a:rPr lang="en-US" sz="1200" b="1" dirty="0">
                <a:solidFill>
                  <a:srgbClr val="B4483C"/>
                </a:solidFill>
                <a:latin typeface="Courier New" pitchFamily="34" charset="0"/>
                <a:ea typeface="Courier New" pitchFamily="34" charset="-122"/>
                <a:cs typeface="Courier New" pitchFamily="34" charset="-120"/>
              </a:rPr>
              <a:t>3</a:t>
            </a:r>
            <a:endParaRPr lang="en-US" sz="1200" dirty="0"/>
          </a:p>
        </p:txBody>
      </p:sp>
      <p:sp>
        <p:nvSpPr>
          <p:cNvPr id="12" name="Text 10"/>
          <p:cNvSpPr/>
          <p:nvPr/>
        </p:nvSpPr>
        <p:spPr>
          <a:xfrm>
            <a:off x="5637390" y="2057400"/>
            <a:ext cx="5831929" cy="54864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one wrong answer and two crashes — different problems</a:t>
            </a:r>
            <a:endParaRPr lang="en-US" sz="1250" dirty="0"/>
          </a:p>
        </p:txBody>
      </p:sp>
      <p:sp>
        <p:nvSpPr>
          <p:cNvPr id="13" name="Shape 11"/>
          <p:cNvSpPr/>
          <p:nvPr/>
        </p:nvSpPr>
        <p:spPr>
          <a:xfrm>
            <a:off x="594360" y="2606040"/>
            <a:ext cx="11002975" cy="0"/>
          </a:xfrm>
          <a:prstGeom prst="line">
            <a:avLst/>
          </a:prstGeom>
          <a:noFill/>
          <a:ln w="9525">
            <a:solidFill>
              <a:srgbClr val="D0DAE0"/>
            </a:solidFill>
            <a:prstDash val="solid"/>
          </a:ln>
        </p:spPr>
        <p:txBody>
          <a:bodyPr/>
          <a:lstStyle/>
          <a:p>
            <a:endParaRPr lang="en-US"/>
          </a:p>
        </p:txBody>
      </p:sp>
      <p:sp>
        <p:nvSpPr>
          <p:cNvPr id="14" name="Text 12"/>
          <p:cNvSpPr/>
          <p:nvPr/>
        </p:nvSpPr>
        <p:spPr>
          <a:xfrm>
            <a:off x="594360" y="2606040"/>
            <a:ext cx="2897802" cy="548640"/>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after the else fix</a:t>
            </a:r>
            <a:endParaRPr lang="en-US" sz="1050" dirty="0"/>
          </a:p>
        </p:txBody>
      </p:sp>
      <p:sp>
        <p:nvSpPr>
          <p:cNvPr id="15" name="Text 13"/>
          <p:cNvSpPr/>
          <p:nvPr/>
        </p:nvSpPr>
        <p:spPr>
          <a:xfrm>
            <a:off x="3620178" y="2606040"/>
            <a:ext cx="880590" cy="548640"/>
          </a:xfrm>
          <a:prstGeom prst="rect">
            <a:avLst/>
          </a:prstGeom>
          <a:noFill/>
          <a:ln/>
        </p:spPr>
        <p:txBody>
          <a:bodyPr wrap="square" lIns="0" tIns="0" rIns="0" bIns="0" rtlCol="0" anchor="ctr"/>
          <a:lstStyle/>
          <a:p>
            <a:pPr marL="0" indent="0" algn="ctr">
              <a:lnSpc>
                <a:spcPct val="115000"/>
              </a:lnSpc>
              <a:buNone/>
            </a:pPr>
            <a:r>
              <a:rPr lang="en-US" sz="1200" b="1" dirty="0">
                <a:solidFill>
                  <a:srgbClr val="1F6B65"/>
                </a:solidFill>
                <a:latin typeface="Courier New" pitchFamily="34" charset="0"/>
                <a:ea typeface="Courier New" pitchFamily="34" charset="-122"/>
                <a:cs typeface="Courier New" pitchFamily="34" charset="-120"/>
              </a:rPr>
              <a:t>2</a:t>
            </a:r>
            <a:endParaRPr lang="en-US" sz="1200" dirty="0"/>
          </a:p>
        </p:txBody>
      </p:sp>
      <p:sp>
        <p:nvSpPr>
          <p:cNvPr id="16" name="Text 14"/>
          <p:cNvSpPr/>
          <p:nvPr/>
        </p:nvSpPr>
        <p:spPr>
          <a:xfrm>
            <a:off x="4628784" y="2606040"/>
            <a:ext cx="880590" cy="548640"/>
          </a:xfrm>
          <a:prstGeom prst="rect">
            <a:avLst/>
          </a:prstGeom>
          <a:noFill/>
          <a:ln/>
        </p:spPr>
        <p:txBody>
          <a:bodyPr wrap="square" lIns="0" tIns="0" rIns="0" bIns="0" rtlCol="0" anchor="ctr"/>
          <a:lstStyle/>
          <a:p>
            <a:pPr marL="0" indent="0" algn="ctr">
              <a:lnSpc>
                <a:spcPct val="115000"/>
              </a:lnSpc>
              <a:buNone/>
            </a:pPr>
            <a:r>
              <a:rPr lang="en-US" sz="1200" b="1" dirty="0">
                <a:solidFill>
                  <a:srgbClr val="C07A10"/>
                </a:solidFill>
                <a:latin typeface="Courier New" pitchFamily="34" charset="0"/>
                <a:ea typeface="Courier New" pitchFamily="34" charset="-122"/>
                <a:cs typeface="Courier New" pitchFamily="34" charset="-120"/>
              </a:rPr>
              <a:t>1</a:t>
            </a:r>
            <a:endParaRPr lang="en-US" sz="1200" dirty="0"/>
          </a:p>
        </p:txBody>
      </p:sp>
      <p:sp>
        <p:nvSpPr>
          <p:cNvPr id="17" name="Text 15"/>
          <p:cNvSpPr/>
          <p:nvPr/>
        </p:nvSpPr>
        <p:spPr>
          <a:xfrm>
            <a:off x="5637390" y="2606040"/>
            <a:ext cx="5831929" cy="54864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AssertionError: assert 'SAM' == 'Sam'</a:t>
            </a:r>
            <a:endParaRPr lang="en-US" sz="1250" dirty="0"/>
          </a:p>
        </p:txBody>
      </p:sp>
      <p:sp>
        <p:nvSpPr>
          <p:cNvPr id="18" name="Shape 16"/>
          <p:cNvSpPr/>
          <p:nvPr/>
        </p:nvSpPr>
        <p:spPr>
          <a:xfrm>
            <a:off x="594360" y="3154680"/>
            <a:ext cx="11002975" cy="0"/>
          </a:xfrm>
          <a:prstGeom prst="line">
            <a:avLst/>
          </a:prstGeom>
          <a:noFill/>
          <a:ln w="9525">
            <a:solidFill>
              <a:srgbClr val="D0DAE0"/>
            </a:solidFill>
            <a:prstDash val="solid"/>
          </a:ln>
        </p:spPr>
        <p:txBody>
          <a:bodyPr/>
          <a:lstStyle/>
          <a:p>
            <a:endParaRPr lang="en-US"/>
          </a:p>
        </p:txBody>
      </p:sp>
      <p:sp>
        <p:nvSpPr>
          <p:cNvPr id="19" name="Shape 17"/>
          <p:cNvSpPr/>
          <p:nvPr/>
        </p:nvSpPr>
        <p:spPr>
          <a:xfrm>
            <a:off x="594360" y="3154680"/>
            <a:ext cx="11002975" cy="548640"/>
          </a:xfrm>
          <a:prstGeom prst="rect">
            <a:avLst/>
          </a:prstGeom>
          <a:solidFill>
            <a:srgbClr val="F1F5F6"/>
          </a:solidFill>
          <a:ln/>
        </p:spPr>
        <p:txBody>
          <a:bodyPr/>
          <a:lstStyle/>
          <a:p>
            <a:endParaRPr lang="en-US"/>
          </a:p>
        </p:txBody>
      </p:sp>
      <p:sp>
        <p:nvSpPr>
          <p:cNvPr id="20" name="Text 18"/>
          <p:cNvSpPr/>
          <p:nvPr/>
        </p:nvSpPr>
        <p:spPr>
          <a:xfrm>
            <a:off x="594360" y="3154680"/>
            <a:ext cx="2897802" cy="548640"/>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after fixing the test</a:t>
            </a:r>
            <a:endParaRPr lang="en-US" sz="1050" dirty="0"/>
          </a:p>
        </p:txBody>
      </p:sp>
      <p:sp>
        <p:nvSpPr>
          <p:cNvPr id="21" name="Text 19"/>
          <p:cNvSpPr/>
          <p:nvPr/>
        </p:nvSpPr>
        <p:spPr>
          <a:xfrm>
            <a:off x="3620178" y="3154680"/>
            <a:ext cx="880590" cy="548640"/>
          </a:xfrm>
          <a:prstGeom prst="rect">
            <a:avLst/>
          </a:prstGeom>
          <a:noFill/>
          <a:ln/>
        </p:spPr>
        <p:txBody>
          <a:bodyPr wrap="square" lIns="0" tIns="0" rIns="0" bIns="0" rtlCol="0" anchor="ctr"/>
          <a:lstStyle/>
          <a:p>
            <a:pPr marL="0" indent="0" algn="ctr">
              <a:lnSpc>
                <a:spcPct val="115000"/>
              </a:lnSpc>
              <a:buNone/>
            </a:pPr>
            <a:r>
              <a:rPr lang="en-US" sz="1200" b="1" dirty="0">
                <a:solidFill>
                  <a:srgbClr val="1F6B65"/>
                </a:solidFill>
                <a:latin typeface="Courier New" pitchFamily="34" charset="0"/>
                <a:ea typeface="Courier New" pitchFamily="34" charset="-122"/>
                <a:cs typeface="Courier New" pitchFamily="34" charset="-120"/>
              </a:rPr>
              <a:t>3</a:t>
            </a:r>
            <a:endParaRPr lang="en-US" sz="1200" dirty="0"/>
          </a:p>
        </p:txBody>
      </p:sp>
      <p:sp>
        <p:nvSpPr>
          <p:cNvPr id="22" name="Text 20"/>
          <p:cNvSpPr/>
          <p:nvPr/>
        </p:nvSpPr>
        <p:spPr>
          <a:xfrm>
            <a:off x="4628784" y="3154680"/>
            <a:ext cx="880590" cy="548640"/>
          </a:xfrm>
          <a:prstGeom prst="rect">
            <a:avLst/>
          </a:prstGeom>
          <a:noFill/>
          <a:ln/>
        </p:spPr>
        <p:txBody>
          <a:bodyPr wrap="square" lIns="0" tIns="0" rIns="0" bIns="0" rtlCol="0" anchor="ctr"/>
          <a:lstStyle/>
          <a:p>
            <a:pPr marL="0" indent="0" algn="ctr">
              <a:lnSpc>
                <a:spcPct val="115000"/>
              </a:lnSpc>
              <a:buNone/>
            </a:pPr>
            <a:r>
              <a:rPr lang="en-US" sz="1200" dirty="0">
                <a:solidFill>
                  <a:srgbClr val="55656F"/>
                </a:solidFill>
                <a:latin typeface="Courier New" pitchFamily="34" charset="0"/>
                <a:ea typeface="Courier New" pitchFamily="34" charset="-122"/>
                <a:cs typeface="Courier New" pitchFamily="34" charset="-120"/>
              </a:rPr>
              <a:t>0</a:t>
            </a:r>
            <a:endParaRPr lang="en-US" sz="1200" dirty="0"/>
          </a:p>
        </p:txBody>
      </p:sp>
      <p:sp>
        <p:nvSpPr>
          <p:cNvPr id="23" name="Text 21"/>
          <p:cNvSpPr/>
          <p:nvPr/>
        </p:nvSpPr>
        <p:spPr>
          <a:xfrm>
            <a:off x="5637390" y="3154680"/>
            <a:ext cx="5831929" cy="548640"/>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the code was right. the test was wrong.</a:t>
            </a:r>
            <a:endParaRPr lang="en-US" sz="1250" dirty="0"/>
          </a:p>
        </p:txBody>
      </p:sp>
      <p:sp>
        <p:nvSpPr>
          <p:cNvPr id="24" name="Shape 22"/>
          <p:cNvSpPr/>
          <p:nvPr/>
        </p:nvSpPr>
        <p:spPr>
          <a:xfrm>
            <a:off x="594360" y="3703320"/>
            <a:ext cx="11002975" cy="0"/>
          </a:xfrm>
          <a:prstGeom prst="line">
            <a:avLst/>
          </a:prstGeom>
          <a:noFill/>
          <a:ln w="9525">
            <a:solidFill>
              <a:srgbClr val="D0DAE0"/>
            </a:solidFill>
            <a:prstDash val="solid"/>
          </a:ln>
        </p:spPr>
        <p:txBody>
          <a:bodyPr/>
          <a:lstStyle/>
          <a:p>
            <a:endParaRPr lang="en-US"/>
          </a:p>
        </p:txBody>
      </p:sp>
      <p:sp>
        <p:nvSpPr>
          <p:cNvPr id="25" name="Shape 23"/>
          <p:cNvSpPr/>
          <p:nvPr/>
        </p:nvSpPr>
        <p:spPr>
          <a:xfrm>
            <a:off x="6199632" y="3977640"/>
            <a:ext cx="0" cy="2194560"/>
          </a:xfrm>
          <a:prstGeom prst="line">
            <a:avLst/>
          </a:prstGeom>
          <a:noFill/>
          <a:ln w="9525">
            <a:solidFill>
              <a:srgbClr val="D0DAE0"/>
            </a:solidFill>
            <a:prstDash val="solid"/>
          </a:ln>
        </p:spPr>
        <p:txBody>
          <a:bodyPr/>
          <a:lstStyle/>
          <a:p>
            <a:endParaRPr lang="en-US"/>
          </a:p>
        </p:txBody>
      </p:sp>
      <p:sp>
        <p:nvSpPr>
          <p:cNvPr id="26" name="Text 24"/>
          <p:cNvSpPr/>
          <p:nvPr/>
        </p:nvSpPr>
        <p:spPr>
          <a:xfrm>
            <a:off x="594360" y="4023360"/>
            <a:ext cx="3657600" cy="228600"/>
          </a:xfrm>
          <a:prstGeom prst="rect">
            <a:avLst/>
          </a:prstGeom>
          <a:noFill/>
          <a:ln/>
        </p:spPr>
        <p:txBody>
          <a:bodyPr wrap="square" lIns="0" tIns="0" rIns="0" bIns="0" rtlCol="0" anchor="ctr"/>
          <a:lstStyle/>
          <a:p>
            <a:pPr marL="0" indent="0" algn="l">
              <a:buNone/>
            </a:pPr>
            <a:r>
              <a:rPr lang="en-US" sz="950" b="1" kern="0" spc="110" dirty="0">
                <a:solidFill>
                  <a:srgbClr val="B4483C"/>
                </a:solidFill>
                <a:latin typeface="Courier New" pitchFamily="34" charset="0"/>
                <a:ea typeface="Courier New" pitchFamily="34" charset="-122"/>
                <a:cs typeface="Courier New" pitchFamily="34" charset="-120"/>
              </a:rPr>
              <a:t>THE BUG</a:t>
            </a:r>
            <a:endParaRPr lang="en-US" sz="950" dirty="0"/>
          </a:p>
        </p:txBody>
      </p:sp>
      <p:sp>
        <p:nvSpPr>
          <p:cNvPr id="27" name="Shape 25"/>
          <p:cNvSpPr/>
          <p:nvPr/>
        </p:nvSpPr>
        <p:spPr>
          <a:xfrm>
            <a:off x="594360" y="4297680"/>
            <a:ext cx="5532120" cy="658368"/>
          </a:xfrm>
          <a:prstGeom prst="rect">
            <a:avLst/>
          </a:prstGeom>
          <a:solidFill>
            <a:srgbClr val="121C22"/>
          </a:solidFill>
          <a:ln/>
        </p:spPr>
        <p:txBody>
          <a:bodyPr/>
          <a:lstStyle/>
          <a:p>
            <a:endParaRPr lang="en-US"/>
          </a:p>
        </p:txBody>
      </p:sp>
      <p:sp>
        <p:nvSpPr>
          <p:cNvPr id="28" name="Text 26"/>
          <p:cNvSpPr/>
          <p:nvPr/>
        </p:nvSpPr>
        <p:spPr>
          <a:xfrm>
            <a:off x="749808" y="4416552"/>
            <a:ext cx="5221224" cy="420624"/>
          </a:xfrm>
          <a:prstGeom prst="rect">
            <a:avLst/>
          </a:prstGeom>
          <a:noFill/>
          <a:ln/>
        </p:spPr>
        <p:txBody>
          <a:bodyPr wrap="square" lIns="0" tIns="0" rIns="0" bIns="0" rtlCol="0" anchor="t"/>
          <a:lstStyle/>
          <a:p>
            <a:pPr marL="0" indent="0">
              <a:lnSpc>
                <a:spcPct val="118000"/>
              </a:lnSpc>
              <a:buNone/>
            </a:pPr>
            <a:r>
              <a:rPr lang="en-US" sz="1100" dirty="0">
                <a:solidFill>
                  <a:srgbClr val="DCE6EA"/>
                </a:solidFill>
                <a:latin typeface="Courier New" pitchFamily="34" charset="0"/>
                <a:ea typeface="Courier New" pitchFamily="34" charset="-122"/>
                <a:cs typeface="Courier New" pitchFamily="34" charset="-120"/>
              </a:rPr>
              <a:t>    if len(name) &gt; 4:   # ← should be</a:t>
            </a:r>
            <a:endParaRPr lang="en-US" sz="1100" dirty="0"/>
          </a:p>
          <a:p>
            <a:pPr marL="0" indent="0">
              <a:lnSpc>
                <a:spcPct val="118000"/>
              </a:lnSpc>
              <a:buNone/>
            </a:pPr>
            <a:r>
              <a:rPr lang="en-US" sz="1100" dirty="0">
                <a:solidFill>
                  <a:srgbClr val="DCE6EA"/>
                </a:solidFill>
                <a:latin typeface="Courier New" pitchFamily="34" charset="0"/>
                <a:ea typeface="Courier New" pitchFamily="34" charset="-122"/>
                <a:cs typeface="Courier New" pitchFamily="34" charset="-120"/>
              </a:rPr>
              <a:t>    else:               # ← this</a:t>
            </a:r>
            <a:endParaRPr lang="en-US" sz="1100" dirty="0"/>
          </a:p>
        </p:txBody>
      </p:sp>
      <p:sp>
        <p:nvSpPr>
          <p:cNvPr id="29" name="Text 27"/>
          <p:cNvSpPr/>
          <p:nvPr/>
        </p:nvSpPr>
        <p:spPr>
          <a:xfrm>
            <a:off x="594360" y="5120640"/>
            <a:ext cx="5394960" cy="1005840"/>
          </a:xfrm>
          <a:prstGeom prst="rect">
            <a:avLst/>
          </a:prstGeom>
          <a:noFill/>
          <a:ln/>
        </p:spPr>
        <p:txBody>
          <a:bodyPr wrap="square" lIns="0" tIns="0" rIns="0" bIns="0" rtlCol="0" anchor="t"/>
          <a:lstStyle/>
          <a:p>
            <a:pPr marL="0" indent="0">
              <a:lnSpc>
                <a:spcPct val="125000"/>
              </a:lnSpc>
              <a:buNone/>
            </a:pPr>
            <a:r>
              <a:rPr lang="en-US" sz="1250" dirty="0">
                <a:solidFill>
                  <a:srgbClr val="55656F"/>
                </a:solidFill>
                <a:latin typeface="Calibri" pitchFamily="34" charset="0"/>
                <a:ea typeface="Calibri" pitchFamily="34" charset="-122"/>
                <a:cs typeface="Calibri" pitchFamily="34" charset="-120"/>
              </a:rPr>
              <a:t>Two ifs with the same condition. Short names matched neither branch, so edited_name was never created — which is why you get UnboundLocalError rather than a wrong answer.</a:t>
            </a:r>
            <a:endParaRPr lang="en-US" sz="1250" dirty="0"/>
          </a:p>
        </p:txBody>
      </p:sp>
      <p:sp>
        <p:nvSpPr>
          <p:cNvPr id="30" name="Text 28"/>
          <p:cNvSpPr/>
          <p:nvPr/>
        </p:nvSpPr>
        <p:spPr>
          <a:xfrm>
            <a:off x="6629400" y="4023360"/>
            <a:ext cx="3657600" cy="228600"/>
          </a:xfrm>
          <a:prstGeom prst="rect">
            <a:avLst/>
          </a:prstGeom>
          <a:noFill/>
          <a:ln/>
        </p:spPr>
        <p:txBody>
          <a:bodyPr wrap="square" lIns="0" tIns="0" rIns="0" bIns="0" rtlCol="0" anchor="ctr"/>
          <a:lstStyle/>
          <a:p>
            <a:pPr marL="0" indent="0" algn="l">
              <a:buNone/>
            </a:pPr>
            <a:r>
              <a:rPr lang="en-US" sz="950" b="1" kern="0" spc="110" dirty="0">
                <a:solidFill>
                  <a:srgbClr val="C07A10"/>
                </a:solidFill>
                <a:latin typeface="Courier New" pitchFamily="34" charset="0"/>
                <a:ea typeface="Courier New" pitchFamily="34" charset="-122"/>
                <a:cs typeface="Courier New" pitchFamily="34" charset="-120"/>
              </a:rPr>
              <a:t>AND THE TWIST</a:t>
            </a:r>
            <a:endParaRPr lang="en-US" sz="950" dirty="0"/>
          </a:p>
        </p:txBody>
      </p:sp>
      <p:sp>
        <p:nvSpPr>
          <p:cNvPr id="31" name="Text 29"/>
          <p:cNvSpPr/>
          <p:nvPr/>
        </p:nvSpPr>
        <p:spPr>
          <a:xfrm>
            <a:off x="6629400" y="4297680"/>
            <a:ext cx="4937760" cy="585216"/>
          </a:xfrm>
          <a:prstGeom prst="rect">
            <a:avLst/>
          </a:prstGeom>
          <a:noFill/>
          <a:ln/>
        </p:spPr>
        <p:txBody>
          <a:bodyPr wrap="square" lIns="0" tIns="0" rIns="0" bIns="0" rtlCol="0" anchor="t"/>
          <a:lstStyle/>
          <a:p>
            <a:pPr marL="0" indent="0">
              <a:lnSpc>
                <a:spcPct val="120000"/>
              </a:lnSpc>
              <a:buNone/>
            </a:pPr>
            <a:r>
              <a:rPr lang="en-US" sz="1250" dirty="0">
                <a:solidFill>
                  <a:srgbClr val="55656F"/>
                </a:solidFill>
                <a:latin typeface="Calibri" pitchFamily="34" charset="0"/>
                <a:ea typeface="Calibri" pitchFamily="34" charset="-122"/>
                <a:cs typeface="Calibri" pitchFamily="34" charset="-120"/>
              </a:rPr>
              <a:t>A crash and a wrong answer are different failures, and the traceback tells you which one you have.</a:t>
            </a:r>
            <a:endParaRPr lang="en-US" sz="1250" dirty="0"/>
          </a:p>
        </p:txBody>
      </p:sp>
      <p:sp>
        <p:nvSpPr>
          <p:cNvPr id="32" name="Text 30"/>
          <p:cNvSpPr/>
          <p:nvPr/>
        </p:nvSpPr>
        <p:spPr>
          <a:xfrm>
            <a:off x="6629400" y="4919472"/>
            <a:ext cx="4937760" cy="585216"/>
          </a:xfrm>
          <a:prstGeom prst="rect">
            <a:avLst/>
          </a:prstGeom>
          <a:noFill/>
          <a:ln/>
        </p:spPr>
        <p:txBody>
          <a:bodyPr wrap="square" lIns="0" tIns="0" rIns="0" bIns="0" rtlCol="0" anchor="t"/>
          <a:lstStyle/>
          <a:p>
            <a:pPr marL="0" indent="0">
              <a:lnSpc>
                <a:spcPct val="120000"/>
              </a:lnSpc>
              <a:buNone/>
            </a:pPr>
            <a:r>
              <a:rPr lang="en-US" sz="1250" dirty="0">
                <a:solidFill>
                  <a:srgbClr val="55656F"/>
                </a:solidFill>
                <a:latin typeface="Calibri" pitchFamily="34" charset="0"/>
                <a:ea typeface="Calibri" pitchFamily="34" charset="-122"/>
                <a:cs typeface="Calibri" pitchFamily="34" charset="-120"/>
              </a:rPr>
              <a:t>A failing test does not prove the code is wrong. Something is wrong. Read before you edit.</a:t>
            </a:r>
            <a:endParaRPr lang="en-US" sz="1250" dirty="0"/>
          </a:p>
        </p:txBody>
      </p:sp>
      <p:sp>
        <p:nvSpPr>
          <p:cNvPr id="33" name="Text 31"/>
          <p:cNvSpPr/>
          <p:nvPr/>
        </p:nvSpPr>
        <p:spPr>
          <a:xfrm>
            <a:off x="6629400" y="5541264"/>
            <a:ext cx="4937760" cy="585216"/>
          </a:xfrm>
          <a:prstGeom prst="rect">
            <a:avLst/>
          </a:prstGeom>
          <a:noFill/>
          <a:ln/>
        </p:spPr>
        <p:txBody>
          <a:bodyPr wrap="square" lIns="0" tIns="0" rIns="0" bIns="0" rtlCol="0" anchor="t"/>
          <a:lstStyle/>
          <a:p>
            <a:pPr marL="0" indent="0">
              <a:lnSpc>
                <a:spcPct val="120000"/>
              </a:lnSpc>
              <a:buNone/>
            </a:pPr>
            <a:r>
              <a:rPr lang="en-US" sz="1250" dirty="0">
                <a:solidFill>
                  <a:srgbClr val="55656F"/>
                </a:solidFill>
                <a:latin typeface="Calibri" pitchFamily="34" charset="0"/>
                <a:ea typeface="Calibri" pitchFamily="34" charset="-122"/>
                <a:cs typeface="Calibri" pitchFamily="34" charset="-120"/>
              </a:rPr>
              <a:t>Tests are written by people, so tests have bugs. Trust them more than your eyeballs, less than completely.</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name="Slide 2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731520"/>
            <a:ext cx="11002975" cy="676656"/>
          </a:xfrm>
          <a:prstGeom prst="rect">
            <a:avLst/>
          </a:prstGeom>
          <a:noFill/>
          <a:ln/>
        </p:spPr>
        <p:txBody>
          <a:bodyPr wrap="square" lIns="0" tIns="0" rIns="0" bIns="0" rtlCol="0" anchor="t"/>
          <a:lstStyle/>
          <a:p>
            <a:pPr marL="0" indent="0">
              <a:buNone/>
            </a:pPr>
            <a:r>
              <a:rPr lang="en-US" sz="3300" b="1" dirty="0">
                <a:solidFill>
                  <a:srgbClr val="121C22"/>
                </a:solidFill>
                <a:latin typeface="Calibri" pitchFamily="34" charset="0"/>
                <a:cs typeface="Calibri" pitchFamily="34" charset="-120"/>
              </a:rPr>
              <a:t>What is debugging? How is it different from using print()?</a:t>
            </a:r>
            <a:endParaRPr lang="en-US" sz="3300" dirty="0"/>
          </a:p>
        </p:txBody>
      </p:sp>
      <p:sp>
        <p:nvSpPr>
          <p:cNvPr id="4" name="Shape 2"/>
          <p:cNvSpPr/>
          <p:nvPr/>
        </p:nvSpPr>
        <p:spPr>
          <a:xfrm>
            <a:off x="594360" y="2103120"/>
            <a:ext cx="5943600" cy="0"/>
          </a:xfrm>
          <a:prstGeom prst="line">
            <a:avLst/>
          </a:prstGeom>
          <a:noFill/>
          <a:ln w="12700">
            <a:solidFill>
              <a:srgbClr val="9EAEB8"/>
            </a:solidFill>
            <a:prstDash val="solid"/>
          </a:ln>
        </p:spPr>
        <p:txBody>
          <a:bodyPr/>
          <a:lstStyle/>
          <a:p>
            <a:endParaRPr lang="en-US"/>
          </a:p>
        </p:txBody>
      </p:sp>
      <p:sp>
        <p:nvSpPr>
          <p:cNvPr id="5" name="Text 3"/>
          <p:cNvSpPr/>
          <p:nvPr/>
        </p:nvSpPr>
        <p:spPr>
          <a:xfrm>
            <a:off x="594360" y="2103120"/>
            <a:ext cx="411480" cy="658368"/>
          </a:xfrm>
          <a:prstGeom prst="rect">
            <a:avLst/>
          </a:prstGeom>
          <a:noFill/>
          <a:ln/>
        </p:spPr>
        <p:txBody>
          <a:bodyPr wrap="square" lIns="0" tIns="0" rIns="0" bIns="0" rtlCol="0" anchor="ctr"/>
          <a:lstStyle/>
          <a:p>
            <a:pPr marL="0" indent="0">
              <a:buNone/>
            </a:pPr>
            <a:r>
              <a:rPr lang="en-US" sz="1150" b="1" dirty="0">
                <a:solidFill>
                  <a:srgbClr val="C07A10"/>
                </a:solidFill>
                <a:latin typeface="Courier New" pitchFamily="34" charset="0"/>
                <a:ea typeface="Courier New" pitchFamily="34" charset="-122"/>
                <a:cs typeface="Courier New" pitchFamily="34" charset="-120"/>
              </a:rPr>
              <a:t>01</a:t>
            </a:r>
            <a:endParaRPr lang="en-US" sz="1150" dirty="0"/>
          </a:p>
        </p:txBody>
      </p:sp>
      <p:sp>
        <p:nvSpPr>
          <p:cNvPr id="6" name="Text 4"/>
          <p:cNvSpPr/>
          <p:nvPr/>
        </p:nvSpPr>
        <p:spPr>
          <a:xfrm>
            <a:off x="1069848" y="2103120"/>
            <a:ext cx="5349240" cy="658368"/>
          </a:xfrm>
          <a:prstGeom prst="rect">
            <a:avLst/>
          </a:prstGeom>
          <a:noFill/>
          <a:ln/>
        </p:spPr>
        <p:txBody>
          <a:bodyPr wrap="square" lIns="0" tIns="0" rIns="0" bIns="0" rtlCol="0" anchor="ctr"/>
          <a:lstStyle/>
          <a:p>
            <a:pPr marL="0" indent="0">
              <a:lnSpc>
                <a:spcPct val="115000"/>
              </a:lnSpc>
              <a:buNone/>
            </a:pPr>
            <a:r>
              <a:rPr lang="en-US" sz="1300" dirty="0">
                <a:solidFill>
                  <a:srgbClr val="55656F"/>
                </a:solidFill>
                <a:latin typeface="Calibri" pitchFamily="34" charset="0"/>
                <a:ea typeface="Calibri" pitchFamily="34" charset="-122"/>
                <a:cs typeface="Calibri" pitchFamily="34" charset="-120"/>
              </a:rPr>
              <a:t>Click to the left of the line number. A red dot appears — that is a breakpoint.</a:t>
            </a:r>
            <a:endParaRPr lang="en-US" sz="1300" dirty="0"/>
          </a:p>
        </p:txBody>
      </p:sp>
      <p:sp>
        <p:nvSpPr>
          <p:cNvPr id="7" name="Shape 5"/>
          <p:cNvSpPr/>
          <p:nvPr/>
        </p:nvSpPr>
        <p:spPr>
          <a:xfrm>
            <a:off x="594360" y="2761488"/>
            <a:ext cx="5943600" cy="0"/>
          </a:xfrm>
          <a:prstGeom prst="line">
            <a:avLst/>
          </a:prstGeom>
          <a:noFill/>
          <a:ln w="9525">
            <a:solidFill>
              <a:srgbClr val="D0DAE0"/>
            </a:solidFill>
            <a:prstDash val="solid"/>
          </a:ln>
        </p:spPr>
        <p:txBody>
          <a:bodyPr/>
          <a:lstStyle/>
          <a:p>
            <a:endParaRPr lang="en-US"/>
          </a:p>
        </p:txBody>
      </p:sp>
      <p:sp>
        <p:nvSpPr>
          <p:cNvPr id="8" name="Text 6"/>
          <p:cNvSpPr/>
          <p:nvPr/>
        </p:nvSpPr>
        <p:spPr>
          <a:xfrm>
            <a:off x="594360" y="2761488"/>
            <a:ext cx="411480" cy="658368"/>
          </a:xfrm>
          <a:prstGeom prst="rect">
            <a:avLst/>
          </a:prstGeom>
          <a:noFill/>
          <a:ln/>
        </p:spPr>
        <p:txBody>
          <a:bodyPr wrap="square" lIns="0" tIns="0" rIns="0" bIns="0" rtlCol="0" anchor="ctr"/>
          <a:lstStyle/>
          <a:p>
            <a:pPr marL="0" indent="0">
              <a:buNone/>
            </a:pPr>
            <a:r>
              <a:rPr lang="en-US" sz="1150" b="1" dirty="0">
                <a:solidFill>
                  <a:srgbClr val="C07A10"/>
                </a:solidFill>
                <a:latin typeface="Courier New" pitchFamily="34" charset="0"/>
                <a:ea typeface="Courier New" pitchFamily="34" charset="-122"/>
                <a:cs typeface="Courier New" pitchFamily="34" charset="-120"/>
              </a:rPr>
              <a:t>02</a:t>
            </a:r>
            <a:endParaRPr lang="en-US" sz="1150" dirty="0"/>
          </a:p>
        </p:txBody>
      </p:sp>
      <p:sp>
        <p:nvSpPr>
          <p:cNvPr id="9" name="Text 7"/>
          <p:cNvSpPr/>
          <p:nvPr/>
        </p:nvSpPr>
        <p:spPr>
          <a:xfrm>
            <a:off x="1069848" y="2761488"/>
            <a:ext cx="5349240" cy="658368"/>
          </a:xfrm>
          <a:prstGeom prst="rect">
            <a:avLst/>
          </a:prstGeom>
          <a:noFill/>
          <a:ln/>
        </p:spPr>
        <p:txBody>
          <a:bodyPr wrap="square" lIns="0" tIns="0" rIns="0" bIns="0" rtlCol="0" anchor="ctr"/>
          <a:lstStyle/>
          <a:p>
            <a:pPr marL="0" indent="0">
              <a:lnSpc>
                <a:spcPct val="115000"/>
              </a:lnSpc>
              <a:buNone/>
            </a:pPr>
            <a:r>
              <a:rPr lang="en-US" sz="1300" dirty="0">
                <a:solidFill>
                  <a:srgbClr val="55656F"/>
                </a:solidFill>
                <a:latin typeface="Calibri" pitchFamily="34" charset="0"/>
                <a:ea typeface="Calibri" pitchFamily="34" charset="-122"/>
                <a:cs typeface="Calibri" pitchFamily="34" charset="-120"/>
              </a:rPr>
              <a:t>Run with the debugger instead of running normally.</a:t>
            </a:r>
            <a:endParaRPr lang="en-US" sz="1300" dirty="0"/>
          </a:p>
        </p:txBody>
      </p:sp>
      <p:sp>
        <p:nvSpPr>
          <p:cNvPr id="10" name="Shape 8"/>
          <p:cNvSpPr/>
          <p:nvPr/>
        </p:nvSpPr>
        <p:spPr>
          <a:xfrm>
            <a:off x="594360" y="3419856"/>
            <a:ext cx="5943600" cy="0"/>
          </a:xfrm>
          <a:prstGeom prst="line">
            <a:avLst/>
          </a:prstGeom>
          <a:noFill/>
          <a:ln w="9525">
            <a:solidFill>
              <a:srgbClr val="D0DAE0"/>
            </a:solidFill>
            <a:prstDash val="solid"/>
          </a:ln>
        </p:spPr>
        <p:txBody>
          <a:bodyPr/>
          <a:lstStyle/>
          <a:p>
            <a:endParaRPr lang="en-US"/>
          </a:p>
        </p:txBody>
      </p:sp>
      <p:sp>
        <p:nvSpPr>
          <p:cNvPr id="11" name="Text 9"/>
          <p:cNvSpPr/>
          <p:nvPr/>
        </p:nvSpPr>
        <p:spPr>
          <a:xfrm>
            <a:off x="594360" y="3419856"/>
            <a:ext cx="411480" cy="658368"/>
          </a:xfrm>
          <a:prstGeom prst="rect">
            <a:avLst/>
          </a:prstGeom>
          <a:noFill/>
          <a:ln/>
        </p:spPr>
        <p:txBody>
          <a:bodyPr wrap="square" lIns="0" tIns="0" rIns="0" bIns="0" rtlCol="0" anchor="ctr"/>
          <a:lstStyle/>
          <a:p>
            <a:pPr marL="0" indent="0">
              <a:buNone/>
            </a:pPr>
            <a:r>
              <a:rPr lang="en-US" sz="1150" b="1" dirty="0">
                <a:solidFill>
                  <a:srgbClr val="C07A10"/>
                </a:solidFill>
                <a:latin typeface="Courier New" pitchFamily="34" charset="0"/>
                <a:ea typeface="Courier New" pitchFamily="34" charset="-122"/>
                <a:cs typeface="Courier New" pitchFamily="34" charset="-120"/>
              </a:rPr>
              <a:t>03</a:t>
            </a:r>
            <a:endParaRPr lang="en-US" sz="1150" dirty="0"/>
          </a:p>
        </p:txBody>
      </p:sp>
      <p:sp>
        <p:nvSpPr>
          <p:cNvPr id="12" name="Text 10"/>
          <p:cNvSpPr/>
          <p:nvPr/>
        </p:nvSpPr>
        <p:spPr>
          <a:xfrm>
            <a:off x="1069848" y="3419856"/>
            <a:ext cx="5349240" cy="658368"/>
          </a:xfrm>
          <a:prstGeom prst="rect">
            <a:avLst/>
          </a:prstGeom>
          <a:noFill/>
          <a:ln/>
        </p:spPr>
        <p:txBody>
          <a:bodyPr wrap="square" lIns="0" tIns="0" rIns="0" bIns="0" rtlCol="0" anchor="ctr"/>
          <a:lstStyle/>
          <a:p>
            <a:pPr marL="0" indent="0">
              <a:lnSpc>
                <a:spcPct val="115000"/>
              </a:lnSpc>
              <a:buNone/>
            </a:pPr>
            <a:r>
              <a:rPr lang="en-US" sz="1300" dirty="0">
                <a:solidFill>
                  <a:srgbClr val="55656F"/>
                </a:solidFill>
                <a:latin typeface="Calibri" pitchFamily="34" charset="0"/>
                <a:ea typeface="Calibri" pitchFamily="34" charset="-122"/>
                <a:cs typeface="Calibri" pitchFamily="34" charset="-120"/>
              </a:rPr>
              <a:t>The program stops there and waits. Nothing has crashed — it is paused.</a:t>
            </a:r>
            <a:endParaRPr lang="en-US" sz="1300" dirty="0"/>
          </a:p>
        </p:txBody>
      </p:sp>
      <p:sp>
        <p:nvSpPr>
          <p:cNvPr id="13" name="Shape 11"/>
          <p:cNvSpPr/>
          <p:nvPr/>
        </p:nvSpPr>
        <p:spPr>
          <a:xfrm>
            <a:off x="594360" y="4078224"/>
            <a:ext cx="5943600" cy="0"/>
          </a:xfrm>
          <a:prstGeom prst="line">
            <a:avLst/>
          </a:prstGeom>
          <a:noFill/>
          <a:ln w="9525">
            <a:solidFill>
              <a:srgbClr val="D0DAE0"/>
            </a:solidFill>
            <a:prstDash val="solid"/>
          </a:ln>
        </p:spPr>
        <p:txBody>
          <a:bodyPr/>
          <a:lstStyle/>
          <a:p>
            <a:endParaRPr lang="en-US"/>
          </a:p>
        </p:txBody>
      </p:sp>
      <p:sp>
        <p:nvSpPr>
          <p:cNvPr id="14" name="Text 12"/>
          <p:cNvSpPr/>
          <p:nvPr/>
        </p:nvSpPr>
        <p:spPr>
          <a:xfrm>
            <a:off x="594360" y="4078224"/>
            <a:ext cx="411480" cy="658368"/>
          </a:xfrm>
          <a:prstGeom prst="rect">
            <a:avLst/>
          </a:prstGeom>
          <a:noFill/>
          <a:ln/>
        </p:spPr>
        <p:txBody>
          <a:bodyPr wrap="square" lIns="0" tIns="0" rIns="0" bIns="0" rtlCol="0" anchor="ctr"/>
          <a:lstStyle/>
          <a:p>
            <a:pPr marL="0" indent="0">
              <a:buNone/>
            </a:pPr>
            <a:r>
              <a:rPr lang="en-US" sz="1150" b="1" dirty="0">
                <a:solidFill>
                  <a:srgbClr val="C07A10"/>
                </a:solidFill>
                <a:latin typeface="Courier New" pitchFamily="34" charset="0"/>
                <a:ea typeface="Courier New" pitchFamily="34" charset="-122"/>
                <a:cs typeface="Courier New" pitchFamily="34" charset="-120"/>
              </a:rPr>
              <a:t>04</a:t>
            </a:r>
            <a:endParaRPr lang="en-US" sz="1150" dirty="0"/>
          </a:p>
        </p:txBody>
      </p:sp>
      <p:sp>
        <p:nvSpPr>
          <p:cNvPr id="15" name="Text 13"/>
          <p:cNvSpPr/>
          <p:nvPr/>
        </p:nvSpPr>
        <p:spPr>
          <a:xfrm>
            <a:off x="1069848" y="4078224"/>
            <a:ext cx="5349240" cy="658368"/>
          </a:xfrm>
          <a:prstGeom prst="rect">
            <a:avLst/>
          </a:prstGeom>
          <a:noFill/>
          <a:ln/>
        </p:spPr>
        <p:txBody>
          <a:bodyPr wrap="square" lIns="0" tIns="0" rIns="0" bIns="0" rtlCol="0" anchor="ctr"/>
          <a:lstStyle/>
          <a:p>
            <a:pPr marL="0" indent="0">
              <a:lnSpc>
                <a:spcPct val="115000"/>
              </a:lnSpc>
              <a:buNone/>
            </a:pPr>
            <a:r>
              <a:rPr lang="en-US" sz="1300" dirty="0">
                <a:solidFill>
                  <a:srgbClr val="55656F"/>
                </a:solidFill>
                <a:latin typeface="Calibri" pitchFamily="34" charset="0"/>
                <a:ea typeface="Calibri" pitchFamily="34" charset="-122"/>
                <a:cs typeface="Calibri" pitchFamily="34" charset="-120"/>
              </a:rPr>
              <a:t>The left panel now lists every variable that exists, right now, with its value.</a:t>
            </a:r>
            <a:endParaRPr lang="en-US" sz="1300" dirty="0"/>
          </a:p>
        </p:txBody>
      </p:sp>
      <p:sp>
        <p:nvSpPr>
          <p:cNvPr id="16" name="Shape 14"/>
          <p:cNvSpPr/>
          <p:nvPr/>
        </p:nvSpPr>
        <p:spPr>
          <a:xfrm>
            <a:off x="594360" y="4736592"/>
            <a:ext cx="5943600" cy="0"/>
          </a:xfrm>
          <a:prstGeom prst="line">
            <a:avLst/>
          </a:prstGeom>
          <a:noFill/>
          <a:ln w="9525">
            <a:solidFill>
              <a:srgbClr val="D0DAE0"/>
            </a:solidFill>
            <a:prstDash val="solid"/>
          </a:ln>
        </p:spPr>
        <p:txBody>
          <a:bodyPr/>
          <a:lstStyle/>
          <a:p>
            <a:endParaRPr lang="en-US"/>
          </a:p>
        </p:txBody>
      </p:sp>
      <p:sp>
        <p:nvSpPr>
          <p:cNvPr id="17" name="Text 15"/>
          <p:cNvSpPr/>
          <p:nvPr/>
        </p:nvSpPr>
        <p:spPr>
          <a:xfrm>
            <a:off x="594360" y="4736592"/>
            <a:ext cx="411480" cy="658368"/>
          </a:xfrm>
          <a:prstGeom prst="rect">
            <a:avLst/>
          </a:prstGeom>
          <a:noFill/>
          <a:ln/>
        </p:spPr>
        <p:txBody>
          <a:bodyPr wrap="square" lIns="0" tIns="0" rIns="0" bIns="0" rtlCol="0" anchor="ctr"/>
          <a:lstStyle/>
          <a:p>
            <a:pPr marL="0" indent="0">
              <a:buNone/>
            </a:pPr>
            <a:r>
              <a:rPr lang="en-US" sz="1150" b="1" dirty="0">
                <a:solidFill>
                  <a:srgbClr val="C07A10"/>
                </a:solidFill>
                <a:latin typeface="Courier New" pitchFamily="34" charset="0"/>
                <a:ea typeface="Courier New" pitchFamily="34" charset="-122"/>
                <a:cs typeface="Courier New" pitchFamily="34" charset="-120"/>
              </a:rPr>
              <a:t>05</a:t>
            </a:r>
            <a:endParaRPr lang="en-US" sz="1150" dirty="0"/>
          </a:p>
        </p:txBody>
      </p:sp>
      <p:sp>
        <p:nvSpPr>
          <p:cNvPr id="18" name="Text 16"/>
          <p:cNvSpPr/>
          <p:nvPr/>
        </p:nvSpPr>
        <p:spPr>
          <a:xfrm>
            <a:off x="1069848" y="4736592"/>
            <a:ext cx="5349240" cy="658368"/>
          </a:xfrm>
          <a:prstGeom prst="rect">
            <a:avLst/>
          </a:prstGeom>
          <a:noFill/>
          <a:ln/>
        </p:spPr>
        <p:txBody>
          <a:bodyPr wrap="square" lIns="0" tIns="0" rIns="0" bIns="0" rtlCol="0" anchor="ctr"/>
          <a:lstStyle/>
          <a:p>
            <a:pPr marL="0" indent="0">
              <a:lnSpc>
                <a:spcPct val="115000"/>
              </a:lnSpc>
              <a:buNone/>
            </a:pPr>
            <a:r>
              <a:rPr lang="en-US" sz="1300" dirty="0">
                <a:solidFill>
                  <a:srgbClr val="55656F"/>
                </a:solidFill>
                <a:latin typeface="Calibri" pitchFamily="34" charset="0"/>
                <a:ea typeface="Calibri" pitchFamily="34" charset="-122"/>
                <a:cs typeface="Calibri" pitchFamily="34" charset="-120"/>
              </a:rPr>
              <a:t>Step forward one line at a time and watch them change.</a:t>
            </a:r>
            <a:endParaRPr lang="en-US" sz="1300" dirty="0"/>
          </a:p>
        </p:txBody>
      </p:sp>
      <p:sp>
        <p:nvSpPr>
          <p:cNvPr id="19" name="Shape 17"/>
          <p:cNvSpPr/>
          <p:nvPr/>
        </p:nvSpPr>
        <p:spPr>
          <a:xfrm>
            <a:off x="594360" y="5394960"/>
            <a:ext cx="5943600" cy="0"/>
          </a:xfrm>
          <a:prstGeom prst="line">
            <a:avLst/>
          </a:prstGeom>
          <a:noFill/>
          <a:ln w="9525">
            <a:solidFill>
              <a:srgbClr val="D0DAE0"/>
            </a:solidFill>
            <a:prstDash val="solid"/>
          </a:ln>
        </p:spPr>
        <p:txBody>
          <a:bodyPr/>
          <a:lstStyle/>
          <a:p>
            <a:endParaRPr lang="en-US"/>
          </a:p>
        </p:txBody>
      </p:sp>
      <p:sp>
        <p:nvSpPr>
          <p:cNvPr id="20" name="Shape 18"/>
          <p:cNvSpPr/>
          <p:nvPr/>
        </p:nvSpPr>
        <p:spPr>
          <a:xfrm>
            <a:off x="6537960" y="2057400"/>
            <a:ext cx="0" cy="3383280"/>
          </a:xfrm>
          <a:prstGeom prst="line">
            <a:avLst/>
          </a:prstGeom>
          <a:noFill/>
          <a:ln w="9525">
            <a:solidFill>
              <a:srgbClr val="D0DAE0"/>
            </a:solidFill>
            <a:prstDash val="solid"/>
          </a:ln>
        </p:spPr>
        <p:txBody>
          <a:bodyPr/>
          <a:lstStyle/>
          <a:p>
            <a:endParaRPr lang="en-US"/>
          </a:p>
        </p:txBody>
      </p:sp>
      <p:sp>
        <p:nvSpPr>
          <p:cNvPr id="21" name="Text 19"/>
          <p:cNvSpPr/>
          <p:nvPr/>
        </p:nvSpPr>
        <p:spPr>
          <a:xfrm>
            <a:off x="8732520" y="2057400"/>
            <a:ext cx="1261872"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print()</a:t>
            </a:r>
            <a:endParaRPr lang="en-US" sz="950" dirty="0"/>
          </a:p>
        </p:txBody>
      </p:sp>
      <p:sp>
        <p:nvSpPr>
          <p:cNvPr id="22" name="Text 20"/>
          <p:cNvSpPr/>
          <p:nvPr/>
        </p:nvSpPr>
        <p:spPr>
          <a:xfrm>
            <a:off x="10104120" y="2057400"/>
            <a:ext cx="1353312"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DEBUGGER</a:t>
            </a:r>
            <a:endParaRPr lang="en-US" sz="950" dirty="0"/>
          </a:p>
        </p:txBody>
      </p:sp>
      <p:sp>
        <p:nvSpPr>
          <p:cNvPr id="23" name="Shape 21"/>
          <p:cNvSpPr/>
          <p:nvPr/>
        </p:nvSpPr>
        <p:spPr>
          <a:xfrm>
            <a:off x="6949440" y="2331720"/>
            <a:ext cx="4617720" cy="0"/>
          </a:xfrm>
          <a:prstGeom prst="line">
            <a:avLst/>
          </a:prstGeom>
          <a:noFill/>
          <a:ln w="12700">
            <a:solidFill>
              <a:srgbClr val="9EAEB8"/>
            </a:solidFill>
            <a:prstDash val="solid"/>
          </a:ln>
        </p:spPr>
        <p:txBody>
          <a:bodyPr/>
          <a:lstStyle/>
          <a:p>
            <a:endParaRPr lang="en-US"/>
          </a:p>
        </p:txBody>
      </p:sp>
      <p:sp>
        <p:nvSpPr>
          <p:cNvPr id="24" name="Text 22"/>
          <p:cNvSpPr/>
          <p:nvPr/>
        </p:nvSpPr>
        <p:spPr>
          <a:xfrm>
            <a:off x="6949440" y="2331720"/>
            <a:ext cx="1655064" cy="640080"/>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VARIABLES YOU SEE</a:t>
            </a:r>
            <a:endParaRPr lang="en-US" sz="1050" dirty="0"/>
          </a:p>
        </p:txBody>
      </p:sp>
      <p:sp>
        <p:nvSpPr>
          <p:cNvPr id="25" name="Text 23"/>
          <p:cNvSpPr/>
          <p:nvPr/>
        </p:nvSpPr>
        <p:spPr>
          <a:xfrm>
            <a:off x="8732520" y="2331720"/>
            <a:ext cx="1243584" cy="640080"/>
          </a:xfrm>
          <a:prstGeom prst="rect">
            <a:avLst/>
          </a:prstGeom>
          <a:noFill/>
          <a:ln/>
        </p:spPr>
        <p:txBody>
          <a:bodyPr wrap="square" lIns="0" tIns="0" rIns="0" bIns="0" rtlCol="0" anchor="ctr"/>
          <a:lstStyle/>
          <a:p>
            <a:pPr marL="0" indent="0" algn="l">
              <a:lnSpc>
                <a:spcPct val="115000"/>
              </a:lnSpc>
              <a:buNone/>
            </a:pPr>
            <a:r>
              <a:rPr lang="en-US" sz="1200" dirty="0">
                <a:solidFill>
                  <a:srgbClr val="55656F"/>
                </a:solidFill>
                <a:latin typeface="Courier New" pitchFamily="34" charset="0"/>
                <a:ea typeface="Courier New" pitchFamily="34" charset="-122"/>
                <a:cs typeface="Courier New" pitchFamily="34" charset="-120"/>
              </a:rPr>
              <a:t>the one you guessed</a:t>
            </a:r>
            <a:endParaRPr lang="en-US" sz="1200" dirty="0"/>
          </a:p>
        </p:txBody>
      </p:sp>
      <p:sp>
        <p:nvSpPr>
          <p:cNvPr id="26" name="Text 24"/>
          <p:cNvSpPr/>
          <p:nvPr/>
        </p:nvSpPr>
        <p:spPr>
          <a:xfrm>
            <a:off x="10104120" y="2331720"/>
            <a:ext cx="1335024" cy="640080"/>
          </a:xfrm>
          <a:prstGeom prst="rect">
            <a:avLst/>
          </a:prstGeom>
          <a:noFill/>
          <a:ln/>
        </p:spPr>
        <p:txBody>
          <a:bodyPr wrap="square" lIns="0" tIns="0" rIns="0" bIns="0" rtlCol="0" anchor="ctr"/>
          <a:lstStyle/>
          <a:p>
            <a:pPr marL="0" indent="0" algn="l">
              <a:lnSpc>
                <a:spcPct val="115000"/>
              </a:lnSpc>
              <a:buNone/>
            </a:pPr>
            <a:r>
              <a:rPr lang="en-US" sz="1200" b="1" dirty="0">
                <a:solidFill>
                  <a:srgbClr val="1F6B65"/>
                </a:solidFill>
                <a:latin typeface="Courier New" pitchFamily="34" charset="0"/>
                <a:ea typeface="Courier New" pitchFamily="34" charset="-122"/>
                <a:cs typeface="Courier New" pitchFamily="34" charset="-120"/>
              </a:rPr>
              <a:t>all of them</a:t>
            </a:r>
            <a:endParaRPr lang="en-US" sz="1200" dirty="0"/>
          </a:p>
        </p:txBody>
      </p:sp>
      <p:sp>
        <p:nvSpPr>
          <p:cNvPr id="27" name="Shape 25"/>
          <p:cNvSpPr/>
          <p:nvPr/>
        </p:nvSpPr>
        <p:spPr>
          <a:xfrm>
            <a:off x="6949440" y="2971800"/>
            <a:ext cx="4617720" cy="0"/>
          </a:xfrm>
          <a:prstGeom prst="line">
            <a:avLst/>
          </a:prstGeom>
          <a:noFill/>
          <a:ln w="9525">
            <a:solidFill>
              <a:srgbClr val="D0DAE0"/>
            </a:solidFill>
            <a:prstDash val="solid"/>
          </a:ln>
        </p:spPr>
        <p:txBody>
          <a:bodyPr/>
          <a:lstStyle/>
          <a:p>
            <a:endParaRPr lang="en-US"/>
          </a:p>
        </p:txBody>
      </p:sp>
      <p:sp>
        <p:nvSpPr>
          <p:cNvPr id="28" name="Text 26"/>
          <p:cNvSpPr/>
          <p:nvPr/>
        </p:nvSpPr>
        <p:spPr>
          <a:xfrm>
            <a:off x="6949440" y="2971800"/>
            <a:ext cx="1655064" cy="640080"/>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EDITS YOUR CODE</a:t>
            </a:r>
            <a:endParaRPr lang="en-US" sz="1050" dirty="0"/>
          </a:p>
        </p:txBody>
      </p:sp>
      <p:sp>
        <p:nvSpPr>
          <p:cNvPr id="29" name="Text 27"/>
          <p:cNvSpPr/>
          <p:nvPr/>
        </p:nvSpPr>
        <p:spPr>
          <a:xfrm>
            <a:off x="8732520" y="2971800"/>
            <a:ext cx="1243584" cy="640080"/>
          </a:xfrm>
          <a:prstGeom prst="rect">
            <a:avLst/>
          </a:prstGeom>
          <a:noFill/>
          <a:ln/>
        </p:spPr>
        <p:txBody>
          <a:bodyPr wrap="square" lIns="0" tIns="0" rIns="0" bIns="0" rtlCol="0" anchor="ctr"/>
          <a:lstStyle/>
          <a:p>
            <a:pPr marL="0" indent="0" algn="l">
              <a:lnSpc>
                <a:spcPct val="115000"/>
              </a:lnSpc>
              <a:buNone/>
            </a:pPr>
            <a:r>
              <a:rPr lang="en-US" sz="1200" dirty="0">
                <a:solidFill>
                  <a:srgbClr val="55656F"/>
                </a:solidFill>
                <a:latin typeface="Courier New" pitchFamily="34" charset="0"/>
                <a:ea typeface="Courier New" pitchFamily="34" charset="-122"/>
                <a:cs typeface="Courier New" pitchFamily="34" charset="-120"/>
              </a:rPr>
              <a:t>yes</a:t>
            </a:r>
            <a:endParaRPr lang="en-US" sz="1200" dirty="0"/>
          </a:p>
        </p:txBody>
      </p:sp>
      <p:sp>
        <p:nvSpPr>
          <p:cNvPr id="30" name="Text 28"/>
          <p:cNvSpPr/>
          <p:nvPr/>
        </p:nvSpPr>
        <p:spPr>
          <a:xfrm>
            <a:off x="10104120" y="2971800"/>
            <a:ext cx="1335024" cy="640080"/>
          </a:xfrm>
          <a:prstGeom prst="rect">
            <a:avLst/>
          </a:prstGeom>
          <a:noFill/>
          <a:ln/>
        </p:spPr>
        <p:txBody>
          <a:bodyPr wrap="square" lIns="0" tIns="0" rIns="0" bIns="0" rtlCol="0" anchor="ctr"/>
          <a:lstStyle/>
          <a:p>
            <a:pPr marL="0" indent="0" algn="l">
              <a:lnSpc>
                <a:spcPct val="115000"/>
              </a:lnSpc>
              <a:buNone/>
            </a:pPr>
            <a:r>
              <a:rPr lang="en-US" sz="1200" b="1" dirty="0">
                <a:solidFill>
                  <a:srgbClr val="1F6B65"/>
                </a:solidFill>
                <a:latin typeface="Courier New" pitchFamily="34" charset="0"/>
                <a:ea typeface="Courier New" pitchFamily="34" charset="-122"/>
                <a:cs typeface="Courier New" pitchFamily="34" charset="-120"/>
              </a:rPr>
              <a:t>no</a:t>
            </a:r>
            <a:endParaRPr lang="en-US" sz="1200" dirty="0"/>
          </a:p>
        </p:txBody>
      </p:sp>
      <p:sp>
        <p:nvSpPr>
          <p:cNvPr id="31" name="Shape 29"/>
          <p:cNvSpPr/>
          <p:nvPr/>
        </p:nvSpPr>
        <p:spPr>
          <a:xfrm>
            <a:off x="6949440" y="3611880"/>
            <a:ext cx="4617720" cy="0"/>
          </a:xfrm>
          <a:prstGeom prst="line">
            <a:avLst/>
          </a:prstGeom>
          <a:noFill/>
          <a:ln w="9525">
            <a:solidFill>
              <a:srgbClr val="D0DAE0"/>
            </a:solidFill>
            <a:prstDash val="solid"/>
          </a:ln>
        </p:spPr>
        <p:txBody>
          <a:bodyPr/>
          <a:lstStyle/>
          <a:p>
            <a:endParaRPr lang="en-US"/>
          </a:p>
        </p:txBody>
      </p:sp>
      <p:sp>
        <p:nvSpPr>
          <p:cNvPr id="32" name="Text 30"/>
          <p:cNvSpPr/>
          <p:nvPr/>
        </p:nvSpPr>
        <p:spPr>
          <a:xfrm>
            <a:off x="6949440" y="3611880"/>
            <a:ext cx="1655064" cy="640080"/>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CAN YOU CONTINUE</a:t>
            </a:r>
            <a:endParaRPr lang="en-US" sz="1050" dirty="0"/>
          </a:p>
        </p:txBody>
      </p:sp>
      <p:sp>
        <p:nvSpPr>
          <p:cNvPr id="33" name="Text 31"/>
          <p:cNvSpPr/>
          <p:nvPr/>
        </p:nvSpPr>
        <p:spPr>
          <a:xfrm>
            <a:off x="8732520" y="3611880"/>
            <a:ext cx="1243584" cy="640080"/>
          </a:xfrm>
          <a:prstGeom prst="rect">
            <a:avLst/>
          </a:prstGeom>
          <a:noFill/>
          <a:ln/>
        </p:spPr>
        <p:txBody>
          <a:bodyPr wrap="square" lIns="0" tIns="0" rIns="0" bIns="0" rtlCol="0" anchor="ctr"/>
          <a:lstStyle/>
          <a:p>
            <a:pPr marL="0" indent="0" algn="l">
              <a:lnSpc>
                <a:spcPct val="115000"/>
              </a:lnSpc>
              <a:buNone/>
            </a:pPr>
            <a:r>
              <a:rPr lang="en-US" sz="1200" dirty="0">
                <a:solidFill>
                  <a:srgbClr val="55656F"/>
                </a:solidFill>
                <a:latin typeface="Courier New" pitchFamily="34" charset="0"/>
                <a:ea typeface="Courier New" pitchFamily="34" charset="-122"/>
                <a:cs typeface="Courier New" pitchFamily="34" charset="-120"/>
              </a:rPr>
              <a:t>no — re-run</a:t>
            </a:r>
            <a:endParaRPr lang="en-US" sz="1200" dirty="0"/>
          </a:p>
        </p:txBody>
      </p:sp>
      <p:sp>
        <p:nvSpPr>
          <p:cNvPr id="34" name="Text 32"/>
          <p:cNvSpPr/>
          <p:nvPr/>
        </p:nvSpPr>
        <p:spPr>
          <a:xfrm>
            <a:off x="10104120" y="3611880"/>
            <a:ext cx="1335024" cy="640080"/>
          </a:xfrm>
          <a:prstGeom prst="rect">
            <a:avLst/>
          </a:prstGeom>
          <a:noFill/>
          <a:ln/>
        </p:spPr>
        <p:txBody>
          <a:bodyPr wrap="square" lIns="0" tIns="0" rIns="0" bIns="0" rtlCol="0" anchor="ctr"/>
          <a:lstStyle/>
          <a:p>
            <a:pPr marL="0" indent="0" algn="l">
              <a:lnSpc>
                <a:spcPct val="115000"/>
              </a:lnSpc>
              <a:buNone/>
            </a:pPr>
            <a:r>
              <a:rPr lang="en-US" sz="1200" b="1" dirty="0">
                <a:solidFill>
                  <a:srgbClr val="1F6B65"/>
                </a:solidFill>
                <a:latin typeface="Courier New" pitchFamily="34" charset="0"/>
                <a:ea typeface="Courier New" pitchFamily="34" charset="-122"/>
                <a:cs typeface="Courier New" pitchFamily="34" charset="-120"/>
              </a:rPr>
              <a:t>yes, step</a:t>
            </a:r>
            <a:endParaRPr lang="en-US" sz="1200" dirty="0"/>
          </a:p>
        </p:txBody>
      </p:sp>
      <p:sp>
        <p:nvSpPr>
          <p:cNvPr id="35" name="Shape 33"/>
          <p:cNvSpPr/>
          <p:nvPr/>
        </p:nvSpPr>
        <p:spPr>
          <a:xfrm>
            <a:off x="6949440" y="4251960"/>
            <a:ext cx="4617720" cy="0"/>
          </a:xfrm>
          <a:prstGeom prst="line">
            <a:avLst/>
          </a:prstGeom>
          <a:noFill/>
          <a:ln w="9525">
            <a:solidFill>
              <a:srgbClr val="D0DAE0"/>
            </a:solidFill>
            <a:prstDash val="solid"/>
          </a:ln>
        </p:spPr>
        <p:txBody>
          <a:bodyPr/>
          <a:lstStyle/>
          <a:p>
            <a:endParaRPr lang="en-US"/>
          </a:p>
        </p:txBody>
      </p:sp>
      <p:sp>
        <p:nvSpPr>
          <p:cNvPr id="36" name="Text 34"/>
          <p:cNvSpPr/>
          <p:nvPr/>
        </p:nvSpPr>
        <p:spPr>
          <a:xfrm>
            <a:off x="6949440" y="4251960"/>
            <a:ext cx="1655064" cy="640080"/>
          </a:xfrm>
          <a:prstGeom prst="rect">
            <a:avLst/>
          </a:prstGeom>
          <a:noFill/>
          <a:ln/>
        </p:spPr>
        <p:txBody>
          <a:bodyPr wrap="square" lIns="0" tIns="0" rIns="0" bIns="0" rtlCol="0" anchor="ctr"/>
          <a:lstStyle/>
          <a:p>
            <a:pPr marL="0" indent="0" algn="l">
              <a:lnSpc>
                <a:spcPct val="115000"/>
              </a:lnSpc>
              <a:buNone/>
            </a:pPr>
            <a:r>
              <a:rPr lang="en-US" sz="1050" dirty="0">
                <a:solidFill>
                  <a:srgbClr val="55656F"/>
                </a:solidFill>
                <a:latin typeface="Courier New" pitchFamily="34" charset="0"/>
                <a:ea typeface="Courier New" pitchFamily="34" charset="-122"/>
                <a:cs typeface="Courier New" pitchFamily="34" charset="-120"/>
              </a:rPr>
              <a:t>LEAVES LITTER</a:t>
            </a:r>
            <a:endParaRPr lang="en-US" sz="1050" dirty="0"/>
          </a:p>
        </p:txBody>
      </p:sp>
      <p:sp>
        <p:nvSpPr>
          <p:cNvPr id="37" name="Text 35"/>
          <p:cNvSpPr/>
          <p:nvPr/>
        </p:nvSpPr>
        <p:spPr>
          <a:xfrm>
            <a:off x="8732520" y="4251960"/>
            <a:ext cx="1243584" cy="640080"/>
          </a:xfrm>
          <a:prstGeom prst="rect">
            <a:avLst/>
          </a:prstGeom>
          <a:noFill/>
          <a:ln/>
        </p:spPr>
        <p:txBody>
          <a:bodyPr wrap="square" lIns="0" tIns="0" rIns="0" bIns="0" rtlCol="0" anchor="ctr"/>
          <a:lstStyle/>
          <a:p>
            <a:pPr marL="0" indent="0" algn="l">
              <a:lnSpc>
                <a:spcPct val="115000"/>
              </a:lnSpc>
              <a:buNone/>
            </a:pPr>
            <a:r>
              <a:rPr lang="en-US" sz="1200" dirty="0">
                <a:solidFill>
                  <a:srgbClr val="55656F"/>
                </a:solidFill>
                <a:latin typeface="Courier New" pitchFamily="34" charset="0"/>
                <a:ea typeface="Courier New" pitchFamily="34" charset="-122"/>
                <a:cs typeface="Courier New" pitchFamily="34" charset="-120"/>
              </a:rPr>
              <a:t>forgotten prints</a:t>
            </a:r>
            <a:endParaRPr lang="en-US" sz="1200" dirty="0"/>
          </a:p>
        </p:txBody>
      </p:sp>
      <p:sp>
        <p:nvSpPr>
          <p:cNvPr id="38" name="Text 36"/>
          <p:cNvSpPr/>
          <p:nvPr/>
        </p:nvSpPr>
        <p:spPr>
          <a:xfrm>
            <a:off x="10104120" y="4251960"/>
            <a:ext cx="1335024" cy="640080"/>
          </a:xfrm>
          <a:prstGeom prst="rect">
            <a:avLst/>
          </a:prstGeom>
          <a:noFill/>
          <a:ln/>
        </p:spPr>
        <p:txBody>
          <a:bodyPr wrap="square" lIns="0" tIns="0" rIns="0" bIns="0" rtlCol="0" anchor="ctr"/>
          <a:lstStyle/>
          <a:p>
            <a:pPr marL="0" indent="0" algn="l">
              <a:lnSpc>
                <a:spcPct val="115000"/>
              </a:lnSpc>
              <a:buNone/>
            </a:pPr>
            <a:r>
              <a:rPr lang="en-US" sz="1200" b="1" dirty="0">
                <a:solidFill>
                  <a:srgbClr val="1F6B65"/>
                </a:solidFill>
                <a:latin typeface="Courier New" pitchFamily="34" charset="0"/>
                <a:ea typeface="Courier New" pitchFamily="34" charset="-122"/>
                <a:cs typeface="Courier New" pitchFamily="34" charset="-120"/>
              </a:rPr>
              <a:t>nothing</a:t>
            </a:r>
            <a:endParaRPr lang="en-US" sz="1200" dirty="0"/>
          </a:p>
        </p:txBody>
      </p:sp>
      <p:sp>
        <p:nvSpPr>
          <p:cNvPr id="39" name="Shape 37"/>
          <p:cNvSpPr/>
          <p:nvPr/>
        </p:nvSpPr>
        <p:spPr>
          <a:xfrm>
            <a:off x="6949440" y="4892040"/>
            <a:ext cx="4617720" cy="0"/>
          </a:xfrm>
          <a:prstGeom prst="line">
            <a:avLst/>
          </a:prstGeom>
          <a:noFill/>
          <a:ln w="9525">
            <a:solidFill>
              <a:srgbClr val="D0DAE0"/>
            </a:solidFill>
            <a:prstDash val="solid"/>
          </a:ln>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731520"/>
            <a:ext cx="11002975" cy="676656"/>
          </a:xfrm>
          <a:prstGeom prst="rect">
            <a:avLst/>
          </a:prstGeom>
          <a:noFill/>
          <a:ln/>
        </p:spPr>
        <p:txBody>
          <a:bodyPr wrap="square" lIns="0" tIns="0" rIns="0" bIns="0" rtlCol="0" anchor="t"/>
          <a:lstStyle/>
          <a:p>
            <a:pPr marL="0" indent="0">
              <a:buNone/>
            </a:pPr>
            <a:r>
              <a:rPr lang="en-US" sz="3300" b="1" dirty="0">
                <a:solidFill>
                  <a:srgbClr val="121C22"/>
                </a:solidFill>
                <a:latin typeface="Calibri" pitchFamily="34" charset="0"/>
                <a:ea typeface="Calibri" pitchFamily="34" charset="-122"/>
                <a:cs typeface="Calibri" pitchFamily="34" charset="-120"/>
              </a:rPr>
              <a:t>How to ask so that you get a useful answer</a:t>
            </a:r>
            <a:endParaRPr lang="en-US" sz="3300" dirty="0"/>
          </a:p>
        </p:txBody>
      </p:sp>
      <p:sp>
        <p:nvSpPr>
          <p:cNvPr id="4" name="Text 2"/>
          <p:cNvSpPr/>
          <p:nvPr/>
        </p:nvSpPr>
        <p:spPr>
          <a:xfrm>
            <a:off x="960120" y="2011680"/>
            <a:ext cx="2267712"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WHAT TO INCLUDE</a:t>
            </a:r>
            <a:endParaRPr lang="en-US" sz="950" dirty="0"/>
          </a:p>
        </p:txBody>
      </p:sp>
      <p:sp>
        <p:nvSpPr>
          <p:cNvPr id="5" name="Text 3"/>
          <p:cNvSpPr/>
          <p:nvPr/>
        </p:nvSpPr>
        <p:spPr>
          <a:xfrm>
            <a:off x="3337560" y="2011680"/>
            <a:ext cx="3547872"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WHY</a:t>
            </a:r>
            <a:endParaRPr lang="en-US" sz="950" dirty="0"/>
          </a:p>
        </p:txBody>
      </p:sp>
      <p:sp>
        <p:nvSpPr>
          <p:cNvPr id="6" name="Shape 4"/>
          <p:cNvSpPr/>
          <p:nvPr/>
        </p:nvSpPr>
        <p:spPr>
          <a:xfrm>
            <a:off x="594360" y="2286000"/>
            <a:ext cx="6400800" cy="0"/>
          </a:xfrm>
          <a:prstGeom prst="line">
            <a:avLst/>
          </a:prstGeom>
          <a:noFill/>
          <a:ln w="12700">
            <a:solidFill>
              <a:srgbClr val="9EAEB8"/>
            </a:solidFill>
            <a:prstDash val="solid"/>
          </a:ln>
        </p:spPr>
        <p:txBody>
          <a:bodyPr/>
          <a:lstStyle/>
          <a:p>
            <a:endParaRPr lang="en-US"/>
          </a:p>
        </p:txBody>
      </p:sp>
      <p:sp>
        <p:nvSpPr>
          <p:cNvPr id="7" name="Text 5"/>
          <p:cNvSpPr/>
          <p:nvPr/>
        </p:nvSpPr>
        <p:spPr>
          <a:xfrm>
            <a:off x="594360" y="2286000"/>
            <a:ext cx="237744" cy="658368"/>
          </a:xfrm>
          <a:prstGeom prst="rect">
            <a:avLst/>
          </a:prstGeom>
          <a:noFill/>
          <a:ln/>
        </p:spPr>
        <p:txBody>
          <a:bodyPr wrap="square" lIns="0" tIns="0" rIns="0" bIns="0" rtlCol="0" anchor="ctr"/>
          <a:lstStyle/>
          <a:p>
            <a:pPr marL="0" indent="0" algn="l">
              <a:lnSpc>
                <a:spcPct val="115000"/>
              </a:lnSpc>
              <a:buNone/>
            </a:pPr>
            <a:r>
              <a:rPr lang="en-US" sz="1050" b="1" dirty="0">
                <a:solidFill>
                  <a:srgbClr val="C07A10"/>
                </a:solidFill>
                <a:latin typeface="Courier New" pitchFamily="34" charset="0"/>
                <a:ea typeface="Courier New" pitchFamily="34" charset="-122"/>
                <a:cs typeface="Courier New" pitchFamily="34" charset="-120"/>
              </a:rPr>
              <a:t>1</a:t>
            </a:r>
            <a:endParaRPr lang="en-US" sz="1050" dirty="0"/>
          </a:p>
        </p:txBody>
      </p:sp>
      <p:sp>
        <p:nvSpPr>
          <p:cNvPr id="8" name="Text 6"/>
          <p:cNvSpPr/>
          <p:nvPr/>
        </p:nvSpPr>
        <p:spPr>
          <a:xfrm>
            <a:off x="960120" y="2286000"/>
            <a:ext cx="2249424" cy="658368"/>
          </a:xfrm>
          <a:prstGeom prst="rect">
            <a:avLst/>
          </a:prstGeom>
          <a:noFill/>
          <a:ln/>
        </p:spPr>
        <p:txBody>
          <a:bodyPr wrap="square" lIns="0" tIns="0" rIns="0" bIns="0" rtlCol="0" anchor="ctr"/>
          <a:lstStyle/>
          <a:p>
            <a:pPr marL="0" indent="0" algn="l">
              <a:lnSpc>
                <a:spcPct val="115000"/>
              </a:lnSpc>
              <a:buNone/>
            </a:pPr>
            <a:r>
              <a:rPr lang="en-US" sz="1300" b="1" dirty="0">
                <a:solidFill>
                  <a:srgbClr val="121C22"/>
                </a:solidFill>
                <a:latin typeface="Calibri" pitchFamily="34" charset="0"/>
                <a:ea typeface="Calibri" pitchFamily="34" charset="-122"/>
                <a:cs typeface="Calibri" pitchFamily="34" charset="-120"/>
              </a:rPr>
              <a:t>What I was trying to do</a:t>
            </a:r>
            <a:endParaRPr lang="en-US" sz="1300" dirty="0"/>
          </a:p>
        </p:txBody>
      </p:sp>
      <p:sp>
        <p:nvSpPr>
          <p:cNvPr id="9" name="Text 7"/>
          <p:cNvSpPr/>
          <p:nvPr/>
        </p:nvSpPr>
        <p:spPr>
          <a:xfrm>
            <a:off x="3337560" y="2286000"/>
            <a:ext cx="3529584" cy="658368"/>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one sentence of goal, not just the symptom</a:t>
            </a:r>
            <a:endParaRPr lang="en-US" sz="1250" dirty="0"/>
          </a:p>
        </p:txBody>
      </p:sp>
      <p:sp>
        <p:nvSpPr>
          <p:cNvPr id="10" name="Shape 8"/>
          <p:cNvSpPr/>
          <p:nvPr/>
        </p:nvSpPr>
        <p:spPr>
          <a:xfrm>
            <a:off x="594360" y="2944368"/>
            <a:ext cx="6400800" cy="0"/>
          </a:xfrm>
          <a:prstGeom prst="line">
            <a:avLst/>
          </a:prstGeom>
          <a:noFill/>
          <a:ln w="9525">
            <a:solidFill>
              <a:srgbClr val="D0DAE0"/>
            </a:solidFill>
            <a:prstDash val="solid"/>
          </a:ln>
        </p:spPr>
        <p:txBody>
          <a:bodyPr/>
          <a:lstStyle/>
          <a:p>
            <a:endParaRPr lang="en-US"/>
          </a:p>
        </p:txBody>
      </p:sp>
      <p:sp>
        <p:nvSpPr>
          <p:cNvPr id="11" name="Text 9"/>
          <p:cNvSpPr/>
          <p:nvPr/>
        </p:nvSpPr>
        <p:spPr>
          <a:xfrm>
            <a:off x="594360" y="2944368"/>
            <a:ext cx="237744" cy="658368"/>
          </a:xfrm>
          <a:prstGeom prst="rect">
            <a:avLst/>
          </a:prstGeom>
          <a:noFill/>
          <a:ln/>
        </p:spPr>
        <p:txBody>
          <a:bodyPr wrap="square" lIns="0" tIns="0" rIns="0" bIns="0" rtlCol="0" anchor="ctr"/>
          <a:lstStyle/>
          <a:p>
            <a:pPr marL="0" indent="0" algn="l">
              <a:lnSpc>
                <a:spcPct val="115000"/>
              </a:lnSpc>
              <a:buNone/>
            </a:pPr>
            <a:r>
              <a:rPr lang="en-US" sz="1050" b="1" dirty="0">
                <a:solidFill>
                  <a:srgbClr val="C07A10"/>
                </a:solidFill>
                <a:latin typeface="Courier New" pitchFamily="34" charset="0"/>
                <a:ea typeface="Courier New" pitchFamily="34" charset="-122"/>
                <a:cs typeface="Courier New" pitchFamily="34" charset="-120"/>
              </a:rPr>
              <a:t>2</a:t>
            </a:r>
            <a:endParaRPr lang="en-US" sz="1050" dirty="0"/>
          </a:p>
        </p:txBody>
      </p:sp>
      <p:sp>
        <p:nvSpPr>
          <p:cNvPr id="12" name="Text 10"/>
          <p:cNvSpPr/>
          <p:nvPr/>
        </p:nvSpPr>
        <p:spPr>
          <a:xfrm>
            <a:off x="960120" y="2944368"/>
            <a:ext cx="2249424" cy="658368"/>
          </a:xfrm>
          <a:prstGeom prst="rect">
            <a:avLst/>
          </a:prstGeom>
          <a:noFill/>
          <a:ln/>
        </p:spPr>
        <p:txBody>
          <a:bodyPr wrap="square" lIns="0" tIns="0" rIns="0" bIns="0" rtlCol="0" anchor="ctr"/>
          <a:lstStyle/>
          <a:p>
            <a:pPr marL="0" indent="0" algn="l">
              <a:lnSpc>
                <a:spcPct val="115000"/>
              </a:lnSpc>
              <a:buNone/>
            </a:pPr>
            <a:r>
              <a:rPr lang="en-US" sz="1300" b="1" dirty="0">
                <a:solidFill>
                  <a:srgbClr val="121C22"/>
                </a:solidFill>
                <a:latin typeface="Calibri" pitchFamily="34" charset="0"/>
                <a:ea typeface="Calibri" pitchFamily="34" charset="-122"/>
                <a:cs typeface="Calibri" pitchFamily="34" charset="-120"/>
              </a:rPr>
              <a:t>What I ran</a:t>
            </a:r>
            <a:endParaRPr lang="en-US" sz="1300" dirty="0"/>
          </a:p>
        </p:txBody>
      </p:sp>
      <p:sp>
        <p:nvSpPr>
          <p:cNvPr id="13" name="Text 11"/>
          <p:cNvSpPr/>
          <p:nvPr/>
        </p:nvSpPr>
        <p:spPr>
          <a:xfrm>
            <a:off x="3337560" y="2944368"/>
            <a:ext cx="3529584" cy="658368"/>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the exact command, or the smallest code that shows a problem</a:t>
            </a:r>
            <a:endParaRPr lang="en-US" sz="1250" dirty="0"/>
          </a:p>
        </p:txBody>
      </p:sp>
      <p:sp>
        <p:nvSpPr>
          <p:cNvPr id="14" name="Shape 12"/>
          <p:cNvSpPr/>
          <p:nvPr/>
        </p:nvSpPr>
        <p:spPr>
          <a:xfrm>
            <a:off x="594360" y="3602736"/>
            <a:ext cx="6400800" cy="0"/>
          </a:xfrm>
          <a:prstGeom prst="line">
            <a:avLst/>
          </a:prstGeom>
          <a:noFill/>
          <a:ln w="9525">
            <a:solidFill>
              <a:srgbClr val="D0DAE0"/>
            </a:solidFill>
            <a:prstDash val="solid"/>
          </a:ln>
        </p:spPr>
        <p:txBody>
          <a:bodyPr/>
          <a:lstStyle/>
          <a:p>
            <a:endParaRPr lang="en-US"/>
          </a:p>
        </p:txBody>
      </p:sp>
      <p:sp>
        <p:nvSpPr>
          <p:cNvPr id="15" name="Text 13"/>
          <p:cNvSpPr/>
          <p:nvPr/>
        </p:nvSpPr>
        <p:spPr>
          <a:xfrm>
            <a:off x="594360" y="3602736"/>
            <a:ext cx="237744" cy="658368"/>
          </a:xfrm>
          <a:prstGeom prst="rect">
            <a:avLst/>
          </a:prstGeom>
          <a:noFill/>
          <a:ln/>
        </p:spPr>
        <p:txBody>
          <a:bodyPr wrap="square" lIns="0" tIns="0" rIns="0" bIns="0" rtlCol="0" anchor="ctr"/>
          <a:lstStyle/>
          <a:p>
            <a:pPr marL="0" indent="0" algn="l">
              <a:lnSpc>
                <a:spcPct val="115000"/>
              </a:lnSpc>
              <a:buNone/>
            </a:pPr>
            <a:r>
              <a:rPr lang="en-US" sz="1050" b="1" dirty="0">
                <a:solidFill>
                  <a:srgbClr val="C07A10"/>
                </a:solidFill>
                <a:latin typeface="Courier New" pitchFamily="34" charset="0"/>
                <a:ea typeface="Courier New" pitchFamily="34" charset="-122"/>
                <a:cs typeface="Courier New" pitchFamily="34" charset="-120"/>
              </a:rPr>
              <a:t>3</a:t>
            </a:r>
            <a:endParaRPr lang="en-US" sz="1050" dirty="0"/>
          </a:p>
        </p:txBody>
      </p:sp>
      <p:sp>
        <p:nvSpPr>
          <p:cNvPr id="16" name="Text 14"/>
          <p:cNvSpPr/>
          <p:nvPr/>
        </p:nvSpPr>
        <p:spPr>
          <a:xfrm>
            <a:off x="960120" y="3602736"/>
            <a:ext cx="2249424" cy="658368"/>
          </a:xfrm>
          <a:prstGeom prst="rect">
            <a:avLst/>
          </a:prstGeom>
          <a:noFill/>
          <a:ln/>
        </p:spPr>
        <p:txBody>
          <a:bodyPr wrap="square" lIns="0" tIns="0" rIns="0" bIns="0" rtlCol="0" anchor="ctr"/>
          <a:lstStyle/>
          <a:p>
            <a:pPr marL="0" indent="0" algn="l">
              <a:lnSpc>
                <a:spcPct val="115000"/>
              </a:lnSpc>
              <a:buNone/>
            </a:pPr>
            <a:r>
              <a:rPr lang="en-US" sz="1300" b="1" dirty="0">
                <a:solidFill>
                  <a:srgbClr val="121C22"/>
                </a:solidFill>
                <a:latin typeface="Calibri" pitchFamily="34" charset="0"/>
                <a:ea typeface="Calibri" pitchFamily="34" charset="-122"/>
                <a:cs typeface="Calibri" pitchFamily="34" charset="-120"/>
              </a:rPr>
              <a:t>What I expected</a:t>
            </a:r>
            <a:endParaRPr lang="en-US" sz="1300" dirty="0"/>
          </a:p>
        </p:txBody>
      </p:sp>
      <p:sp>
        <p:nvSpPr>
          <p:cNvPr id="17" name="Text 15"/>
          <p:cNvSpPr/>
          <p:nvPr/>
        </p:nvSpPr>
        <p:spPr>
          <a:xfrm>
            <a:off x="3337560" y="3602736"/>
            <a:ext cx="3529584" cy="658368"/>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so we can tell whether your expectation is the bug</a:t>
            </a:r>
            <a:endParaRPr lang="en-US" sz="1250" dirty="0"/>
          </a:p>
        </p:txBody>
      </p:sp>
      <p:sp>
        <p:nvSpPr>
          <p:cNvPr id="18" name="Shape 16"/>
          <p:cNvSpPr/>
          <p:nvPr/>
        </p:nvSpPr>
        <p:spPr>
          <a:xfrm>
            <a:off x="594360" y="4261104"/>
            <a:ext cx="6400800" cy="0"/>
          </a:xfrm>
          <a:prstGeom prst="line">
            <a:avLst/>
          </a:prstGeom>
          <a:noFill/>
          <a:ln w="9525">
            <a:solidFill>
              <a:srgbClr val="D0DAE0"/>
            </a:solidFill>
            <a:prstDash val="solid"/>
          </a:ln>
        </p:spPr>
        <p:txBody>
          <a:bodyPr/>
          <a:lstStyle/>
          <a:p>
            <a:endParaRPr lang="en-US"/>
          </a:p>
        </p:txBody>
      </p:sp>
      <p:sp>
        <p:nvSpPr>
          <p:cNvPr id="19" name="Text 17"/>
          <p:cNvSpPr/>
          <p:nvPr/>
        </p:nvSpPr>
        <p:spPr>
          <a:xfrm>
            <a:off x="594360" y="4261104"/>
            <a:ext cx="237744" cy="658368"/>
          </a:xfrm>
          <a:prstGeom prst="rect">
            <a:avLst/>
          </a:prstGeom>
          <a:noFill/>
          <a:ln/>
        </p:spPr>
        <p:txBody>
          <a:bodyPr wrap="square" lIns="0" tIns="0" rIns="0" bIns="0" rtlCol="0" anchor="ctr"/>
          <a:lstStyle/>
          <a:p>
            <a:pPr marL="0" indent="0" algn="l">
              <a:lnSpc>
                <a:spcPct val="115000"/>
              </a:lnSpc>
              <a:buNone/>
            </a:pPr>
            <a:r>
              <a:rPr lang="en-US" sz="1050" b="1" dirty="0">
                <a:solidFill>
                  <a:srgbClr val="C07A10"/>
                </a:solidFill>
                <a:latin typeface="Courier New" pitchFamily="34" charset="0"/>
                <a:ea typeface="Courier New" pitchFamily="34" charset="-122"/>
                <a:cs typeface="Courier New" pitchFamily="34" charset="-120"/>
              </a:rPr>
              <a:t>4</a:t>
            </a:r>
            <a:endParaRPr lang="en-US" sz="1050" dirty="0"/>
          </a:p>
        </p:txBody>
      </p:sp>
      <p:sp>
        <p:nvSpPr>
          <p:cNvPr id="20" name="Text 18"/>
          <p:cNvSpPr/>
          <p:nvPr/>
        </p:nvSpPr>
        <p:spPr>
          <a:xfrm>
            <a:off x="960120" y="4261104"/>
            <a:ext cx="2249424" cy="658368"/>
          </a:xfrm>
          <a:prstGeom prst="rect">
            <a:avLst/>
          </a:prstGeom>
          <a:noFill/>
          <a:ln/>
        </p:spPr>
        <p:txBody>
          <a:bodyPr wrap="square" lIns="0" tIns="0" rIns="0" bIns="0" rtlCol="0" anchor="ctr"/>
          <a:lstStyle/>
          <a:p>
            <a:pPr marL="0" indent="0" algn="l">
              <a:lnSpc>
                <a:spcPct val="115000"/>
              </a:lnSpc>
              <a:buNone/>
            </a:pPr>
            <a:r>
              <a:rPr lang="en-US" sz="1300" b="1" dirty="0">
                <a:solidFill>
                  <a:srgbClr val="121C22"/>
                </a:solidFill>
                <a:latin typeface="Calibri" pitchFamily="34" charset="0"/>
                <a:ea typeface="Calibri" pitchFamily="34" charset="-122"/>
                <a:cs typeface="Calibri" pitchFamily="34" charset="-120"/>
              </a:rPr>
              <a:t>What really happened</a:t>
            </a:r>
            <a:endParaRPr lang="en-US" sz="1300" dirty="0"/>
          </a:p>
        </p:txBody>
      </p:sp>
      <p:sp>
        <p:nvSpPr>
          <p:cNvPr id="21" name="Text 19"/>
          <p:cNvSpPr/>
          <p:nvPr/>
        </p:nvSpPr>
        <p:spPr>
          <a:xfrm>
            <a:off x="3337560" y="4261104"/>
            <a:ext cx="3529584" cy="658368"/>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the whole error, copy-pasted as text — not “it says error”, not a photo of your screen</a:t>
            </a:r>
            <a:endParaRPr lang="en-US" sz="1250" dirty="0"/>
          </a:p>
        </p:txBody>
      </p:sp>
      <p:sp>
        <p:nvSpPr>
          <p:cNvPr id="22" name="Shape 20"/>
          <p:cNvSpPr/>
          <p:nvPr/>
        </p:nvSpPr>
        <p:spPr>
          <a:xfrm>
            <a:off x="594360" y="4919472"/>
            <a:ext cx="6400800" cy="0"/>
          </a:xfrm>
          <a:prstGeom prst="line">
            <a:avLst/>
          </a:prstGeom>
          <a:noFill/>
          <a:ln w="9525">
            <a:solidFill>
              <a:srgbClr val="D0DAE0"/>
            </a:solidFill>
            <a:prstDash val="solid"/>
          </a:ln>
        </p:spPr>
        <p:txBody>
          <a:bodyPr/>
          <a:lstStyle/>
          <a:p>
            <a:endParaRPr lang="en-US"/>
          </a:p>
        </p:txBody>
      </p:sp>
      <p:sp>
        <p:nvSpPr>
          <p:cNvPr id="23" name="Text 21"/>
          <p:cNvSpPr/>
          <p:nvPr/>
        </p:nvSpPr>
        <p:spPr>
          <a:xfrm>
            <a:off x="594360" y="4919472"/>
            <a:ext cx="237744" cy="658368"/>
          </a:xfrm>
          <a:prstGeom prst="rect">
            <a:avLst/>
          </a:prstGeom>
          <a:noFill/>
          <a:ln/>
        </p:spPr>
        <p:txBody>
          <a:bodyPr wrap="square" lIns="0" tIns="0" rIns="0" bIns="0" rtlCol="0" anchor="ctr"/>
          <a:lstStyle/>
          <a:p>
            <a:pPr marL="0" indent="0" algn="l">
              <a:lnSpc>
                <a:spcPct val="115000"/>
              </a:lnSpc>
              <a:buNone/>
            </a:pPr>
            <a:r>
              <a:rPr lang="en-US" sz="1050" b="1" dirty="0">
                <a:solidFill>
                  <a:srgbClr val="C07A10"/>
                </a:solidFill>
                <a:latin typeface="Courier New" pitchFamily="34" charset="0"/>
                <a:ea typeface="Courier New" pitchFamily="34" charset="-122"/>
                <a:cs typeface="Courier New" pitchFamily="34" charset="-120"/>
              </a:rPr>
              <a:t>5</a:t>
            </a:r>
            <a:endParaRPr lang="en-US" sz="1050" dirty="0"/>
          </a:p>
        </p:txBody>
      </p:sp>
      <p:sp>
        <p:nvSpPr>
          <p:cNvPr id="24" name="Text 22"/>
          <p:cNvSpPr/>
          <p:nvPr/>
        </p:nvSpPr>
        <p:spPr>
          <a:xfrm>
            <a:off x="960120" y="4919472"/>
            <a:ext cx="2249424" cy="658368"/>
          </a:xfrm>
          <a:prstGeom prst="rect">
            <a:avLst/>
          </a:prstGeom>
          <a:noFill/>
          <a:ln/>
        </p:spPr>
        <p:txBody>
          <a:bodyPr wrap="square" lIns="0" tIns="0" rIns="0" bIns="0" rtlCol="0" anchor="ctr"/>
          <a:lstStyle/>
          <a:p>
            <a:pPr marL="0" indent="0" algn="l">
              <a:lnSpc>
                <a:spcPct val="115000"/>
              </a:lnSpc>
              <a:buNone/>
            </a:pPr>
            <a:r>
              <a:rPr lang="en-US" sz="1300" b="1" dirty="0">
                <a:solidFill>
                  <a:srgbClr val="121C22"/>
                </a:solidFill>
                <a:latin typeface="Calibri" pitchFamily="34" charset="0"/>
                <a:ea typeface="Calibri" pitchFamily="34" charset="-122"/>
                <a:cs typeface="Calibri" pitchFamily="34" charset="-120"/>
              </a:rPr>
              <a:t>What I already tried</a:t>
            </a:r>
            <a:endParaRPr lang="en-US" sz="1300" dirty="0"/>
          </a:p>
        </p:txBody>
      </p:sp>
      <p:sp>
        <p:nvSpPr>
          <p:cNvPr id="25" name="Text 23"/>
          <p:cNvSpPr/>
          <p:nvPr/>
        </p:nvSpPr>
        <p:spPr>
          <a:xfrm>
            <a:off x="3337560" y="4919472"/>
            <a:ext cx="3529584" cy="658368"/>
          </a:xfrm>
          <a:prstGeom prst="rect">
            <a:avLst/>
          </a:prstGeom>
          <a:noFill/>
          <a:ln/>
        </p:spPr>
        <p:txBody>
          <a:bodyPr wrap="square" lIns="0" tIns="0" rIns="0" bIns="0" rtlCol="0" anchor="ctr"/>
          <a:lstStyle/>
          <a:p>
            <a:pPr marL="0" indent="0" algn="l">
              <a:lnSpc>
                <a:spcPct val="115000"/>
              </a:lnSpc>
              <a:buNone/>
            </a:pPr>
            <a:r>
              <a:rPr lang="en-US" sz="1250" dirty="0">
                <a:solidFill>
                  <a:srgbClr val="55656F"/>
                </a:solidFill>
                <a:latin typeface="Calibri" pitchFamily="34" charset="0"/>
                <a:ea typeface="Calibri" pitchFamily="34" charset="-122"/>
                <a:cs typeface="Calibri" pitchFamily="34" charset="-120"/>
              </a:rPr>
              <a:t>saves everyone repeating your last hour</a:t>
            </a:r>
            <a:endParaRPr lang="en-US" sz="1250" dirty="0"/>
          </a:p>
        </p:txBody>
      </p:sp>
      <p:sp>
        <p:nvSpPr>
          <p:cNvPr id="26" name="Shape 24"/>
          <p:cNvSpPr/>
          <p:nvPr/>
        </p:nvSpPr>
        <p:spPr>
          <a:xfrm>
            <a:off x="594360" y="5577840"/>
            <a:ext cx="6400800" cy="0"/>
          </a:xfrm>
          <a:prstGeom prst="line">
            <a:avLst/>
          </a:prstGeom>
          <a:noFill/>
          <a:ln w="9525">
            <a:solidFill>
              <a:srgbClr val="D0DAE0"/>
            </a:solidFill>
            <a:prstDash val="solid"/>
          </a:ln>
        </p:spPr>
        <p:txBody>
          <a:bodyPr/>
          <a:lstStyle/>
          <a:p>
            <a:endParaRPr lang="en-US"/>
          </a:p>
        </p:txBody>
      </p:sp>
      <p:sp>
        <p:nvSpPr>
          <p:cNvPr id="27" name="Shape 25"/>
          <p:cNvSpPr/>
          <p:nvPr/>
        </p:nvSpPr>
        <p:spPr>
          <a:xfrm>
            <a:off x="7315200" y="2011680"/>
            <a:ext cx="0" cy="3931920"/>
          </a:xfrm>
          <a:prstGeom prst="line">
            <a:avLst/>
          </a:prstGeom>
          <a:noFill/>
          <a:ln w="9525">
            <a:solidFill>
              <a:srgbClr val="D0DAE0"/>
            </a:solidFill>
            <a:prstDash val="solid"/>
          </a:ln>
        </p:spPr>
        <p:txBody>
          <a:bodyPr/>
          <a:lstStyle/>
          <a:p>
            <a:endParaRPr lang="en-US"/>
          </a:p>
        </p:txBody>
      </p:sp>
      <p:sp>
        <p:nvSpPr>
          <p:cNvPr id="28" name="Text 26"/>
          <p:cNvSpPr/>
          <p:nvPr/>
        </p:nvSpPr>
        <p:spPr>
          <a:xfrm>
            <a:off x="7726680" y="2011680"/>
            <a:ext cx="3840480" cy="228600"/>
          </a:xfrm>
          <a:prstGeom prst="rect">
            <a:avLst/>
          </a:prstGeom>
          <a:noFill/>
          <a:ln/>
        </p:spPr>
        <p:txBody>
          <a:bodyPr wrap="square" lIns="0" tIns="0" rIns="0" bIns="0" rtlCol="0" anchor="ctr"/>
          <a:lstStyle/>
          <a:p>
            <a:pPr marL="0" indent="0" algn="l">
              <a:buNone/>
            </a:pPr>
            <a:r>
              <a:rPr lang="en-US" sz="950" b="1" kern="0" spc="110" dirty="0">
                <a:solidFill>
                  <a:srgbClr val="C07A10"/>
                </a:solidFill>
                <a:latin typeface="Courier New" pitchFamily="34" charset="0"/>
                <a:ea typeface="Courier New" pitchFamily="34" charset="-122"/>
                <a:cs typeface="Courier New" pitchFamily="34" charset="-120"/>
              </a:rPr>
              <a:t>THE TRICK NOBODY WARNS YOU ABOUT</a:t>
            </a:r>
            <a:endParaRPr lang="en-US" sz="950" dirty="0"/>
          </a:p>
        </p:txBody>
      </p:sp>
      <p:sp>
        <p:nvSpPr>
          <p:cNvPr id="29" name="Text 27"/>
          <p:cNvSpPr/>
          <p:nvPr/>
        </p:nvSpPr>
        <p:spPr>
          <a:xfrm>
            <a:off x="7726680" y="2286000"/>
            <a:ext cx="3840480" cy="1005840"/>
          </a:xfrm>
          <a:prstGeom prst="rect">
            <a:avLst/>
          </a:prstGeom>
          <a:noFill/>
          <a:ln/>
        </p:spPr>
        <p:txBody>
          <a:bodyPr wrap="square" lIns="0" tIns="0" rIns="0" bIns="0" rtlCol="0" anchor="t"/>
          <a:lstStyle/>
          <a:p>
            <a:pPr marL="0" indent="0">
              <a:lnSpc>
                <a:spcPct val="125000"/>
              </a:lnSpc>
              <a:buNone/>
            </a:pPr>
            <a:r>
              <a:rPr lang="en-US" sz="1300" dirty="0">
                <a:solidFill>
                  <a:srgbClr val="55656F"/>
                </a:solidFill>
                <a:latin typeface="Calibri" pitchFamily="34" charset="0"/>
                <a:ea typeface="Calibri" pitchFamily="34" charset="-122"/>
                <a:cs typeface="Calibri" pitchFamily="34" charset="-120"/>
              </a:rPr>
              <a:t>Writing this out can help you solve your problem before you send it off sometimes  That is not wasted effort — that is the technique.</a:t>
            </a:r>
            <a:endParaRPr lang="en-US" sz="1300" dirty="0"/>
          </a:p>
        </p:txBody>
      </p:sp>
      <p:sp>
        <p:nvSpPr>
          <p:cNvPr id="30" name="Shape 28"/>
          <p:cNvSpPr/>
          <p:nvPr/>
        </p:nvSpPr>
        <p:spPr>
          <a:xfrm>
            <a:off x="7726680" y="3429000"/>
            <a:ext cx="3840480" cy="0"/>
          </a:xfrm>
          <a:prstGeom prst="line">
            <a:avLst/>
          </a:prstGeom>
          <a:noFill/>
          <a:ln w="9525">
            <a:solidFill>
              <a:srgbClr val="D0DAE0"/>
            </a:solidFill>
            <a:prstDash val="solid"/>
          </a:ln>
        </p:spPr>
        <p:txBody>
          <a:bodyPr/>
          <a:lstStyle/>
          <a:p>
            <a:endParaRPr lang="en-US"/>
          </a:p>
        </p:txBody>
      </p:sp>
      <p:sp>
        <p:nvSpPr>
          <p:cNvPr id="31" name="Text 29"/>
          <p:cNvSpPr/>
          <p:nvPr/>
        </p:nvSpPr>
        <p:spPr>
          <a:xfrm>
            <a:off x="7726680" y="3584448"/>
            <a:ext cx="3840480"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IT HAS A NAME</a:t>
            </a:r>
            <a:endParaRPr lang="en-US" sz="950" dirty="0"/>
          </a:p>
        </p:txBody>
      </p:sp>
      <p:sp>
        <p:nvSpPr>
          <p:cNvPr id="32" name="Text 30"/>
          <p:cNvSpPr/>
          <p:nvPr/>
        </p:nvSpPr>
        <p:spPr>
          <a:xfrm>
            <a:off x="7726680" y="3840480"/>
            <a:ext cx="3840480" cy="274320"/>
          </a:xfrm>
          <a:prstGeom prst="rect">
            <a:avLst/>
          </a:prstGeom>
          <a:noFill/>
          <a:ln/>
        </p:spPr>
        <p:txBody>
          <a:bodyPr wrap="square" lIns="0" tIns="0" rIns="0" bIns="0" rtlCol="0" anchor="ctr"/>
          <a:lstStyle/>
          <a:p>
            <a:pPr marL="0" indent="0">
              <a:buNone/>
            </a:pPr>
            <a:r>
              <a:rPr lang="en-US" sz="1250" b="1" dirty="0">
                <a:solidFill>
                  <a:srgbClr val="121C22"/>
                </a:solidFill>
                <a:latin typeface="Courier New" pitchFamily="34" charset="0"/>
                <a:ea typeface="Courier New" pitchFamily="34" charset="-122"/>
                <a:cs typeface="Courier New" pitchFamily="34" charset="-120"/>
              </a:rPr>
              <a:t>a minimal reproducible example</a:t>
            </a:r>
            <a:endParaRPr lang="en-US" sz="1250" dirty="0"/>
          </a:p>
        </p:txBody>
      </p:sp>
      <p:sp>
        <p:nvSpPr>
          <p:cNvPr id="33" name="Text 31"/>
          <p:cNvSpPr/>
          <p:nvPr/>
        </p:nvSpPr>
        <p:spPr>
          <a:xfrm>
            <a:off x="7726680" y="4160520"/>
            <a:ext cx="3840480" cy="548640"/>
          </a:xfrm>
          <a:prstGeom prst="rect">
            <a:avLst/>
          </a:prstGeom>
          <a:noFill/>
          <a:ln/>
        </p:spPr>
        <p:txBody>
          <a:bodyPr wrap="square" lIns="0" tIns="0" rIns="0" bIns="0" rtlCol="0" anchor="t"/>
          <a:lstStyle/>
          <a:p>
            <a:pPr marL="0" indent="0">
              <a:lnSpc>
                <a:spcPct val="125000"/>
              </a:lnSpc>
              <a:buNone/>
            </a:pPr>
            <a:r>
              <a:rPr lang="en-US" sz="1300" dirty="0">
                <a:solidFill>
                  <a:srgbClr val="55656F"/>
                </a:solidFill>
                <a:latin typeface="Calibri" pitchFamily="34" charset="0"/>
                <a:ea typeface="Calibri" pitchFamily="34" charset="-122"/>
                <a:cs typeface="Calibri" pitchFamily="34" charset="-120"/>
              </a:rPr>
              <a:t>Say that phrase in an interview and people relax.</a:t>
            </a:r>
            <a:endParaRPr lang="en-US" sz="1300" dirty="0"/>
          </a:p>
        </p:txBody>
      </p:sp>
      <p:sp>
        <p:nvSpPr>
          <p:cNvPr id="34" name="Shape 32"/>
          <p:cNvSpPr/>
          <p:nvPr/>
        </p:nvSpPr>
        <p:spPr>
          <a:xfrm>
            <a:off x="7726680" y="4800600"/>
            <a:ext cx="3840480" cy="0"/>
          </a:xfrm>
          <a:prstGeom prst="line">
            <a:avLst/>
          </a:prstGeom>
          <a:noFill/>
          <a:ln w="9525">
            <a:solidFill>
              <a:srgbClr val="D0DAE0"/>
            </a:solidFill>
            <a:prstDash val="solid"/>
          </a:ln>
        </p:spPr>
        <p:txBody>
          <a:bodyPr/>
          <a:lstStyle/>
          <a:p>
            <a:endParaRPr lang="en-US"/>
          </a:p>
        </p:txBody>
      </p:sp>
      <p:sp>
        <p:nvSpPr>
          <p:cNvPr id="35" name="Text 33"/>
          <p:cNvSpPr/>
          <p:nvPr/>
        </p:nvSpPr>
        <p:spPr>
          <a:xfrm>
            <a:off x="7726680" y="4956048"/>
            <a:ext cx="3840480" cy="228600"/>
          </a:xfrm>
          <a:prstGeom prst="rect">
            <a:avLst/>
          </a:prstGeom>
          <a:noFill/>
          <a:ln/>
        </p:spPr>
        <p:txBody>
          <a:bodyPr wrap="square" lIns="0" tIns="0" rIns="0" bIns="0" rtlCol="0" anchor="ctr"/>
          <a:lstStyle/>
          <a:p>
            <a:pPr marL="0" indent="0" algn="l">
              <a:buNone/>
            </a:pPr>
            <a:r>
              <a:rPr lang="en-US" sz="950" b="1" kern="0" spc="110" dirty="0">
                <a:solidFill>
                  <a:srgbClr val="55656F"/>
                </a:solidFill>
                <a:latin typeface="Courier New" pitchFamily="34" charset="0"/>
                <a:ea typeface="Courier New" pitchFamily="34" charset="-122"/>
                <a:cs typeface="Courier New" pitchFamily="34" charset="-120"/>
              </a:rPr>
              <a:t>WHERE TO ASK</a:t>
            </a:r>
            <a:endParaRPr lang="en-US" sz="950" dirty="0"/>
          </a:p>
        </p:txBody>
      </p:sp>
      <p:sp>
        <p:nvSpPr>
          <p:cNvPr id="36" name="Text 34"/>
          <p:cNvSpPr/>
          <p:nvPr/>
        </p:nvSpPr>
        <p:spPr>
          <a:xfrm>
            <a:off x="7726680" y="5212080"/>
            <a:ext cx="3840480" cy="1005840"/>
          </a:xfrm>
          <a:prstGeom prst="rect">
            <a:avLst/>
          </a:prstGeom>
          <a:noFill/>
          <a:ln/>
        </p:spPr>
        <p:txBody>
          <a:bodyPr wrap="square" lIns="0" tIns="0" rIns="0" bIns="0" rtlCol="0" anchor="t"/>
          <a:lstStyle/>
          <a:p>
            <a:pPr marL="0" indent="0">
              <a:lnSpc>
                <a:spcPct val="125000"/>
              </a:lnSpc>
              <a:buNone/>
            </a:pPr>
            <a:r>
              <a:rPr lang="en-US" sz="1300" dirty="0">
                <a:solidFill>
                  <a:srgbClr val="55656F"/>
                </a:solidFill>
                <a:latin typeface="Calibri" pitchFamily="34" charset="0"/>
                <a:ea typeface="Calibri" pitchFamily="34" charset="-122"/>
                <a:cs typeface="Calibri" pitchFamily="34" charset="-120"/>
              </a:rPr>
              <a:t>Your team's chat, the project's GitHub issues, Stack Overflow. “I read the README and tried X” earns goodwill everywhere.</a:t>
            </a:r>
            <a:endParaRPr lang="en-US" sz="1300" dirty="0"/>
          </a:p>
        </p:txBody>
      </p:sp>
      <p:sp>
        <p:nvSpPr>
          <p:cNvPr id="37" name="Text 35"/>
          <p:cNvSpPr/>
          <p:nvPr/>
        </p:nvSpPr>
        <p:spPr>
          <a:xfrm>
            <a:off x="594360" y="5806440"/>
            <a:ext cx="6400800" cy="402336"/>
          </a:xfrm>
          <a:prstGeom prst="rect">
            <a:avLst/>
          </a:prstGeom>
          <a:noFill/>
          <a:ln/>
        </p:spPr>
        <p:txBody>
          <a:bodyPr wrap="square" lIns="0" tIns="0" rIns="0" bIns="0" rtlCol="0" anchor="t"/>
          <a:lstStyle/>
          <a:p>
            <a:pPr marL="0" indent="0">
              <a:buNone/>
            </a:pPr>
            <a:r>
              <a:rPr lang="en-US" sz="1350" b="1" dirty="0">
                <a:solidFill>
                  <a:srgbClr val="121C22"/>
                </a:solidFill>
                <a:latin typeface="Calibri" pitchFamily="34" charset="0"/>
                <a:ea typeface="Calibri" pitchFamily="34" charset="-122"/>
                <a:cs typeface="Calibri" pitchFamily="34" charset="-120"/>
              </a:rPr>
              <a:t>Asking good questions is a major skill! Take the time to understand what issue you’re having and find the right person to ask some pointed questions</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8">
    <p:bg>
      <p:bgPr>
        <a:solidFill>
          <a:srgbClr val="121C22"/>
        </a:solidFill>
        <a:effectLst/>
      </p:bgPr>
    </p:bg>
    <p:spTree>
      <p:nvGrpSpPr>
        <p:cNvPr id="1" name=""/>
        <p:cNvGrpSpPr/>
        <p:nvPr/>
      </p:nvGrpSpPr>
      <p:grpSpPr>
        <a:xfrm>
          <a:off x="0" y="0"/>
          <a:ext cx="0" cy="0"/>
          <a:chOff x="0" y="0"/>
          <a:chExt cx="0" cy="0"/>
        </a:xfrm>
      </p:grpSpPr>
      <p:sp>
        <p:nvSpPr>
          <p:cNvPr id="3" name="Text 1"/>
          <p:cNvSpPr/>
          <p:nvPr/>
        </p:nvSpPr>
        <p:spPr>
          <a:xfrm>
            <a:off x="594360" y="731520"/>
            <a:ext cx="11002975" cy="676656"/>
          </a:xfrm>
          <a:prstGeom prst="rect">
            <a:avLst/>
          </a:prstGeom>
          <a:noFill/>
          <a:ln/>
        </p:spPr>
        <p:txBody>
          <a:bodyPr wrap="square" lIns="0" tIns="0" rIns="0" bIns="0" rtlCol="0" anchor="t"/>
          <a:lstStyle/>
          <a:p>
            <a:pPr marL="0" indent="0">
              <a:buNone/>
            </a:pPr>
            <a:r>
              <a:rPr lang="en-US" sz="3300" b="1" dirty="0">
                <a:solidFill>
                  <a:srgbClr val="FFFFFF"/>
                </a:solidFill>
                <a:latin typeface="Calibri" pitchFamily="34" charset="0"/>
                <a:ea typeface="Calibri" pitchFamily="34" charset="-122"/>
                <a:cs typeface="Calibri" pitchFamily="34" charset="-120"/>
              </a:rPr>
              <a:t>Matt’s thoughts after working for ~10 years in software</a:t>
            </a:r>
            <a:endParaRPr lang="en-US" sz="3300" dirty="0"/>
          </a:p>
        </p:txBody>
      </p:sp>
      <p:sp>
        <p:nvSpPr>
          <p:cNvPr id="4" name="Shape 2"/>
          <p:cNvSpPr/>
          <p:nvPr/>
        </p:nvSpPr>
        <p:spPr>
          <a:xfrm>
            <a:off x="594360" y="1783080"/>
            <a:ext cx="6675120" cy="0"/>
          </a:xfrm>
          <a:prstGeom prst="line">
            <a:avLst/>
          </a:prstGeom>
          <a:noFill/>
          <a:ln w="9525">
            <a:solidFill>
              <a:srgbClr val="2C4150"/>
            </a:solidFill>
            <a:prstDash val="solid"/>
          </a:ln>
        </p:spPr>
        <p:txBody>
          <a:bodyPr/>
          <a:lstStyle/>
          <a:p>
            <a:endParaRPr lang="en-US"/>
          </a:p>
        </p:txBody>
      </p:sp>
      <p:sp>
        <p:nvSpPr>
          <p:cNvPr id="6" name="Text 4"/>
          <p:cNvSpPr/>
          <p:nvPr/>
        </p:nvSpPr>
        <p:spPr>
          <a:xfrm>
            <a:off x="1143000" y="2011680"/>
            <a:ext cx="6035040" cy="29260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Nobody holds all this in their head it is just lots of repetition</a:t>
            </a:r>
            <a:endParaRPr lang="en-US" sz="1550" dirty="0"/>
          </a:p>
        </p:txBody>
      </p:sp>
      <p:sp>
        <p:nvSpPr>
          <p:cNvPr id="7" name="Text 5"/>
          <p:cNvSpPr/>
          <p:nvPr/>
        </p:nvSpPr>
        <p:spPr>
          <a:xfrm>
            <a:off x="1143000" y="2331720"/>
            <a:ext cx="6035040" cy="566928"/>
          </a:xfrm>
          <a:prstGeom prst="rect">
            <a:avLst/>
          </a:prstGeom>
          <a:noFill/>
          <a:ln/>
        </p:spPr>
        <p:txBody>
          <a:bodyPr wrap="square" lIns="0" tIns="0" rIns="0" bIns="0" rtlCol="0" anchor="t"/>
          <a:lstStyle/>
          <a:p>
            <a:pPr marL="0" indent="0">
              <a:lnSpc>
                <a:spcPct val="115000"/>
              </a:lnSpc>
              <a:buNone/>
            </a:pPr>
            <a:r>
              <a:rPr lang="en-US" sz="1250" dirty="0">
                <a:solidFill>
                  <a:srgbClr val="AEBEC7"/>
                </a:solidFill>
                <a:latin typeface="Calibri" pitchFamily="34" charset="0"/>
                <a:ea typeface="Calibri" pitchFamily="34" charset="-122"/>
                <a:cs typeface="Calibri" pitchFamily="34" charset="-120"/>
              </a:rPr>
              <a:t>I probably still look up the same commands you do if I haven’t done the exact same thing the day before. That’s ok and the documentation is your friend</a:t>
            </a:r>
            <a:endParaRPr lang="en-US" sz="1250" dirty="0"/>
          </a:p>
        </p:txBody>
      </p:sp>
      <p:sp>
        <p:nvSpPr>
          <p:cNvPr id="8" name="Shape 6"/>
          <p:cNvSpPr/>
          <p:nvPr/>
        </p:nvSpPr>
        <p:spPr>
          <a:xfrm>
            <a:off x="594360" y="3017520"/>
            <a:ext cx="6675120" cy="0"/>
          </a:xfrm>
          <a:prstGeom prst="line">
            <a:avLst/>
          </a:prstGeom>
          <a:noFill/>
          <a:ln w="9525">
            <a:solidFill>
              <a:srgbClr val="2C4150"/>
            </a:solidFill>
            <a:prstDash val="solid"/>
          </a:ln>
        </p:spPr>
        <p:txBody>
          <a:bodyPr/>
          <a:lstStyle/>
          <a:p>
            <a:endParaRPr lang="en-US"/>
          </a:p>
        </p:txBody>
      </p:sp>
      <p:sp>
        <p:nvSpPr>
          <p:cNvPr id="10" name="Text 8"/>
          <p:cNvSpPr/>
          <p:nvPr/>
        </p:nvSpPr>
        <p:spPr>
          <a:xfrm>
            <a:off x="1143000" y="3211304"/>
            <a:ext cx="6035040" cy="484631"/>
          </a:xfrm>
          <a:prstGeom prst="rect">
            <a:avLst/>
          </a:prstGeom>
          <a:noFill/>
          <a:ln/>
        </p:spPr>
        <p:txBody>
          <a:bodyPr wrap="square" lIns="0" tIns="0" rIns="0" bIns="0" rtlCol="0" anchor="ctr"/>
          <a:lstStyle/>
          <a:p>
            <a:pPr marL="0" indent="0">
              <a:buNone/>
            </a:pPr>
            <a:r>
              <a:rPr lang="en-US" sz="1550" b="1" dirty="0">
                <a:solidFill>
                  <a:schemeClr val="bg1"/>
                </a:solidFill>
                <a:latin typeface="Calibri" panose="020F0502020204030204" pitchFamily="34" charset="0"/>
                <a:cs typeface="Calibri" panose="020F0502020204030204" pitchFamily="34" charset="0"/>
              </a:rPr>
              <a:t>Code is truly another language, culture matters, subtext matters, slang exists</a:t>
            </a:r>
          </a:p>
        </p:txBody>
      </p:sp>
      <p:sp>
        <p:nvSpPr>
          <p:cNvPr id="11" name="Text 9"/>
          <p:cNvSpPr/>
          <p:nvPr/>
        </p:nvSpPr>
        <p:spPr>
          <a:xfrm>
            <a:off x="1143000" y="3682218"/>
            <a:ext cx="6035040" cy="566928"/>
          </a:xfrm>
          <a:prstGeom prst="rect">
            <a:avLst/>
          </a:prstGeom>
          <a:noFill/>
          <a:ln/>
        </p:spPr>
        <p:txBody>
          <a:bodyPr wrap="square" lIns="0" tIns="0" rIns="0" bIns="0" rtlCol="0" anchor="t"/>
          <a:lstStyle/>
          <a:p>
            <a:pPr marL="0" indent="0">
              <a:lnSpc>
                <a:spcPct val="115000"/>
              </a:lnSpc>
              <a:buNone/>
            </a:pPr>
            <a:r>
              <a:rPr lang="en-US" sz="1250" dirty="0">
                <a:solidFill>
                  <a:srgbClr val="AEBEC7"/>
                </a:solidFill>
                <a:latin typeface="Calibri" pitchFamily="34" charset="0"/>
                <a:cs typeface="Calibri" pitchFamily="34" charset="-120"/>
              </a:rPr>
              <a:t>Paying attention to how others around you are using the language is important and understanding the rules of the language can help you understand deeper concepts</a:t>
            </a:r>
            <a:endParaRPr lang="en-US" sz="1250" dirty="0"/>
          </a:p>
        </p:txBody>
      </p:sp>
      <p:sp>
        <p:nvSpPr>
          <p:cNvPr id="12" name="Shape 10"/>
          <p:cNvSpPr/>
          <p:nvPr/>
        </p:nvSpPr>
        <p:spPr>
          <a:xfrm>
            <a:off x="594360" y="4251960"/>
            <a:ext cx="6675120" cy="0"/>
          </a:xfrm>
          <a:prstGeom prst="line">
            <a:avLst/>
          </a:prstGeom>
          <a:noFill/>
          <a:ln w="9525">
            <a:solidFill>
              <a:srgbClr val="2C4150"/>
            </a:solidFill>
            <a:prstDash val="solid"/>
          </a:ln>
        </p:spPr>
        <p:txBody>
          <a:bodyPr/>
          <a:lstStyle/>
          <a:p>
            <a:endParaRPr lang="en-US"/>
          </a:p>
        </p:txBody>
      </p:sp>
      <p:sp>
        <p:nvSpPr>
          <p:cNvPr id="14" name="Text 12"/>
          <p:cNvSpPr/>
          <p:nvPr/>
        </p:nvSpPr>
        <p:spPr>
          <a:xfrm>
            <a:off x="1143000" y="4480559"/>
            <a:ext cx="6035040" cy="429769"/>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Code isn’t done until someone else can run it too</a:t>
            </a:r>
            <a:endParaRPr lang="en-US" sz="1550" dirty="0"/>
          </a:p>
        </p:txBody>
      </p:sp>
      <p:sp>
        <p:nvSpPr>
          <p:cNvPr id="15" name="Text 13"/>
          <p:cNvSpPr/>
          <p:nvPr/>
        </p:nvSpPr>
        <p:spPr>
          <a:xfrm>
            <a:off x="1143000" y="4855462"/>
            <a:ext cx="6035040" cy="566928"/>
          </a:xfrm>
          <a:prstGeom prst="rect">
            <a:avLst/>
          </a:prstGeom>
          <a:noFill/>
          <a:ln/>
        </p:spPr>
        <p:txBody>
          <a:bodyPr wrap="square" lIns="0" tIns="0" rIns="0" bIns="0" rtlCol="0" anchor="t"/>
          <a:lstStyle/>
          <a:p>
            <a:pPr marL="0" indent="0">
              <a:lnSpc>
                <a:spcPct val="115000"/>
              </a:lnSpc>
              <a:buNone/>
            </a:pPr>
            <a:r>
              <a:rPr lang="en-US" sz="1250" dirty="0">
                <a:solidFill>
                  <a:srgbClr val="AEBEC7"/>
                </a:solidFill>
                <a:latin typeface="Calibri" pitchFamily="34" charset="0"/>
                <a:ea typeface="Calibri" pitchFamily="34" charset="-122"/>
                <a:cs typeface="Calibri" pitchFamily="34" charset="-120"/>
              </a:rPr>
              <a:t>An environment, a file listing dependencies, a repo, a test, a debugger, and the ability to read an error.</a:t>
            </a:r>
            <a:endParaRPr lang="en-US" sz="1250" dirty="0"/>
          </a:p>
        </p:txBody>
      </p:sp>
      <p:sp>
        <p:nvSpPr>
          <p:cNvPr id="16" name="Shape 14"/>
          <p:cNvSpPr/>
          <p:nvPr/>
        </p:nvSpPr>
        <p:spPr>
          <a:xfrm>
            <a:off x="594360" y="5486400"/>
            <a:ext cx="6675120" cy="0"/>
          </a:xfrm>
          <a:prstGeom prst="line">
            <a:avLst/>
          </a:prstGeom>
          <a:noFill/>
          <a:ln w="9525">
            <a:solidFill>
              <a:srgbClr val="2C4150"/>
            </a:solidFill>
            <a:prstDash val="solid"/>
          </a:ln>
        </p:spPr>
        <p:txBody>
          <a:bodyPr/>
          <a:lstStyle/>
          <a:p>
            <a:endParaRPr lang="en-US"/>
          </a:p>
        </p:txBody>
      </p:sp>
      <p:sp>
        <p:nvSpPr>
          <p:cNvPr id="18" name="Text 12">
            <a:extLst>
              <a:ext uri="{FF2B5EF4-FFF2-40B4-BE49-F238E27FC236}">
                <a16:creationId xmlns:a16="http://schemas.microsoft.com/office/drawing/2014/main" id="{99EE295C-A772-CECB-3FE7-93D73A20572E}"/>
              </a:ext>
            </a:extLst>
          </p:cNvPr>
          <p:cNvSpPr/>
          <p:nvPr/>
        </p:nvSpPr>
        <p:spPr>
          <a:xfrm>
            <a:off x="1143000" y="5693998"/>
            <a:ext cx="6035040" cy="429769"/>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There is no magic, just lots of details you probably don’t need to care about…. until something breaks</a:t>
            </a:r>
            <a:endParaRPr lang="en-US" sz="1550" dirty="0"/>
          </a:p>
        </p:txBody>
      </p:sp>
      <p:sp>
        <p:nvSpPr>
          <p:cNvPr id="19" name="Text 13">
            <a:extLst>
              <a:ext uri="{FF2B5EF4-FFF2-40B4-BE49-F238E27FC236}">
                <a16:creationId xmlns:a16="http://schemas.microsoft.com/office/drawing/2014/main" id="{117B14B5-9B04-E621-C329-B974FCBB99F8}"/>
              </a:ext>
            </a:extLst>
          </p:cNvPr>
          <p:cNvSpPr/>
          <p:nvPr/>
        </p:nvSpPr>
        <p:spPr>
          <a:xfrm>
            <a:off x="1143000" y="6153912"/>
            <a:ext cx="6035040" cy="566928"/>
          </a:xfrm>
          <a:prstGeom prst="rect">
            <a:avLst/>
          </a:prstGeom>
          <a:noFill/>
          <a:ln/>
        </p:spPr>
        <p:txBody>
          <a:bodyPr wrap="square" lIns="0" tIns="0" rIns="0" bIns="0" rtlCol="0" anchor="t"/>
          <a:lstStyle/>
          <a:p>
            <a:pPr marL="0" indent="0">
              <a:lnSpc>
                <a:spcPct val="115000"/>
              </a:lnSpc>
              <a:buNone/>
            </a:pPr>
            <a:r>
              <a:rPr lang="en-US" sz="1250" dirty="0">
                <a:solidFill>
                  <a:srgbClr val="AEBEC7"/>
                </a:solidFill>
                <a:latin typeface="Calibri" pitchFamily="34" charset="0"/>
                <a:ea typeface="Calibri" pitchFamily="34" charset="-122"/>
                <a:cs typeface="Calibri" pitchFamily="34" charset="-120"/>
              </a:rPr>
              <a:t>Computers are logical and follows strict rules, understand the rules and the details and you can understand they system</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852</TotalTime>
  <Words>5059</Words>
  <Application>Microsoft Macintosh PowerPoint</Application>
  <PresentationFormat>Widescreen</PresentationFormat>
  <Paragraphs>614</Paragraphs>
  <Slides>25</Slides>
  <Notes>25</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Comes Next — Python Bootcamp Day 5, Session 3</dc:title>
  <dc:subject>PptxGenJS Presentation</dc:subject>
  <dc:creator>Matt Watwood</dc:creator>
  <cp:lastModifiedBy>Matt Watwood</cp:lastModifiedBy>
  <cp:revision>2</cp:revision>
  <dcterms:created xsi:type="dcterms:W3CDTF">2026-08-13T22:03:43Z</dcterms:created>
  <dcterms:modified xsi:type="dcterms:W3CDTF">2026-08-14T16:28:53Z</dcterms:modified>
</cp:coreProperties>
</file>